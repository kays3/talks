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8391460e84fbb" /><Relationship Type="http://schemas.openxmlformats.org/officeDocument/2006/relationships/extended-properties" Target="/docProps/app.xml" Id="R66a8296f0fb84e9a" /><Relationship Type="http://schemas.openxmlformats.org/officeDocument/2006/relationships/officeDocument" Target="/ppt/presentation.xml" Id="R7198fee48054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cdd75e465445bd"/>
  </p:sldMasterIdLst>
  <p:notesMasterIdLst>
    <p:notesMasterId xmlns:r="http://schemas.openxmlformats.org/officeDocument/2006/relationships" r:id="Rc5c38ab8f9f2484e"/>
  </p:notesMasterIdLst>
  <p:sldIdLst>
    <p:sldId xmlns:r="http://schemas.openxmlformats.org/officeDocument/2006/relationships" id="256" r:id="Rc1f7cfb5ceb54791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2ba4c00a8347ef" /><Relationship Type="http://schemas.openxmlformats.org/officeDocument/2006/relationships/slideMaster" Target="/ppt/slideMasters/slideMaster1.xml" Id="Rf8cdd75e465445bd" /><Relationship Type="http://schemas.openxmlformats.org/officeDocument/2006/relationships/notesMaster" Target="/ppt/notesMasters/notesMaster1.xml" Id="Rc5c38ab8f9f2484e" /><Relationship Type="http://schemas.openxmlformats.org/officeDocument/2006/relationships/presProps" Target="/ppt/presProps.xml" Id="R67794b161c9242ba" /><Relationship Type="http://schemas.openxmlformats.org/officeDocument/2006/relationships/tableStyles" Target="/ppt/tableStyles.xml" Id="Ra8fd7d7268f24747" /><Relationship Type="http://schemas.openxmlformats.org/officeDocument/2006/relationships/slide" Target="/ppt/slides/slide1.xml" Id="Rc1f7cfb5ceb547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b85704ae99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1480a709934531" /><Relationship Type="http://schemas.openxmlformats.org/officeDocument/2006/relationships/notesMaster" Target="/ppt/notesMasters/notesMaster1.xml" Id="R6c62e692f54e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Left hero photograph: GPTempDownload.jpg (supplied by Kaisar Dauyey)</a:t>
            </a:r>
          </a:p>
          <a:p xmlns:a="http://schemas.openxmlformats.org/drawingml/2006/main">
            <a:r>
              <a:t>- Right hero photograph: coral-aka-kame.png (Kaisar Dauyey, Aka Island, Japan, 17 April 2024)</a:t>
            </a:r>
          </a:p>
          <a:p xmlns:a="http://schemas.openxmlformats.org/drawingml/2006/main">
            <a:r>
              <a:t>- Experimental-design schematic: figure_method1draft.pdf</a:t>
            </a:r>
          </a:p>
          <a:p xmlns:a="http://schemas.openxmlformats.org/drawingml/2006/main">
            <a:r>
              <a:t>- Project workflow illustration: Figure2_1.png</a:t>
            </a:r>
          </a:p>
          <a:p xmlns:a="http://schemas.openxmlformats.org/drawingml/2006/main">
            <a:r>
              <a:t>- Gene/TE candidate signature figure: key_gene_te_oa_functional_map.png</a:t>
            </a:r>
          </a:p>
          <a:p xmlns:a="http://schemas.openxmlformats.org/drawingml/2006/main">
            <a:r>
              <a:t>- matched_tissue_comparison.csv</a:t>
            </a:r>
          </a:p>
          <a:p xmlns:a="http://schemas.openxmlformats.org/drawingml/2006/main">
            <a:r>
              <a:t>- aggregate_summary.csv</a:t>
            </a:r>
          </a:p>
          <a:p xmlns:a="http://schemas.openxmlformats.org/drawingml/2006/main">
            <a:r>
              <a:t>- gaba_signature_summary.csv</a:t>
            </a:r>
          </a:p>
          <a:p xmlns:a="http://schemas.openxmlformats.org/drawingml/2006/main">
            <a:r>
              <a:t>- analysis_summary.csv</a:t>
            </a:r>
          </a:p>
          <a:p xmlns:a="http://schemas.openxmlformats.org/drawingml/2006/main">
            <a:r>
              <a:t>- Suresh et al. (2023), Nature Climate Change, https://doi.org/10.1038/s41558-023-01793-1</a:t>
            </a:r>
          </a:p>
          <a:p xmlns:a="http://schemas.openxmlformats.org/drawingml/2006/main">
            <a:r>
              <a:t>- Feschotte (2008), Nature Reviews Genetics, https://doi.org/10.1038/nrg2336</a:t>
            </a:r>
          </a:p>
          <a:p xmlns:a="http://schemas.openxmlformats.org/drawingml/2006/main">
            <a:r>
              <a:t>- NCBI BioProjects PRJNA694131 and PRJNA801251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note: plain-language citizen-science version. “Jumping genes” refers to transposable elements. Results are exploratory and based on the completed 60-sample pilot; the 162-library validation analysis is pending.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adc451d1f48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ab22a62284ff5" /><Relationship Type="http://schemas.openxmlformats.org/officeDocument/2006/relationships/slideLayout" Target="/ppt/slideLayouts/slideLayout1.xml" Id="R29088a6a9ae3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088a6a9ae3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d6420df494a25" /><Relationship Type="http://schemas.openxmlformats.org/officeDocument/2006/relationships/image" Target="/ppt/media/image.png" Id="R6cf3c48fc9df42c6" /><Relationship Type="http://schemas.openxmlformats.org/officeDocument/2006/relationships/image" Target="/ppt/media/image2.png" Id="Rd616bbbc40cf44d8" /><Relationship Type="http://schemas.openxmlformats.org/officeDocument/2006/relationships/image" Target="/ppt/media/image3.png" Id="Rdda27a42744c473a" /><Relationship Type="http://schemas.openxmlformats.org/officeDocument/2006/relationships/image" Target="/ppt/media/image4.png" Id="R73d9788999d54f62" /><Relationship Type="http://schemas.openxmlformats.org/officeDocument/2006/relationships/image" Target="/ppt/media/image5.png" Id="R3405989842474909" /><Relationship Type="http://schemas.openxmlformats.org/officeDocument/2006/relationships/chart" Target="/ppt/slides/charts/chart1.xml" Id="R7dd0ae73001c4d05" /><Relationship Type="http://schemas.openxmlformats.org/officeDocument/2006/relationships/notesSlide" Target="/ppt/notesSlides/notesSlide1.xml" Id="R6c3b02bcbd3b468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Brain</c:v>
          </c:tx>
          <c:spPr>
            <a:solidFill xmlns:a="http://schemas.openxmlformats.org/drawingml/2006/main">
              <a:srgbClr val="087E8B"/>
            </a:solidFill>
          </c:spPr>
          <c:cat>
            <c:strLit>
              <c:ptCount val="2"/>
              <c:pt idx="0">
                <c:v>Sensitive families
Developmental exposure</c:v>
              </c:pt>
              <c:pt idx="1">
                <c:v>Tolerant families
Intergenerational exposure</c:v>
              </c:pt>
            </c:strLit>
          </c:cat>
          <c:val>
            <c:numLit>
              <c:formatCode>0</c:formatCode>
              <c:ptCount val="2"/>
              <c:pt idx="0">
                <c:v>30</c:v>
              </c:pt>
              <c:pt idx="1">
                <c:v>20</c:v>
              </c:pt>
            </c:numLit>
          </c:val>
        </c:ser>
        <c:ser>
          <c:idx val="1"/>
          <c:order val="1"/>
          <c:tx>
            <c:v>Liver</c:v>
          </c:tx>
          <c:spPr>
            <a:solidFill xmlns:a="http://schemas.openxmlformats.org/drawingml/2006/main">
              <a:srgbClr val="FF8A5B"/>
            </a:solidFill>
          </c:spPr>
          <c:cat>
            <c:strLit>
              <c:ptCount val="2"/>
              <c:pt idx="0">
                <c:v>Sensitive families
Developmental exposure</c:v>
              </c:pt>
              <c:pt idx="1">
                <c:v>Tolerant families
Intergenerational exposure</c:v>
              </c:pt>
            </c:strLit>
          </c:cat>
          <c:val>
            <c:numLit>
              <c:formatCode>0</c:formatCode>
              <c:ptCount val="2"/>
              <c:pt idx="0">
                <c:v>21</c:v>
              </c:pt>
              <c:pt idx="1">
                <c:v>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731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9C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13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B73"/>
                    </a:solidFill>
                  </a:rPr>
                  <a:t>Significant TE results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B7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9C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B73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2E8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313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2E8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content-bg">
            <a:extLst xmlns:a="http://schemas.openxmlformats.org/drawingml/2006/main">
              <a:ext uri="{FF2B5EF4-FFF2-40B4-BE49-F238E27FC236}">
                <a16:creationId xmlns:a16="http://schemas.microsoft.com/office/drawing/2014/main" id="{7973E0CC-A7D5-45CC-9335-0B5894FE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30375"/>
            <a:ext cx="43891200" cy="18488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3c48fc9df42c6"/>
          <a:srcRect xmlns:a="http://schemas.openxmlformats.org/drawingml/2006/main" l="0" t="17642" r="0" b="17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4000500"/>
            <a:ext cx="21488400" cy="10429875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6bbbc40cf44d8"/>
          <a:srcRect xmlns:a="http://schemas.openxmlformats.org/drawingml/2006/main" l="0" t="17642" r="0" b="17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0" y="4000500"/>
            <a:ext cx="21488400" cy="10429875"/>
          </a:xfrm>
          <a:prstGeom xmlns:a="http://schemas.openxmlformats.org/drawingml/2006/main" prst="rect">
            <a:avLst/>
          </a:prstGeom>
        </p:spPr>
      </p:pic>
      <p:sp>
        <p:nvSpPr>
          <p:cNvPr id="4" name="title-band">
            <a:extLst xmlns:a="http://schemas.openxmlformats.org/drawingml/2006/main">
              <a:ext uri="{FF2B5EF4-FFF2-40B4-BE49-F238E27FC236}">
                <a16:creationId xmlns:a16="http://schemas.microsoft.com/office/drawing/2014/main" id="{FD91144A-C1E6-4CD2-B62B-73E0D673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9002A31-2E39-4448-8953-ACF9AEC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oto-seam">
            <a:extLst xmlns:a="http://schemas.openxmlformats.org/drawingml/2006/main">
              <a:ext uri="{FF2B5EF4-FFF2-40B4-BE49-F238E27FC236}">
                <a16:creationId xmlns:a16="http://schemas.microsoft.com/office/drawing/2014/main" id="{A35E9C05-5BAE-4737-A3A2-29E5BBE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4000500"/>
            <a:ext cx="304800" cy="1042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0D70A0EE-64F1-4C3C-BAC3-7767D9C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0050"/>
            <a:ext cx="2095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FC3C7"/>
                </a:solidFill>
              </a:defRPr>
            </a:pPr>
            <a:r>
              <a:rPr sz="2325" b="1" i="0">
                <a:solidFill>
                  <a:srgbClr val="4FC3C7"/>
                </a:solidFill>
              </a:rPr>
              <a:t>CITIZEN SCIENCE  •  OCEAN ACIDIFICATION</a:t>
            </a:r>
          </a:p>
        </p:txBody>
      </p:sp>
      <p:sp>
        <p:nvSpPr>
          <p:cNvPr id="8" name="hero-title">
            <a:extLst xmlns:a="http://schemas.openxmlformats.org/drawingml/2006/main">
              <a:ext uri="{FF2B5EF4-FFF2-40B4-BE49-F238E27FC236}">
                <a16:creationId xmlns:a16="http://schemas.microsoft.com/office/drawing/2014/main" id="{A7D8434A-8374-4AC5-8597-F3108EBB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66800"/>
            <a:ext cx="3267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0" b="1" i="0">
                <a:solidFill>
                  <a:srgbClr val="FFFFFF"/>
                </a:solidFill>
              </a:defRPr>
            </a:pPr>
            <a:r>
              <a:rPr sz="6600" b="1" i="0">
                <a:solidFill>
                  <a:srgbClr val="FFFFFF"/>
                </a:solidFill>
              </a:rPr>
              <a:t>How do reef fish respond to a changing ocean?</a:t>
            </a:r>
          </a:p>
        </p:txBody>
      </p:sp>
      <p:sp>
        <p:nvSpPr>
          <p:cNvPr id="9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C0E87F28-A596-4FCA-88C9-D522E30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876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DF4EF"/>
                </a:solidFill>
              </a:defRPr>
            </a:pPr>
            <a:r>
              <a:rPr sz="3000" b="0" i="0">
                <a:solidFill>
                  <a:srgbClr val="DDF4EF"/>
                </a:solidFill>
              </a:rPr>
              <a:t>A first look at hidden “jumping gene” activity in the brain and liver</a:t>
            </a:r>
          </a:p>
        </p:txBody>
      </p:sp>
      <p:sp>
        <p:nvSpPr>
          <p:cNvPr id="10" name="hero-tag">
            <a:extLst xmlns:a="http://schemas.openxmlformats.org/drawingml/2006/main">
              <a:ext uri="{FF2B5EF4-FFF2-40B4-BE49-F238E27FC236}">
                <a16:creationId xmlns:a16="http://schemas.microsoft.com/office/drawing/2014/main" id="{0E525AEA-3109-43D4-A6C9-DF3D3A94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0" y="704850"/>
            <a:ext cx="676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ero-tag-text">
            <a:extLst xmlns:a="http://schemas.openxmlformats.org/drawingml/2006/main">
              <a:ext uri="{FF2B5EF4-FFF2-40B4-BE49-F238E27FC236}">
                <a16:creationId xmlns:a16="http://schemas.microsoft.com/office/drawing/2014/main" id="{06FFADA3-65B1-4689-AB9D-BCE58AE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87630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42A36"/>
                </a:solidFill>
              </a:defRPr>
            </a:pPr>
            <a:r>
              <a:rPr sz="2100" b="1" i="0">
                <a:solidFill>
                  <a:srgbClr val="042A36"/>
                </a:solidFill>
              </a:rPr>
              <a:t>EXPLORATORY — NOT FINAL</a:t>
            </a:r>
          </a:p>
        </p:txBody>
      </p:sp>
      <p:sp>
        <p:nvSpPr>
          <p:cNvPr id="12" name="hero-author">
            <a:extLst xmlns:a="http://schemas.openxmlformats.org/drawingml/2006/main">
              <a:ext uri="{FF2B5EF4-FFF2-40B4-BE49-F238E27FC236}">
                <a16:creationId xmlns:a16="http://schemas.microsoft.com/office/drawing/2014/main" id="{261F5246-55EE-44B5-8F63-756E875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0" y="2686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Kaisar Dauyey  |  TE Ocean Acidification Project</a:t>
            </a:r>
          </a:p>
        </p:txBody>
      </p:sp>
      <p:sp>
        <p:nvSpPr>
          <p:cNvPr id="13" name="photo-credit-left">
            <a:extLst xmlns:a="http://schemas.openxmlformats.org/drawingml/2006/main">
              <a:ext uri="{FF2B5EF4-FFF2-40B4-BE49-F238E27FC236}">
                <a16:creationId xmlns:a16="http://schemas.microsoft.com/office/drawing/2014/main" id="{EB581DE1-DDC4-4B78-ADFB-2E883926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49450"/>
            <a:ext cx="1714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B73"/>
                </a:solidFill>
              </a:defRPr>
            </a:pPr>
            <a:r>
              <a:rPr sz="1650" b="0" i="0">
                <a:solidFill>
                  <a:srgbClr val="536B73"/>
                </a:solidFill>
              </a:rPr>
              <a:t>Turtle and coral reef  •  photo supplied by Kaisar Dauyey</a:t>
            </a:r>
          </a:p>
        </p:txBody>
      </p:sp>
      <p:sp>
        <p:nvSpPr>
          <p:cNvPr id="14" name="photo-credit-right">
            <a:extLst xmlns:a="http://schemas.openxmlformats.org/drawingml/2006/main">
              <a:ext uri="{FF2B5EF4-FFF2-40B4-BE49-F238E27FC236}">
                <a16:creationId xmlns:a16="http://schemas.microsoft.com/office/drawing/2014/main" id="{E091797B-B6A2-4BB8-9E8B-660FA6CF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0" y="14649450"/>
            <a:ext cx="1676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536B73"/>
                </a:solidFill>
              </a:defRPr>
            </a:pPr>
            <a:r>
              <a:rPr sz="1650" b="0" i="0">
                <a:solidFill>
                  <a:srgbClr val="536B73"/>
                </a:solidFill>
              </a:rPr>
              <a:t>Aka Island reef, Japan  •  photo: Kaisar Dauyey</a:t>
            </a:r>
          </a:p>
        </p:txBody>
      </p:sp>
      <p:sp>
        <p:nvSpPr>
          <p:cNvPr id="15" name="content-top-rule">
            <a:extLst xmlns:a="http://schemas.openxmlformats.org/drawingml/2006/main">
              <a:ext uri="{FF2B5EF4-FFF2-40B4-BE49-F238E27FC236}">
                <a16:creationId xmlns:a16="http://schemas.microsoft.com/office/drawing/2014/main" id="{EC78E2AB-7579-4168-80FD-559113D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430375"/>
            <a:ext cx="4328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sign-title">
            <a:extLst xmlns:a="http://schemas.openxmlformats.org/drawingml/2006/main">
              <a:ext uri="{FF2B5EF4-FFF2-40B4-BE49-F238E27FC236}">
                <a16:creationId xmlns:a16="http://schemas.microsoft.com/office/drawing/2014/main" id="{2F67042E-1BFE-4E13-B2F5-FBB9822C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525750"/>
            <a:ext cx="1314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C"/>
                </a:solidFill>
              </a:defRPr>
            </a:pPr>
            <a:r>
              <a:rPr sz="2925" b="1" i="0">
                <a:solidFill>
                  <a:srgbClr val="063B4C"/>
                </a:solidFill>
              </a:rPr>
              <a:t>EXPERIMENTAL DESIGN</a:t>
            </a:r>
          </a:p>
        </p:txBody>
      </p:sp>
      <p:sp>
        <p:nvSpPr>
          <p:cNvPr id="17" name="design-rule">
            <a:extLst xmlns:a="http://schemas.openxmlformats.org/drawingml/2006/main">
              <a:ext uri="{FF2B5EF4-FFF2-40B4-BE49-F238E27FC236}">
                <a16:creationId xmlns:a16="http://schemas.microsoft.com/office/drawing/2014/main" id="{D49E62B1-1903-4B50-B89D-FAB9DA8D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44875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27a42744c473a"/>
          <a:stretch xmlns:a="http://schemas.openxmlformats.org/drawingml/2006/main"/>
        </p:blipFill>
        <p:spPr>
          <a:xfrm xmlns:a="http://schemas.openxmlformats.org/drawingml/2006/main">
            <a:off x="2106083" y="16402050"/>
            <a:ext cx="10837333" cy="6096000"/>
          </a:xfrm>
          <a:prstGeom xmlns:a="http://schemas.openxmlformats.org/drawingml/2006/main" prst="rect">
            <a:avLst/>
          </a:prstGeom>
        </p:spPr>
      </p:pic>
      <p:sp>
        <p:nvSpPr>
          <p:cNvPr id="19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6C8671B1-337E-4825-8300-BF516A47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21875"/>
            <a:ext cx="1314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B73"/>
                </a:solidFill>
              </a:defRPr>
            </a:pPr>
            <a:r>
              <a:rPr sz="2025" b="0" i="0">
                <a:solidFill>
                  <a:srgbClr val="536B73"/>
                </a:solidFill>
              </a:rPr>
              <a:t>Wild parents were classified as tolerant or sensitive before offspring entered control, developmental or intergenerational CO₂ histories.</a:t>
            </a:r>
          </a:p>
        </p:txBody>
      </p:sp>
      <p:sp>
        <p:nvSpPr>
          <p:cNvPr id="20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1D4F464E-0E3B-4D00-BD38-3546570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5525750"/>
            <a:ext cx="1314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C"/>
                </a:solidFill>
              </a:defRPr>
            </a:pPr>
            <a:r>
              <a:rPr sz="2925" b="1" i="0">
                <a:solidFill>
                  <a:srgbClr val="063B4C"/>
                </a:solidFill>
              </a:rPr>
              <a:t>FROM REEF TO “JUMPING GENES”</a:t>
            </a:r>
          </a:p>
        </p:txBody>
      </p:sp>
      <p:sp>
        <p:nvSpPr>
          <p:cNvPr id="21" name="workflow-rule">
            <a:extLst xmlns:a="http://schemas.openxmlformats.org/drawingml/2006/main">
              <a:ext uri="{FF2B5EF4-FFF2-40B4-BE49-F238E27FC236}">
                <a16:creationId xmlns:a16="http://schemas.microsoft.com/office/drawing/2014/main" id="{55AD354A-4046-4C61-8763-A6BCA01B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6144875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9788999d54f62"/>
          <a:stretch xmlns:a="http://schemas.openxmlformats.org/drawingml/2006/main"/>
        </p:blipFill>
        <p:spPr>
          <a:xfrm xmlns:a="http://schemas.openxmlformats.org/drawingml/2006/main">
            <a:off x="16128026" y="16402050"/>
            <a:ext cx="10892198" cy="6096000"/>
          </a:xfrm>
          <a:prstGeom xmlns:a="http://schemas.openxmlformats.org/drawingml/2006/main" prst="rect">
            <a:avLst/>
          </a:prstGeom>
        </p:spPr>
      </p:pic>
      <p:sp>
        <p:nvSpPr>
          <p:cNvPr id="23" name="workflow-caption">
            <a:extLst xmlns:a="http://schemas.openxmlformats.org/drawingml/2006/main">
              <a:ext uri="{FF2B5EF4-FFF2-40B4-BE49-F238E27FC236}">
                <a16:creationId xmlns:a16="http://schemas.microsoft.com/office/drawing/2014/main" id="{44E79788-B57F-40F1-B81E-4143A8B1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2621875"/>
            <a:ext cx="1314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B73"/>
                </a:solidFill>
              </a:defRPr>
            </a:pPr>
            <a:r>
              <a:rPr sz="2025" b="0" i="0">
                <a:solidFill>
                  <a:srgbClr val="536B73"/>
                </a:solidFill>
              </a:rPr>
              <a:t>The workflow connects reef sampling and behavior with RNA sequencing, gene expression and transposable-element mapping.</a:t>
            </a:r>
          </a:p>
        </p:txBody>
      </p:sp>
      <p:sp>
        <p:nvSpPr>
          <p:cNvPr id="24" name="signatures-title">
            <a:extLst xmlns:a="http://schemas.openxmlformats.org/drawingml/2006/main">
              <a:ext uri="{FF2B5EF4-FFF2-40B4-BE49-F238E27FC236}">
                <a16:creationId xmlns:a16="http://schemas.microsoft.com/office/drawing/2014/main" id="{3B857E55-28C0-458E-B571-3AB02090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15525750"/>
            <a:ext cx="1314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C"/>
                </a:solidFill>
              </a:defRPr>
            </a:pPr>
            <a:r>
              <a:rPr sz="2925" b="1" i="0">
                <a:solidFill>
                  <a:srgbClr val="063B4C"/>
                </a:solidFill>
              </a:rPr>
              <a:t>GENE-EXPRESSION SIGNATURES</a:t>
            </a:r>
          </a:p>
        </p:txBody>
      </p:sp>
      <p:sp>
        <p:nvSpPr>
          <p:cNvPr id="25" name="signatures-rule">
            <a:extLst xmlns:a="http://schemas.openxmlformats.org/drawingml/2006/main">
              <a:ext uri="{FF2B5EF4-FFF2-40B4-BE49-F238E27FC236}">
                <a16:creationId xmlns:a16="http://schemas.microsoft.com/office/drawing/2014/main" id="{6EED921B-4223-463C-9FAD-793EA13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16144875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5989842474909"/>
          <a:stretch xmlns:a="http://schemas.openxmlformats.org/drawingml/2006/main"/>
        </p:blipFill>
        <p:spPr>
          <a:xfrm xmlns:a="http://schemas.openxmlformats.org/drawingml/2006/main">
            <a:off x="29051250" y="16444866"/>
            <a:ext cx="13144500" cy="6010369"/>
          </a:xfrm>
          <a:prstGeom xmlns:a="http://schemas.openxmlformats.org/drawingml/2006/main" prst="rect">
            <a:avLst/>
          </a:prstGeom>
        </p:spPr>
      </p:pic>
      <p:sp>
        <p:nvSpPr>
          <p:cNvPr id="27" name="signature-caption">
            <a:extLst xmlns:a="http://schemas.openxmlformats.org/drawingml/2006/main">
              <a:ext uri="{FF2B5EF4-FFF2-40B4-BE49-F238E27FC236}">
                <a16:creationId xmlns:a16="http://schemas.microsoft.com/office/drawing/2014/main" id="{96B5E88F-71BF-4E01-9371-4C8EDDEE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0" y="22621875"/>
            <a:ext cx="1314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B73"/>
                </a:solidFill>
              </a:defRPr>
            </a:pPr>
            <a:r>
              <a:rPr sz="2025" b="0" i="0">
                <a:solidFill>
                  <a:srgbClr val="536B73"/>
                </a:solidFill>
              </a:rPr>
              <a:t>Brain candidates emphasize neural signalling; liver candidates emphasize metabolism, oxidative stress and detoxification.</a:t>
            </a:r>
          </a:p>
        </p:txBody>
      </p:sp>
      <p:sp>
        <p:nvSpPr>
          <p:cNvPr id="28" name="pattern-title">
            <a:extLst xmlns:a="http://schemas.openxmlformats.org/drawingml/2006/main">
              <a:ext uri="{FF2B5EF4-FFF2-40B4-BE49-F238E27FC236}">
                <a16:creationId xmlns:a16="http://schemas.microsoft.com/office/drawing/2014/main" id="{2827AE02-F7CA-477E-87C1-9DAFD5A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0"/>
            <a:ext cx="1952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C"/>
                </a:solidFill>
              </a:defRPr>
            </a:pPr>
            <a:r>
              <a:rPr sz="2925" b="1" i="0">
                <a:solidFill>
                  <a:srgbClr val="063B4C"/>
                </a:solidFill>
              </a:rPr>
              <a:t>THE CLEAREST TISSUE PATTERN</a:t>
            </a:r>
          </a:p>
        </p:txBody>
      </p:sp>
      <p:sp>
        <p:nvSpPr>
          <p:cNvPr id="29" name="pattern-rule">
            <a:extLst xmlns:a="http://schemas.openxmlformats.org/drawingml/2006/main">
              <a:ext uri="{FF2B5EF4-FFF2-40B4-BE49-F238E27FC236}">
                <a16:creationId xmlns:a16="http://schemas.microsoft.com/office/drawing/2014/main" id="{5F64930B-FA89-4DDF-B9D6-B46A5010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26875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tern-subtitle">
            <a:extLst xmlns:a="http://schemas.openxmlformats.org/drawingml/2006/main">
              <a:ext uri="{FF2B5EF4-FFF2-40B4-BE49-F238E27FC236}">
                <a16:creationId xmlns:a16="http://schemas.microsoft.com/office/drawing/2014/main" id="{34909A80-A23E-44CE-83D6-6A74793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17375"/>
            <a:ext cx="1952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B73"/>
                </a:solidFill>
              </a:defRPr>
            </a:pPr>
            <a:r>
              <a:rPr sz="2025" b="0" i="0">
                <a:solidFill>
                  <a:srgbClr val="536B73"/>
                </a:solidFill>
              </a:rPr>
              <a:t>Significant TE results in the two contrasts with the strongest brain–liver differences  •  FDR &lt; 0.05</a:t>
            </a:r>
          </a:p>
        </p:txBody>
      </p:sp>
      <p:graphicFrame>
        <p:nvGraphicFramePr>
          <p:cNvPr id="74" name="Chart"/>
          <p:cNvGraphicFramePr/>
          <p:nvPr/>
        </p:nvGraphicFramePr>
        <p:xfrm>
          <a:off xmlns:a="http://schemas.openxmlformats.org/drawingml/2006/main" x="952500" y="25336500"/>
          <a:ext xmlns:a="http://schemas.openxmlformats.org/drawingml/2006/main" cx="19526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0ae73001c4d05"/>
          </a:graphicData>
        </a:graphic>
      </p:graphicFrame>
      <p:sp>
        <p:nvSpPr>
          <p:cNvPr id="32" name="meaning-title">
            <a:extLst xmlns:a="http://schemas.openxmlformats.org/drawingml/2006/main">
              <a:ext uri="{FF2B5EF4-FFF2-40B4-BE49-F238E27FC236}">
                <a16:creationId xmlns:a16="http://schemas.microsoft.com/office/drawing/2014/main" id="{2430F12B-BAE8-4362-B7CD-7B9086B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3907750"/>
            <a:ext cx="2065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C"/>
                </a:solidFill>
              </a:defRPr>
            </a:pPr>
            <a:r>
              <a:rPr sz="2925" b="1" i="0">
                <a:solidFill>
                  <a:srgbClr val="063B4C"/>
                </a:solidFill>
              </a:rPr>
              <a:t>SIGNALS TO FOLLOW UP</a:t>
            </a:r>
          </a:p>
        </p:txBody>
      </p:sp>
      <p:sp>
        <p:nvSpPr>
          <p:cNvPr id="33" name="meaning-rule">
            <a:extLst xmlns:a="http://schemas.openxmlformats.org/drawingml/2006/main">
              <a:ext uri="{FF2B5EF4-FFF2-40B4-BE49-F238E27FC236}">
                <a16:creationId xmlns:a16="http://schemas.microsoft.com/office/drawing/2014/main" id="{719A46B8-0E53-45B6-8C2C-6CF60677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4526875"/>
            <a:ext cx="1571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rain-signal-title">
            <a:extLst xmlns:a="http://schemas.openxmlformats.org/drawingml/2006/main">
              <a:ext uri="{FF2B5EF4-FFF2-40B4-BE49-F238E27FC236}">
                <a16:creationId xmlns:a16="http://schemas.microsoft.com/office/drawing/2014/main" id="{A5B46617-1C12-4539-B201-2540B91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4812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87E8B"/>
                </a:solidFill>
              </a:defRPr>
            </a:pPr>
            <a:r>
              <a:rPr sz="2325" b="1" i="0">
                <a:solidFill>
                  <a:srgbClr val="087E8B"/>
                </a:solidFill>
              </a:rPr>
              <a:t>BRAIN</a:t>
            </a:r>
          </a:p>
        </p:txBody>
      </p:sp>
      <p:sp>
        <p:nvSpPr>
          <p:cNvPr id="35" name="brain-signal-text">
            <a:extLst xmlns:a="http://schemas.openxmlformats.org/drawingml/2006/main">
              <a:ext uri="{FF2B5EF4-FFF2-40B4-BE49-F238E27FC236}">
                <a16:creationId xmlns:a16="http://schemas.microsoft.com/office/drawing/2014/main" id="{D669A33D-1257-497B-A70E-86F6DDF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543175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313A"/>
                </a:solidFill>
              </a:defRPr>
            </a:pPr>
            <a:r>
              <a:rPr sz="2175" b="0" i="0">
                <a:solidFill>
                  <a:srgbClr val="17313A"/>
                </a:solidFill>
              </a:rPr>
              <a:t>gabra5 and gabrb3 point to inhibitory-neural signalling. Other prioritized candidates include ngef, grin genes and slc1a6.</a:t>
            </a:r>
          </a:p>
        </p:txBody>
      </p:sp>
      <p:sp>
        <p:nvSpPr>
          <p:cNvPr id="36" name="liver-signal-title">
            <a:extLst xmlns:a="http://schemas.openxmlformats.org/drawingml/2006/main">
              <a:ext uri="{FF2B5EF4-FFF2-40B4-BE49-F238E27FC236}">
                <a16:creationId xmlns:a16="http://schemas.microsoft.com/office/drawing/2014/main" id="{4344CA72-A8EA-4EE0-A49C-00290BE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0" y="24812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8A5B"/>
                </a:solidFill>
              </a:defRPr>
            </a:pPr>
            <a:r>
              <a:rPr sz="2325" b="1" i="0">
                <a:solidFill>
                  <a:srgbClr val="FF8A5B"/>
                </a:solidFill>
              </a:rPr>
              <a:t>LIVER</a:t>
            </a:r>
          </a:p>
        </p:txBody>
      </p:sp>
      <p:sp>
        <p:nvSpPr>
          <p:cNvPr id="37" name="liver-signal-text">
            <a:extLst xmlns:a="http://schemas.openxmlformats.org/drawingml/2006/main">
              <a:ext uri="{FF2B5EF4-FFF2-40B4-BE49-F238E27FC236}">
                <a16:creationId xmlns:a16="http://schemas.microsoft.com/office/drawing/2014/main" id="{5D641E56-5DCE-4300-82AF-B4A2EA4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0" y="2543175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313A"/>
                </a:solidFill>
              </a:defRPr>
            </a:pPr>
            <a:r>
              <a:rPr sz="2175" b="0" i="0">
                <a:solidFill>
                  <a:srgbClr val="17313A"/>
                </a:solidFill>
              </a:rPr>
              <a:t>mgst1.1, gpx1b and fads2 highlight oxidative-stress, metabolism and detoxification pathways.</a:t>
            </a:r>
          </a:p>
        </p:txBody>
      </p:sp>
      <p:sp>
        <p:nvSpPr>
          <p:cNvPr id="38" name="next-panel">
            <a:extLst xmlns:a="http://schemas.openxmlformats.org/drawingml/2006/main">
              <a:ext uri="{FF2B5EF4-FFF2-40B4-BE49-F238E27FC236}">
                <a16:creationId xmlns:a16="http://schemas.microsoft.com/office/drawing/2014/main" id="{C95676F5-E4CA-470D-A7DE-78A6AE3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27527250"/>
            <a:ext cx="206502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next-title">
            <a:extLst xmlns:a="http://schemas.openxmlformats.org/drawingml/2006/main">
              <a:ext uri="{FF2B5EF4-FFF2-40B4-BE49-F238E27FC236}">
                <a16:creationId xmlns:a16="http://schemas.microsoft.com/office/drawing/2014/main" id="{CCCBE1DB-FF57-4118-B9C1-01E31BCD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27860625"/>
            <a:ext cx="1143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4FC3C7"/>
                </a:solidFill>
              </a:defRPr>
            </a:pPr>
            <a:r>
              <a:rPr sz="2550" b="1" i="0">
                <a:solidFill>
                  <a:srgbClr val="4FC3C7"/>
                </a:solidFill>
              </a:rPr>
              <a:t>NEXT: VALIDATE IN 162 LIBRARIES</a:t>
            </a:r>
          </a:p>
        </p:txBody>
      </p:sp>
      <p:sp>
        <p:nvSpPr>
          <p:cNvPr id="40" name="next-text">
            <a:extLst xmlns:a="http://schemas.openxmlformats.org/drawingml/2006/main">
              <a:ext uri="{FF2B5EF4-FFF2-40B4-BE49-F238E27FC236}">
                <a16:creationId xmlns:a16="http://schemas.microsoft.com/office/drawing/2014/main" id="{7B3A4B02-29E4-43B3-9E9F-5229018F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28575000"/>
            <a:ext cx="1924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The larger brain–gill–liver cohort will test whether these tissue and gene signatures hold up. Association does not prove regulation.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42B215-DAB1-41E6-9107-EE93F93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0"/>
            <a:ext cx="4084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05AB27-D0FC-4D9A-9C11-7A429E91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84875"/>
            <a:ext cx="2667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B73"/>
                </a:solidFill>
              </a:defRPr>
            </a:pPr>
            <a:r>
              <a:rPr sz="1800" b="0" i="0">
                <a:solidFill>
                  <a:srgbClr val="536B73"/>
                </a:solidFill>
              </a:rPr>
              <a:t>Pilot results: FDR &lt; 0.05  •  60 samples  •  association does not prove regulation</a:t>
            </a:r>
          </a:p>
        </p:txBody>
      </p:sp>
      <p:sp>
        <p:nvSpPr>
          <p:cNvPr id="4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931B81C-9D31-4583-8A27-0FE0AE5A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0" y="31384875"/>
            <a:ext cx="1341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 i="0">
                <a:solidFill>
                  <a:srgbClr val="536B73"/>
                </a:solidFill>
              </a:defRPr>
            </a:pPr>
            <a:r>
              <a:rPr sz="1800" b="0" i="0">
                <a:solidFill>
                  <a:srgbClr val="536B73"/>
                </a:solidFill>
              </a:rPr>
              <a:t>Suresh et al. (2023)  •  TE Ocean Acidification Project</a:t>
            </a:r>
          </a:p>
        </p:txBody>
      </p:sp>
    </p:spTree>
    <p:extLst>
      <p:ext uri="{BB962C8B-B14F-4D97-AF65-F5344CB8AC3E}">
        <p14:creationId xmlns:p14="http://schemas.microsoft.com/office/powerpoint/2010/main" val="417108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2026-08-04T11:42:34.8540000Z</dcterms:created>
  <dcterms:modified xsi:type="dcterms:W3CDTF">2026-08-04T11:42:34.8540000Z</dcterms:modified>
</coreProperties>
</file>