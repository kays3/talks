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Timing budget for this slide; cumulative 0:30 of 23:45 speaking (30-min slot = ~25 min talk + ~5 min questions).</a:t>
            </a:r>
          </a:p>
          <a:p>
            <a:r>
              <a:t>Slide 1 of 26 (main talk); slide 1 of the 25 Sep deck, content unchanged.</a:t>
            </a:r>
          </a:p>
          <a:p>
            <a:r>
              <a:t>Sources note (docs/lung_tcell_talk_imrad_sources_20260925.md, row for original slide 1): Title: —. Source: —</a:t>
            </a:r>
          </a:p>
          <a:p>
            <a:r>
              <a:t>Commits cited are in geneformer-lung-tcell; the files themselves are in this package under data/git/&lt;commit&gt;/ (see data/MANIFEST.tsv).</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Timing budget for this slide; cumulative 2:00 of 23:45 speaking (30-min slot = ~25 min talk + ~5 min questions).</a:t>
            </a:r>
          </a:p>
          <a:p>
            <a:r>
              <a:t>Slide 2 of 26 (main talk). ADDED 2026-09-28 (not in the 25 Sep deck).</a:t>
            </a:r>
          </a:p>
          <a:p>
            <a:r>
              <a:t>SCLC 'most aggressive thoracic malignancy', 'responds poorly to immune checkpoint blockade despite a high tumour mutational burden', 'transcriptional basis poorly characterised at single-cell resolution': JSDP poster, section A 'Why this matters' - data/sources/poster_final.pdf (our 24JSDP poster, P25; geneformer-lung-tcell poster/poster_final.pdf, untracked; sha256 94638dba...)</a:t>
            </a:r>
          </a:p>
          <a:p>
            <a:r>
              <a:t>SCLC transcription-factor subtypes: Rudin CM, Poirier JT, Byers LA, et al. Molecular subtypes of small cell lung cancer: a synthesis of human and mouse model data. Nat Rev Cancer 2019. doi:10.1038/s41568-019-0133-9</a:t>
            </a:r>
          </a:p>
          <a:p>
            <a:r>
              <a:t>T-cell exhaustion and inhibitory receptors: Wherry EJ, Kurachi M. Molecular and cellular insights into T cell exhaustion. Nat Rev Immunol 2015. doi:10.1038/nri3862</a:t>
            </a:r>
          </a:p>
          <a:p>
            <a:r>
              <a:t>Modest benefit of adding atezolizumab to chemotherapy in extensive-stage SCLC: Horn L, Mansfield AS, Szczęsna A, et al. First-line atezolizumab plus chemotherapy in extensive-stage small-cell lung cancer. N Engl J Med 2018. doi:10.1056/NEJMoa1809064</a:t>
            </a:r>
          </a:p>
          <a:p>
            <a:r>
              <a:t>Inflamed SCLC subtype and immunotherapy benefit: Gay CM, Stewart CA, Park EM, et al. Patterns of transcription factor programs and immune pathway activation define four major subtypes of SCLC with distinct therapeutic vulnerabilities. Cancer Cell 2021. doi:10.1016/j.ccell.2020.12.014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Timing budget for this slide; cumulative 3:30 of 23:45 speaking (30-min slot = ~25 min talk + ~5 min questions).</a:t>
            </a:r>
          </a:p>
          <a:p>
            <a:r>
              <a:t>Slide 3 of 26 (main talk). ADDED 2026-09-28 (not in the 25 Sep deck).</a:t>
            </a:r>
          </a:p>
          <a:p>
            <a:r>
              <a:t>46,140 cells, 42 individuals, HTAN MSK / CELLxGENE dataset 6fde3ad9: data/git/dd7366c/sclc_validation/perturbation_workflow/METHODS.md (geneformer-lung-tcell @ dd7366c) (lines 5-10) and the poster's cohort panel.</a:t>
            </a:r>
          </a:p>
          <a:p>
            <a:r>
              <a:t>Geneformer: Theodoris CV, Xiao L, Chopra A, et al. Transfer learning enables predictions in network biology. Nature 2023. doi:10.1038/s41586-023-06139-9</a:t>
            </a:r>
          </a:p>
          <a:p>
            <a:r>
              <a:t>'Reads a cell as an ordered list of its genes, most-expressed first'; 'nothing is edited in a laboratory'; 'a hypothesis generator, not a knockout experiment'; 'a Perturb-seq screen run in silico': JSDP poster Fig. 1 and Fig. 5 captions - data/sources/poster_final.pdf (our 24JSDP poster, P25; geneformer-lung-tcell poster/poster_final.pdf, untracked; sha256 94638dba...)</a:t>
            </a:r>
          </a:p>
          <a:p>
            <a:r>
              <a:t>Delete = token removed from the rank-value encoding; overexpress = moved to the front: data/git/dd7366c/sclc_validation/perturbation_workflow/METHODS.md (geneformer-lung-tcell @ dd7366c) (lines 180-187).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Timing budget for this slide; cumulative 4:45 of 23:45 speaking (30-min slot = ~25 min talk + ~5 min questions).</a:t>
            </a:r>
          </a:p>
          <a:p>
            <a:r>
              <a:t>Slide 4 of 26 (main talk). ADDED 2026-09-28 (not in the 25 Sep deck).</a:t>
            </a:r>
          </a:p>
          <a:p>
            <a:r>
              <a:t>Poster title, number, authors, sections and all poster quotes: data/sources/poster_final.pdf (our 24JSDP poster, P25; geneformer-lung-tcell poster/poster_final.pdf, untracked; sha256 94638dba...)</a:t>
            </a:r>
          </a:p>
          <a:p>
            <a:r>
              <a:t>rho 0.361 / 7.95 sigma: data/sources/JSDP_P25_talk.pdf (the talk that accompanied the poster; geneformer-lung-tcell talk/JSDP_P25_talk.pdf, untracked; sha256 3f013a5d...) (slide 9).</a:t>
            </a:r>
          </a:p>
          <a:p>
            <a:r>
              <a:t>Status column restates this deck's own slides: Results R1 (cell-set caveat; targeted_panel_delete_overexpress_merged.csv @ 6882627, runner fix 66d235b) and R3 (t6_permutation_tests.csv @ 9ec518c).</a:t>
            </a:r>
          </a:p>
          <a:p>
            <a:r>
              <a:t>Held-out cell count: poster 9,377 vs confusion matrix 9,376 is a known one-cell truncation with no effect at any reported precision (METHODS.md lines 125-166) - not an audit change.</a:t>
            </a:r>
          </a:p>
          <a:p>
            <a:r>
              <a:t>Per the human's ruling (2026-09-28), the poster is named only as 'our 24JSDP poster (P25)': no venue, date or meeting details.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Timing budget for this slide; cumulative 5:45 of 23:45 speaking (30-min slot = ~25 min talk + ~5 min questions).</a:t>
            </a:r>
          </a:p>
          <a:p>
            <a:r>
              <a:t>Slide 5 of 26 (main talk); slide 2 of the 25 Sep deck, content unchanged.</a:t>
            </a:r>
          </a:p>
          <a:p>
            <a:r>
              <a:t>Sources note (docs/lung_tcell_talk_imrad_sources_20260925.md, row for original slide 2): Background: (framing only). Source: —</a:t>
            </a:r>
          </a:p>
          <a:p>
            <a:r>
              <a:t>Commits cited are in geneformer-lung-tcell; the files themselves are in this package under data/git/&lt;commit&gt;/ (see data/MANIFEST.tsv).</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Timing budget for this slide; cumulative 6:45 of 23:45 speaking (30-min slot = ~25 min talk + ~5 min questions).</a:t>
            </a:r>
          </a:p>
          <a:p>
            <a:r>
              <a:t>Slide 6 of 26 (main talk); slide 3 of the 25 Sep deck, content unchanged.</a:t>
            </a:r>
          </a:p>
          <a:p>
            <a:r>
              <a:t>Cited on the slide: talk/JSDP_P25_talk.pptx; poster/poster_final.html</a:t>
            </a:r>
          </a:p>
          <a:p>
            <a:r>
              <a:t>Sources note (docs/lung_tcell_talk_imrad_sources_20260925.md, row for original slide 3): Intro I1: 4 original hits, tissue validation. Source: `talk/JSDP_P25_talk.pptx/pdf`</a:t>
            </a:r>
          </a:p>
          <a:p>
            <a:r>
              <a:t>Commits cited are in geneformer-lung-tcell; the files themselves are in this package under data/git/&lt;commit&gt;/ (see data/MANIFEST.tsv).</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Timing budget for this slide; cumulative 7:45 of 23:45 speaking (30-min slot = ~25 min talk + ~5 min questions).</a:t>
            </a:r>
          </a:p>
          <a:p>
            <a:r>
              <a:t>Slide 7 of 26 (main talk); slide 4 of the 25 Sep deck, content unchanged.</a:t>
            </a:r>
          </a:p>
          <a:p>
            <a:r>
              <a:t>Cited on the slide: poster/poster_final.html; talk/JSDP_P25_talk.pdf ("TESTED SINCE THE POSTER", p.7)</a:t>
            </a:r>
          </a:p>
          <a:p>
            <a:r>
              <a:t>Sources note (docs/lung_tcell_talk_imrad_sources_20260925.md, row for original slide 4): Intro I2: Poster/talk hedges, quoted. Source: `poster/poster_final.html`; `talk/JSDP_P25_talk.pdf` p.7</a:t>
            </a:r>
          </a:p>
          <a:p>
            <a:r>
              <a:t>Commits cited are in geneformer-lung-tcell; the files themselves are in this package under data/git/&lt;commit&gt;/ (see data/MANIFEST.tsv).</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Timing budget for this slide; cumulative 9:00 of 23:45 speaking (30-min slot = ~25 min talk + ~5 min questions).</a:t>
            </a:r>
          </a:p>
          <a:p>
            <a:r>
              <a:t>Slide 8 of 26 (main talk); slide 5 of the 25 Sep deck, content unchanged apart from the added 'In plain words' line.</a:t>
            </a:r>
          </a:p>
          <a:p>
            <a:r>
              <a:t>Cited on the slide: README.md; perturbation_workflow/METHODS.md</a:t>
            </a:r>
          </a:p>
          <a:p>
            <a:r>
              <a:t>Sources note (docs/lung_tcell_talk_imrad_sources_20260925.md, row for original slide 5): Methods M1: 91.9%/F1 0.903 + 1-donor caveat; 42-vs-45. Source: `README.md`; `perturbation_workflow/METHODS.md` lines 57–67, 111–112, 33–39</a:t>
            </a:r>
          </a:p>
          <a:p>
            <a:r>
              <a:t>Commits cited are in geneformer-lung-tcell; the files themselves are in this package under data/git/&lt;commit&gt;/ (see data/MANIFEST.tsv).</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Timing budget for this slide; cumulative 10:00 of 23:45 speaking (30-min slot = ~25 min talk + ~5 min questions).</a:t>
            </a:r>
          </a:p>
          <a:p>
            <a:r>
              <a:t>Slide 9 of 26 (main talk); slide 6 of the 25 Sep deck, content unchanged.</a:t>
            </a:r>
          </a:p>
          <a:p>
            <a:r>
              <a:t>Cited on the slide: README.md</a:t>
            </a:r>
          </a:p>
          <a:p>
            <a:r>
              <a:t>Sources note (docs/lung_tcell_talk_imrad_sources_20260925.md, row for original slide 6): Methods M2: ISP mechanics, six comparisons. Source: `README.md`</a:t>
            </a:r>
          </a:p>
          <a:p>
            <a:r>
              <a:t>Commits cited are in geneformer-lung-tcell; the files themselves are in this package under data/git/&lt;commit&gt;/ (see data/MANIFEST.tsv).</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Timing budget for this slide; cumulative 11:15 of 23:45 speaking (30-min slot = ~25 min talk + ~5 min questions).</a:t>
            </a:r>
          </a:p>
          <a:p>
            <a:r>
              <a:t>Slide 10 of 26 (main talk); slide 7 of the 25 Sep deck, content unchanged apart from the added 'In plain words' line.</a:t>
            </a:r>
          </a:p>
          <a:p>
            <a:r>
              <a:t>Cited on the slide: primary_test_perturbation/scripts/build_delete_overexpress_shift_report.py @ b99365b</a:t>
            </a:r>
          </a:p>
          <a:p>
            <a:r>
              <a:t>Sources note (docs/lung_tcell_talk_imrad_sources_20260925.md, row for original slide 7): Methods M3: Concordance criterion, verbatim. Source: `primary_test_perturbation/scripts/build_delete_overexpress_shift_report.py` @ `b99365b`</a:t>
            </a:r>
          </a:p>
          <a:p>
            <a:r>
              <a:t>Commits cited are in geneformer-lung-tcell; the files themselves are in this package under data/git/&lt;commit&gt;/ (see data/MANIFEST.tsv).</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Timing budget for this slide; cumulative 12:15 of 23:45 speaking (30-min slot = ~25 min talk + ~5 min questions).</a:t>
            </a:r>
          </a:p>
          <a:p>
            <a:r>
              <a:t>Slide 11 of 26 (main talk); slide 8 of the 25 Sep deck, content unchanged.</a:t>
            </a:r>
          </a:p>
          <a:p>
            <a:r>
              <a:t>Cited on the slide: ambient_risk_diagnostic.py line 198 @ b99365b; immune_axis_test/donor_robustness.py @ 9ec518c</a:t>
            </a:r>
          </a:p>
          <a:p>
            <a:r>
              <a:t>Sources note (docs/lung_tcell_talk_imrad_sources_20260925.md, row for original slide 8): Methods M4: Ambient/donor-weighted methodology. Source: `ambient_risk_diagnostic.py` line 198 @ `b99365b`; `immune_axis_test/donor_robustness.py` @ `9ec518c`</a:t>
            </a:r>
          </a:p>
          <a:p>
            <a:r>
              <a:t>Commits cited are in geneformer-lung-tcell; the files themselves are in this package under data/git/&lt;commit&gt;/ (see data/MANIFEST.tsv).</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Timing budget for this slide; cumulative 13:45 of 23:45 speaking (30-min slot = ~25 min talk + ~5 min questions).</a:t>
            </a:r>
          </a:p>
          <a:p>
            <a:r>
              <a:t>Slide 12 of 26 (main talk); slide 9 of the 25 Sep deck, content unchanged apart from the added 'In plain words' line.</a:t>
            </a:r>
          </a:p>
          <a:p>
            <a:r>
              <a:t>Cited on the slide: talk/JSDP_P25_talk.pptx/pdf (rho, sigma: talk only); targeted_panel_delete_overexpress_merged.csv @ 6882627; runner fix 66d235b</a:t>
            </a:r>
          </a:p>
          <a:p>
            <a:r>
              <a:t>Sources note (docs/lung_tcell_talk_imrad_sources_20260925.md, row for original slide 9): Results R1: 4 hits + spatial validation; cell-set caveat on the concordance half (2026-09-25). Source: `talk/JSDP_P25_talk.pptx/pdf`; `targeted_panel_delete_overexpress_merged.csv` @ `6882627` (overexpress_n 2,424 constant; delete_n 202/438/282/1,131); runner fix `66d235b` (2026-09-22); no later commit to the results table</a:t>
            </a:r>
          </a:p>
          <a:p>
            <a:r>
              <a:t>Commits cited are in geneformer-lung-tcell; the files themselves are in this package under data/git/&lt;commit&gt;/ (see data/MANIFEST.tsv).</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Timing budget for this slide; cumulative 15:15 of 23:45 speaking (30-min slot = ~25 min talk + ~5 min questions).</a:t>
            </a:r>
          </a:p>
          <a:p>
            <a:r>
              <a:t>Slide 13 of 26 (main talk); slide 10 of the 25 Sep deck, content unchanged apart from the added 'In plain words' line.</a:t>
            </a:r>
          </a:p>
          <a:p>
            <a:r>
              <a:t>Cited on the slide: talk/JSDP_P25_talk.pdf, slide 7</a:t>
            </a:r>
          </a:p>
          <a:p>
            <a:r>
              <a:t>Sources note (docs/lung_tcell_talk_imrad_sources_20260925.md, row for original slide 10): Results R2: JSDP's own QC + pending-test flag. Source: `talk/JSDP_P25_talk.pdf`, slide 7</a:t>
            </a:r>
          </a:p>
          <a:p>
            <a:r>
              <a:t>Commits cited are in geneformer-lung-tcell; the files themselves are in this package under data/git/&lt;commit&gt;/ (see data/MANIFEST.tsv).</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Timing budget for this slide; cumulative 16:15 of 23:45 speaking (30-min slot = ~25 min talk + ~5 min questions).</a:t>
            </a:r>
          </a:p>
          <a:p>
            <a:r>
              <a:t>Slide 14 of 26 (main talk); slide 11 of the 25 Sep deck, content unchanged apart from the added 'In plain words' line.</a:t>
            </a:r>
          </a:p>
          <a:p>
            <a:r>
              <a:t>Cited on the slide: t6_weighting_reconciliation.csv, t6_permutation_tests.csv @ 9ec518c</a:t>
            </a:r>
          </a:p>
          <a:p>
            <a:r>
              <a:t>Sources note (docs/lung_tcell_talk_imrad_sources_20260925.md, row for original slide 11): Results R3: p=0.216 Monte Carlo (B=100,000); PleuralEffusion/HTA8_2001; 2/35 exact-enumeration floor. Source: `t6_weighting_reconciliation.csv`, `t6_permutation_tests.csv` @ `9ec518c`; `METHODS.md` lines 29–32</a:t>
            </a:r>
          </a:p>
          <a:p>
            <a:r>
              <a:t>Commits cited are in geneformer-lung-tcell; the files themselves are in this package under data/git/&lt;commit&gt;/ (see data/MANIFEST.tsv).</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Timing budget for this slide; cumulative 17:30 of 23:45 speaking (30-min slot = ~25 min talk + ~5 min questions).</a:t>
            </a:r>
          </a:p>
          <a:p>
            <a:r>
              <a:t>Slide 15 of 26 (main talk); slide 12 of the 25 Sep deck, content unchanged apart from the added 'In plain words' line.</a:t>
            </a:r>
          </a:p>
          <a:p>
            <a:r>
              <a:t>Cited on the slide: isp_plausibility_top_candidates.csv @ b99365b</a:t>
            </a:r>
          </a:p>
          <a:p>
            <a:r>
              <a:t>Sources note (docs/lung_tcell_talk_imrad_sources_20260925.md, row for original slide 12): Results R4: S100A8/S100A9 FDR + concordance failure. Source: `isp_plausibility_top_candidates.csv` @ `b99365b`</a:t>
            </a:r>
          </a:p>
          <a:p>
            <a:r>
              <a:t>Commits cited are in geneformer-lung-tcell; the files themselves are in this package under data/git/&lt;commit&gt;/ (see data/MANIFEST.tsv).</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Timing budget for this slide; cumulative 18:45 of 23:45 speaking (30-min slot = ~25 min talk + ~5 min questions).</a:t>
            </a:r>
          </a:p>
          <a:p>
            <a:r>
              <a:t>Slide 16 of 26 (main talk); slide 13 of the 25 Sep deck, content unchanged apart from the added 'In plain words' line.</a:t>
            </a:r>
          </a:p>
          <a:p>
            <a:r>
              <a:t>Cited on the slide: top_n_by_effect rows, ambient_risk_manifest.json @ b99365b</a:t>
            </a:r>
          </a:p>
          <a:p>
            <a:r>
              <a:t>Sources note (docs/lung_tcell_talk_imrad_sources_20260925.md, row for original slide 13): Results R5: Ambient audit, 60/120 union. Source: same CSV + `ambient_risk_manifest.json` @ `b99365b`</a:t>
            </a:r>
          </a:p>
          <a:p>
            <a:r>
              <a:t>Commits cited are in geneformer-lung-tcell; the files themselves are in this package under data/git/&lt;commit&gt;/ (see data/MANIFEST.tsv).</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Timing budget for this slide; cumulative 19:45 of 23:45 speaking (30-min slot = ~25 min talk + ~5 min questions).</a:t>
            </a:r>
          </a:p>
          <a:p>
            <a:r>
              <a:t>Slide 17 of 26 (main talk); slide 14 of the 25 Sep deck, content unchanged apart from the added 'In plain words' line.</a:t>
            </a:r>
          </a:p>
          <a:p>
            <a:r>
              <a:t>Cited on the slide: isp_plausibility_top_candidates.csv @ b99365b</a:t>
            </a:r>
          </a:p>
          <a:p>
            <a:r>
              <a:t>Sources note (docs/lung_tcell_talk_imrad_sources_20260925.md, row for original slide 14): Results R6: NBEAL1. Source: same CSV @ `b99365b`</a:t>
            </a:r>
          </a:p>
          <a:p>
            <a:r>
              <a:t>Commits cited are in geneformer-lung-tcell; the files themselves are in this package under data/git/&lt;commit&gt;/ (see data/MANIFEST.tsv).</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Timing budget for this slide; cumulative 21:15 of 23:45 speaking (30-min slot = ~25 min talk + ~5 min questions).</a:t>
            </a:r>
          </a:p>
          <a:p>
            <a:r>
              <a:t>Slide 18 of 26 (main talk). ADDED 2026-09-28 (not in the 25 Sep deck).</a:t>
            </a:r>
          </a:p>
          <a:p>
            <a:r>
              <a:t>NEW since the 25 Sep deck; pre-registered; run 2026-09-28.</a:t>
            </a:r>
          </a:p>
          <a:p>
            <a:r>
              <a:t>Status, U, p, stability gate, no-op PASS, S100P/S100A16 not_estimable, anchors S100A8/A9: data/git/53adee2/.../results_s100_luad_20260928/RESULT.md (geneformer-lung-tcell @ 53adee2; merged to main in PR #37, 4455914); numbers read at build time from data/git/53adee2/.../results_s100_luad_20260928/primary_results.json (@ 53adee2)</a:t>
            </a:r>
          </a:p>
          <a:p>
            <a:r>
              <a:t>Gene groups and ambient risk: data/git/53adee2/.../s100_isp/analyse_s100_luad_20260928.py (@ 53adee2): gene groups, Ensembl IDs, ambient-risk values</a:t>
            </a:r>
          </a:p>
          <a:p>
            <a:r>
              <a:t>Wording rules (never 'no effect'; state the 2/70 floor; no claim from clean genes' high Q): the lab's ISP outcome standard (ISP-STD-1 v1.1, the floor's wording rules; not in this package)</a:t>
            </a:r>
          </a:p>
          <a:p>
            <a:r>
              <a:t>Mann-Whitney test: Mann HB, Whitney DR. On a test of whether one of two random variables is stochastically larger than the other. Ann Math Stat 1947. doi:10.1214/aoms/1177730491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Timing budget for this slide; cumulative 22:15 of 23:45 speaking (30-min slot = ~25 min talk + ~5 min questions).</a:t>
            </a:r>
          </a:p>
          <a:p>
            <a:r>
              <a:t>Slide 19 of 26 (main talk); slide 17 of the 25 Sep deck, content unchanged.</a:t>
            </a:r>
          </a:p>
          <a:p>
            <a:r>
              <a:t>Sources note (docs/lung_tcell_talk_imrad_sources_20260925.md, row for original slide 17): Discussion D1: Synthesis. Source: (rolls up the above)</a:t>
            </a:r>
          </a:p>
          <a:p>
            <a:r>
              <a:t>Commits cited are in geneformer-lung-tcell; the files themselves are in this package under data/git/&lt;commit&gt;/ (see data/MANIFEST.tsv).</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Timing budget for this slide; cumulative 23:30 of 23:45 speaking (30-min slot = ~25 min talk + ~5 min questions).</a:t>
            </a:r>
          </a:p>
          <a:p>
            <a:r>
              <a:t>Slide 20 of 26 (main talk); slide 18 of the 25 Sep deck, content unchanged.</a:t>
            </a:r>
          </a:p>
          <a:p>
            <a:r>
              <a:t>Cited on the slide: perturbation_workflow/METHODS.md lines 24-25; talk/JSDP_P25_talk.pdf, slide 11</a:t>
            </a:r>
          </a:p>
          <a:p>
            <a:r>
              <a:t>Sources note (docs/lung_tcell_talk_imrad_sources_20260925.md, row for original slide 18): Discussion D2/D3: Limitations, closing. Source: `perturbation_workflow/METHODS.md` lines 24–25; `talk/JSDP_P25_talk.pdf`, slide 11</a:t>
            </a:r>
          </a:p>
          <a:p>
            <a:r>
              <a:t>Commits cited are in geneformer-lung-tcell; the files themselves are in this package under data/git/&lt;commit&gt;/ (see data/MANIFEST.tsv).</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 Timing budget for this slide; cumulative 23:45 of 23:45 speaking (30-min slot = ~25 min talk + ~5 min questions).</a:t>
            </a:r>
          </a:p>
          <a:p>
            <a:r>
              <a:t>Slide 21 of 26 (main talk). ADDED 2026-09-28 (not in the 25 Sep deck).</a:t>
            </a:r>
          </a:p>
          <a:p>
            <a:r>
              <a:t>Glossary definitions are this talk's working definitions. Literature: Wherry EJ, Kurachi M. Molecular and cellular insights into T cell exhaustion. Nat Rev Immunol 2015. doi:10.1038/nri3862; Theodoris CV, Xiao L, Chopra A, et al. Transfer learning enables predictions in network biology. Nature 2023. doi:10.1038/s41586-023-06139-9; Benjamini Y, Hochberg Y. Controlling the false discovery rate: a practical and powerful approach to multiple testing. J R Stat Soc B 1995. doi:10.1111/j.2517-6161.1995.tb02031.x; Young MD, Behjati S. SoupX removes ambient RNA contamination from droplet-based single-cell RNA sequencing data. GigaScience 2020. doi:10.1093/gigascience/giaa151; Mann HB, Whitney DR. On a test of whether one of two random variables is stochastically larger than the other. Ann Math Stat 1947. doi:10.1214/aoms/1177730491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Appendix: not in the timed talk; show only if asked.</a:t>
            </a:r>
          </a:p>
          <a:p>
            <a:r>
              <a:t>Slide 22 of 26 (appendix). ADDED 2026-09-28 (not in the 25 Sep deck).</a:t>
            </a:r>
          </a:p>
          <a:p>
            <a:r>
              <a:t>Appendix divider. Slides moved here, not deleted, per the 2026-09-28 request to keep the main talk length sane.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Appendix: not in the timed talk; show only if asked.</a:t>
            </a:r>
          </a:p>
          <a:p>
            <a:r>
              <a:t>Slide 23 of 26 (appendix); slide 15 of the 25 Sep deck, content unchanged apart from the added 'In plain words' line.</a:t>
            </a:r>
          </a:p>
          <a:p>
            <a:r>
              <a:t>Cited on the slide: committed_run_stats/{bf16,316m_bf16,...} @ origin/main; RESULTS_BF16.md @ afa0564</a:t>
            </a:r>
          </a:p>
          <a:p>
            <a:r>
              <a:t>Sources note (docs/lung_tcell_talk_imrad_sources_20260925.md, row for original slide 15): Results R7: bf16 + frozen-FAIL gate. Source: `committed_run_stats/*` @ `origin/main`; `RESULTS_BF16.md` @ `afa0564`</a:t>
            </a:r>
          </a:p>
          <a:p>
            <a:r>
              <a:t>Commits cited are in geneformer-lung-tcell; the files themselves are in this package under data/git/&lt;commit&gt;/ (see data/MANIFEST.tsv).</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Appendix: not in the timed talk; show only if asked.</a:t>
            </a:r>
          </a:p>
          <a:p>
            <a:r>
              <a:t>Slide 24 of 26 (appendix); slide 16 of the 25 Sep deck, content unchanged apart from the added 'In plain words' line.</a:t>
            </a:r>
          </a:p>
          <a:p>
            <a:r>
              <a:t>Cited on the slide: talk/JSDP_P25_talk.pdf, slide 10 (STRING literature overlay)</a:t>
            </a:r>
          </a:p>
          <a:p>
            <a:r>
              <a:t>Sources note (docs/lung_tcell_talk_imrad_sources_20260925.md, row for original slide 16): Results R8 (designated cut): STRING mechanism. Source: `talk/JSDP_P25_talk.pdf`, slide 10</a:t>
            </a:r>
          </a:p>
          <a:p>
            <a:r>
              <a:t>Commits cited are in geneformer-lung-tcell; the files themselves are in this package under data/git/&lt;commit&gt;/ (see data/MANIFEST.tsv).</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Appendix: not in the timed talk; show only if asked.</a:t>
            </a:r>
          </a:p>
          <a:p>
            <a:r>
              <a:t>Slide 25 of 26 (appendix). ADDED 2026-09-28 (not in the 25 Sep deck).</a:t>
            </a:r>
          </a:p>
          <a:p>
            <a:r>
              <a:t>Q values and group test read at build time from data/git/53adee2/.../results_s100_luad_20260928/primary_results.json (@ 53adee2)</a:t>
            </a:r>
          </a:p>
          <a:p>
            <a:r>
              <a:t>Ensembl IDs, groups and ambient-risk values: data/git/53adee2/.../s100_isp/analyse_s100_luad_20260928.py (@ 53adee2): gene groups, Ensembl IDs, ambient-risk values</a:t>
            </a:r>
          </a:p>
          <a:p>
            <a:r>
              <a:t>Q is the gene's midrank percentile among its 20 matched controls; 8 of 8 genes have 20 valid controls in both contrasts.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Appendix: not in the timed talk; show only if asked.</a:t>
            </a:r>
          </a:p>
          <a:p>
            <a:r>
              <a:t>Slide 26 of 26 (appendix). ADDED 2026-09-28 (not in the 25 Sep deck).</a:t>
            </a:r>
          </a:p>
          <a:p>
            <a:r>
              <a:t>Panel b of the original detection figure (poster Fig. 6 / JSDP talk slide 7), redrawn 2026-09-28 by src/make_readable_figures.py so its 31 gene names read at 14 pt; the slide-size slot of the Results slide cannot hold them. Same genes, values, ranks (TIM-3 4th, TIGIT 5th of 20 detected in &gt;= 100 cells) and colour rules as data/git/eb533f8/.../scripts/make_detection_figure.py.</a:t>
            </a:r>
          </a:p>
          <a:p>
            <a:r>
              <a:t>Data: data/git/eb533f8/sclc_validation/checkpoint_cart_perturbation/tables/cart_overexpression_vs_deletion.csv and cart_engineering_perturbation.csv (last changed 37a0211).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chemeClr val="tx1"/>
        </a:solidFill>
        <a:effectLst/>
      </p:bgPr>
    </p:bg>
    <p:spTree>
      <p:nvGrpSpPr>
        <p:cNvPr id="1" name=""/>
        <p:cNvGrpSpPr/>
        <p:nvPr/>
      </p:nvGrpSpPr>
      <p:grpSpPr/>
      <p:sp>
        <p:nvSpPr>
          <p:cNvPr id="2" name="Title 1"/>
          <p:cNvSpPr>
            <a:spLocks noGrp="1"/>
          </p:cNvSpPr>
          <p:nvPr>
            <p:ph type="title"/>
          </p:nvPr>
        </p:nvSpPr>
        <p:spPr>
          <a:xfrm>
            <a:off x="721420" y="1082842"/>
            <a:ext cx="10749160" cy="891339"/>
          </a:xfrm>
        </p:spPr>
        <p:txBody>
          <a:bodyPr wrap="square" anchor="t" lIns="0" rIns="0" tIns="0" bIns="0">
            <a:noAutofit/>
          </a:bodyPr>
          <a:lstStyle/>
          <a:p>
            <a:pPr algn="l">
              <a:lnSpc>
                <a:spcPts val="3200"/>
              </a:lnSpc>
              <a:spcBef>
                <a:spcPts val="0"/>
              </a:spcBef>
              <a:spcAft>
                <a:spcPts val="300"/>
              </a:spcAft>
            </a:pPr>
            <a:r>
              <a:rPr sz="2700" b="1" i="0">
                <a:solidFill>
                  <a:schemeClr val="accent6"/>
                </a:solidFill>
              </a:rPr>
              <a:t>A Foundation-Model T-cell Dysfunction Screen:</a:t>
            </a:r>
          </a:p>
          <a:p>
            <a:pPr algn="l">
              <a:lnSpc>
                <a:spcPts val="3200"/>
              </a:lnSpc>
              <a:spcBef>
                <a:spcPts val="0"/>
              </a:spcBef>
              <a:spcAft>
                <a:spcPts val="300"/>
              </a:spcAft>
            </a:pPr>
            <a:r>
              <a:rPr sz="2700" b="1" i="0">
                <a:solidFill>
                  <a:schemeClr val="accent6"/>
                </a:solidFill>
              </a:rPr>
              <a:t>Translational Candidates, Then a Full Audit</a:t>
            </a:r>
          </a:p>
        </p:txBody>
      </p:sp>
      <p:sp>
        <p:nvSpPr>
          <p:cNvPr id="3" name="TextBox 2"/>
          <p:cNvSpPr txBox="1"/>
          <p:nvPr/>
        </p:nvSpPr>
        <p:spPr>
          <a:xfrm>
            <a:off x="721420" y="690370"/>
            <a:ext cx="10749160" cy="143251"/>
          </a:xfrm>
          <a:prstGeom prst="rect">
            <a:avLst/>
          </a:prstGeom>
          <a:noFill/>
        </p:spPr>
        <p:txBody>
          <a:bodyPr wrap="none" anchor="t" lIns="0" rIns="0" tIns="0" bIns="0">
            <a:noAutofit/>
          </a:bodyPr>
          <a:lstStyle/>
          <a:p>
            <a:pPr algn="l"/>
            <a:r>
              <a:rPr sz="900" b="1" i="0">
                <a:solidFill>
                  <a:schemeClr val="accent3"/>
                </a:solidFill>
                <a:latin typeface="Courier New"/>
              </a:rPr>
              <a:t>GENEFORMER · SCLC/LUAD/NORMAL T-CELL DYSFUNCTION</a:t>
            </a:r>
          </a:p>
        </p:txBody>
      </p:sp>
      <p:sp>
        <p:nvSpPr>
          <p:cNvPr id="4" name="TextBox 3"/>
          <p:cNvSpPr txBox="1"/>
          <p:nvPr/>
        </p:nvSpPr>
        <p:spPr>
          <a:xfrm>
            <a:off x="721420" y="1974182"/>
            <a:ext cx="10749160" cy="1635292"/>
          </a:xfrm>
          <a:prstGeom prst="rect">
            <a:avLst/>
          </a:prstGeom>
          <a:noFill/>
        </p:spPr>
        <p:txBody>
          <a:bodyPr wrap="square" anchor="t" lIns="0" rIns="0" tIns="0" bIns="0">
            <a:noAutofit/>
          </a:bodyPr>
          <a:lstStyle/>
          <a:p>
            <a:pPr algn="l">
              <a:lnSpc>
                <a:spcPts val="1700"/>
              </a:lnSpc>
              <a:spcBef>
                <a:spcPts val="0"/>
              </a:spcBef>
              <a:spcAft>
                <a:spcPts val="300"/>
              </a:spcAft>
            </a:pPr>
            <a:r>
              <a:rPr sz="1250" b="0" i="0">
                <a:solidFill>
                  <a:schemeClr val="accent3"/>
                </a:solidFill>
              </a:rPr>
              <a:t>Four checkpoint/persistence hits, tissue-validated -- and what a full concordance, ambient, and donor-level audit does and does not change about them.</a:t>
            </a:r>
          </a:p>
        </p:txBody>
      </p:sp>
      <p:sp>
        <p:nvSpPr>
          <p:cNvPr id="5" name="TextBox 4"/>
          <p:cNvSpPr txBox="1"/>
          <p:nvPr/>
        </p:nvSpPr>
        <p:spPr>
          <a:xfrm>
            <a:off x="721420" y="5053263"/>
            <a:ext cx="10749160" cy="938463"/>
          </a:xfrm>
          <a:prstGeom prst="rect">
            <a:avLst/>
          </a:prstGeom>
          <a:noFill/>
        </p:spPr>
        <p:txBody>
          <a:bodyPr wrap="square" anchor="t" lIns="0" rIns="0" tIns="0" bIns="0">
            <a:noAutofit/>
          </a:bodyPr>
          <a:lstStyle/>
          <a:p>
            <a:pPr algn="l">
              <a:lnSpc>
                <a:spcPts val="1700"/>
              </a:lnSpc>
              <a:spcBef>
                <a:spcPts val="0"/>
              </a:spcBef>
              <a:spcAft>
                <a:spcPts val="300"/>
              </a:spcAft>
            </a:pPr>
            <a:r>
              <a:rPr sz="1300" b="1" i="0">
                <a:solidFill>
                  <a:schemeClr val="accent6"/>
                </a:solidFill>
              </a:rPr>
              <a:t>Kaisar Dauyey</a:t>
            </a:r>
            <a:r>
              <a:rPr sz="1300" b="0" i="0">
                <a:solidFill>
                  <a:schemeClr val="accent6"/>
                </a:solidFill>
              </a:rPr>
              <a:t> · </a:t>
            </a:r>
            <a:r>
              <a:rPr sz="1300" b="1" i="0">
                <a:solidFill>
                  <a:schemeClr val="accent6"/>
                </a:solidFill>
              </a:rPr>
              <a:t>Shinji Nakaoka</a:t>
            </a:r>
          </a:p>
          <a:p>
            <a:pPr algn="l">
              <a:lnSpc>
                <a:spcPts val="1500"/>
              </a:lnSpc>
              <a:spcBef>
                <a:spcPts val="0"/>
              </a:spcBef>
              <a:spcAft>
                <a:spcPts val="300"/>
              </a:spcAft>
            </a:pPr>
            <a:r>
              <a:rPr sz="1050" b="0" i="0">
                <a:solidFill>
                  <a:schemeClr val="accent3"/>
                </a:solidFill>
              </a:rPr>
              <a:t>Laboratory of Mathematical Biology, Faculty of Advanced Life Science, Hokkaido University</a:t>
            </a:r>
          </a:p>
          <a:p>
            <a:pPr algn="l">
              <a:lnSpc>
                <a:spcPts val="1500"/>
              </a:lnSpc>
              <a:spcBef>
                <a:spcPts val="0"/>
              </a:spcBef>
              <a:spcAft>
                <a:spcPts val="300"/>
              </a:spcAft>
            </a:pPr>
            <a:r>
              <a:rPr sz="1050" b="0" i="0">
                <a:solidFill>
                  <a:schemeClr val="accent3"/>
                </a:solidFill>
              </a:rPr>
              <a:t>Contact: k.dauyey.bio.nu@gmail.com</a:t>
            </a:r>
          </a:p>
          <a:p>
            <a:pPr algn="l">
              <a:lnSpc>
                <a:spcPts val="1300"/>
              </a:lnSpc>
              <a:spcBef>
                <a:spcPts val="0"/>
              </a:spcBef>
              <a:spcAft>
                <a:spcPts val="300"/>
              </a:spcAft>
            </a:pPr>
            <a:r>
              <a:rPr sz="900" b="0" i="0">
                <a:solidFill>
                  <a:srgbClr val="B8A79A"/>
                </a:solidFill>
              </a:rPr>
              <a:t>Slides, report and build package: github.com/Kays3/talks</a:t>
            </a:r>
          </a:p>
        </p:txBody>
      </p:sp>
      <p:pic>
        <p:nvPicPr>
          <p:cNvPr id="6" name="Picture 5" descr="qr.png"/>
          <p:cNvPicPr>
            <a:picLocks noChangeAspect="1"/>
          </p:cNvPicPr>
          <p:nvPr/>
        </p:nvPicPr>
        <p:blipFill>
          <a:blip r:embed="rId2"/>
          <a:stretch>
            <a:fillRect/>
          </a:stretch>
        </p:blipFill>
        <p:spPr>
          <a:xfrm>
            <a:off x="10532734" y="721895"/>
            <a:ext cx="721420" cy="721895"/>
          </a:xfrm>
          <a:prstGeom prst="rect">
            <a:avLst/>
          </a:prstGeom>
        </p:spPr>
      </p:pic>
      <p:sp>
        <p:nvSpPr>
          <p:cNvPr id="7" name="TextBox 6"/>
          <p:cNvSpPr txBox="1"/>
          <p:nvPr/>
        </p:nvSpPr>
        <p:spPr>
          <a:xfrm>
            <a:off x="721420" y="6363006"/>
            <a:ext cx="10749160" cy="135293"/>
          </a:xfrm>
          <a:prstGeom prst="rect">
            <a:avLst/>
          </a:prstGeom>
          <a:noFill/>
        </p:spPr>
        <p:txBody>
          <a:bodyPr wrap="none" anchor="t" lIns="0" rIns="0" tIns="0" bIns="0">
            <a:noAutofit/>
          </a:bodyPr>
          <a:lstStyle/>
          <a:p>
            <a:pPr algn="l"/>
            <a:r>
              <a:rPr sz="850" b="0" i="0">
                <a:solidFill>
                  <a:srgbClr val="9A877C"/>
                </a:solidFill>
                <a:latin typeface="Courier New"/>
              </a:rPr>
              <a:t>1 / 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chemeClr val="bg2"/>
        </a:solidFill>
        <a:effectLst/>
      </p:bgPr>
    </p:bg>
    <p:spTree>
      <p:nvGrpSpPr>
        <p:cNvPr id="1" name=""/>
        <p:cNvGrpSpPr/>
        <p:nvPr/>
      </p:nvGrpSpPr>
      <p:grpSpPr/>
      <p:sp>
        <p:nvSpPr>
          <p:cNvPr id="2" name="Title 1"/>
          <p:cNvSpPr>
            <a:spLocks noGrp="1"/>
          </p:cNvSpPr>
          <p:nvPr>
            <p:ph type="title"/>
          </p:nvPr>
        </p:nvSpPr>
        <p:spPr>
          <a:xfrm>
            <a:off x="721420" y="1515979"/>
            <a:ext cx="10460592" cy="695245"/>
          </a:xfrm>
        </p:spPr>
        <p:txBody>
          <a:bodyPr wrap="square" anchor="t" lIns="0" rIns="0" tIns="0" bIns="0">
            <a:noAutofit/>
          </a:bodyPr>
          <a:lstStyle/>
          <a:p>
            <a:pPr algn="l">
              <a:lnSpc>
                <a:spcPts val="2436"/>
              </a:lnSpc>
            </a:pPr>
            <a:r>
              <a:rPr sz="2100" b="1" i="0">
                <a:solidFill>
                  <a:schemeClr val="tx1"/>
                </a:solidFill>
              </a:rPr>
              <a:t>T cells in lung cancer: why they matter, and what was already known</a:t>
            </a:r>
          </a:p>
        </p:txBody>
      </p:sp>
      <p:sp>
        <p:nvSpPr>
          <p:cNvPr id="3" name="TextBox 2"/>
          <p:cNvSpPr txBox="1"/>
          <p:nvPr/>
        </p:nvSpPr>
        <p:spPr>
          <a:xfrm>
            <a:off x="721420" y="762560"/>
            <a:ext cx="10749160" cy="143251"/>
          </a:xfrm>
          <a:prstGeom prst="rect">
            <a:avLst/>
          </a:prstGeom>
          <a:noFill/>
        </p:spPr>
        <p:txBody>
          <a:bodyPr wrap="none" anchor="t" lIns="0" rIns="0" tIns="0" bIns="0">
            <a:noAutofit/>
          </a:bodyPr>
          <a:lstStyle/>
          <a:p>
            <a:pPr algn="l">
              <a:lnSpc>
                <a:spcPts val="1125"/>
              </a:lnSpc>
              <a:spcBef>
                <a:spcPts val="0"/>
              </a:spcBef>
              <a:spcAft>
                <a:spcPts val="0"/>
              </a:spcAft>
            </a:pPr>
            <a:r>
              <a:rPr sz="900" b="1" i="0">
                <a:solidFill>
                  <a:schemeClr val="accent1"/>
                </a:solidFill>
                <a:latin typeface="Courier New"/>
              </a:rPr>
              <a:t>RESEARCH BACKGROUND · FOR GENETICISTS</a:t>
            </a:r>
          </a:p>
        </p:txBody>
      </p:sp>
      <p:sp>
        <p:nvSpPr>
          <p:cNvPr id="4" name="Rounded Rectangle 3"/>
          <p:cNvSpPr/>
          <p:nvPr/>
        </p:nvSpPr>
        <p:spPr>
          <a:xfrm>
            <a:off x="721420" y="2382253"/>
            <a:ext cx="3438769" cy="3392905"/>
          </a:xfrm>
          <a:prstGeom prst="roundRect">
            <a:avLst>
              <a:gd name="adj" fmla="val 4255"/>
            </a:avLst>
          </a:prstGeom>
          <a:solidFill>
            <a:schemeClr val="bg1"/>
          </a:solidFill>
          <a:ln w="7620">
            <a:solidFill>
              <a:srgbClr val="DCE3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37846" y="2562726"/>
            <a:ext cx="3005917" cy="3068053"/>
          </a:xfrm>
          <a:prstGeom prst="rect">
            <a:avLst/>
          </a:prstGeom>
          <a:noFill/>
        </p:spPr>
        <p:txBody>
          <a:bodyPr wrap="square" anchor="t" lIns="0" rIns="0" tIns="0" bIns="0">
            <a:noAutofit/>
          </a:bodyPr>
          <a:lstStyle/>
          <a:p>
            <a:pPr algn="l">
              <a:lnSpc>
                <a:spcPts val="1800"/>
              </a:lnSpc>
              <a:spcBef>
                <a:spcPts val="0"/>
              </a:spcBef>
              <a:spcAft>
                <a:spcPts val="600"/>
              </a:spcAft>
            </a:pPr>
            <a:r>
              <a:rPr sz="1400" b="1" i="0">
                <a:solidFill>
                  <a:schemeClr val="tx1"/>
                </a:solidFill>
              </a:rPr>
              <a:t>The disease</a:t>
            </a:r>
          </a:p>
          <a:p>
            <a:pPr algn="l">
              <a:lnSpc>
                <a:spcPts val="1550"/>
              </a:lnSpc>
              <a:spcBef>
                <a:spcPts val="0"/>
              </a:spcBef>
              <a:spcAft>
                <a:spcPts val="600"/>
              </a:spcAft>
            </a:pPr>
            <a:r>
              <a:rPr sz="1150" b="0" i="0">
                <a:solidFill>
                  <a:schemeClr val="tx2"/>
                </a:solidFill>
              </a:rPr>
              <a:t>Lung cancer comes in distinct types. </a:t>
            </a:r>
            <a:r>
              <a:rPr sz="1150" b="1" i="0">
                <a:solidFill>
                  <a:schemeClr val="tx2"/>
                </a:solidFill>
              </a:rPr>
              <a:t>Small cell lung cancer (SCLC)</a:t>
            </a:r>
            <a:r>
              <a:rPr sz="1150" b="0" i="0">
                <a:solidFill>
                  <a:schemeClr val="tx2"/>
                </a:solidFill>
              </a:rPr>
              <a:t> is the most aggressive thoracic malignancy; </a:t>
            </a:r>
            <a:r>
              <a:rPr sz="1150" b="1" i="0">
                <a:solidFill>
                  <a:schemeClr val="tx2"/>
                </a:solidFill>
              </a:rPr>
              <a:t>lung adenocarcinoma (LUAD)</a:t>
            </a:r>
            <a:r>
              <a:rPr sz="1150" b="0" i="0">
                <a:solidFill>
                  <a:schemeClr val="tx2"/>
                </a:solidFill>
              </a:rPr>
              <a:t> is a non-small-cell type.</a:t>
            </a:r>
          </a:p>
          <a:p>
            <a:pPr algn="l">
              <a:lnSpc>
                <a:spcPts val="1550"/>
              </a:lnSpc>
              <a:spcBef>
                <a:spcPts val="0"/>
              </a:spcBef>
              <a:spcAft>
                <a:spcPts val="600"/>
              </a:spcAft>
            </a:pPr>
            <a:r>
              <a:rPr sz="1150" b="0" i="0">
                <a:solidFill>
                  <a:schemeClr val="tx2"/>
                </a:solidFill>
              </a:rPr>
              <a:t>SCLC itself splits into subtypes defined by master transcription factors (ASCL1, NEUROD1, POU2F3) (Rudin 2019).</a:t>
            </a:r>
          </a:p>
        </p:txBody>
      </p:sp>
      <p:sp>
        <p:nvSpPr>
          <p:cNvPr id="6" name="Rounded Rectangle 5"/>
          <p:cNvSpPr/>
          <p:nvPr/>
        </p:nvSpPr>
        <p:spPr>
          <a:xfrm>
            <a:off x="4376615" y="2382253"/>
            <a:ext cx="3438769" cy="3392905"/>
          </a:xfrm>
          <a:prstGeom prst="roundRect">
            <a:avLst>
              <a:gd name="adj" fmla="val 4255"/>
            </a:avLst>
          </a:prstGeom>
          <a:solidFill>
            <a:schemeClr val="bg1"/>
          </a:solidFill>
          <a:ln w="7620">
            <a:solidFill>
              <a:srgbClr val="DCE3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593041" y="2562726"/>
            <a:ext cx="3005917" cy="3068053"/>
          </a:xfrm>
          <a:prstGeom prst="rect">
            <a:avLst/>
          </a:prstGeom>
          <a:noFill/>
        </p:spPr>
        <p:txBody>
          <a:bodyPr wrap="square" anchor="t" lIns="0" rIns="0" tIns="0" bIns="0">
            <a:noAutofit/>
          </a:bodyPr>
          <a:lstStyle/>
          <a:p>
            <a:pPr algn="l">
              <a:lnSpc>
                <a:spcPts val="1800"/>
              </a:lnSpc>
              <a:spcBef>
                <a:spcPts val="0"/>
              </a:spcBef>
              <a:spcAft>
                <a:spcPts val="600"/>
              </a:spcAft>
            </a:pPr>
            <a:r>
              <a:rPr sz="1400" b="1" i="0">
                <a:solidFill>
                  <a:schemeClr val="tx1"/>
                </a:solidFill>
              </a:rPr>
              <a:t>The immune angle</a:t>
            </a:r>
          </a:p>
          <a:p>
            <a:pPr algn="l">
              <a:lnSpc>
                <a:spcPts val="1550"/>
              </a:lnSpc>
              <a:spcBef>
                <a:spcPts val="0"/>
              </a:spcBef>
              <a:spcAft>
                <a:spcPts val="600"/>
              </a:spcAft>
            </a:pPr>
            <a:r>
              <a:rPr sz="1150" b="1" i="0">
                <a:solidFill>
                  <a:schemeClr val="tx2"/>
                </a:solidFill>
              </a:rPr>
              <a:t>T cells</a:t>
            </a:r>
            <a:r>
              <a:rPr sz="1150" b="0" i="0">
                <a:solidFill>
                  <a:schemeClr val="tx2"/>
                </a:solidFill>
              </a:rPr>
              <a:t> can kill tumour cells. Under chronic stimulation they can become dysfunctional ("exhausted"), marked by inhibitory receptors such as PD-1, TIM-3 and CTLA-4 (Wherry 2015).</a:t>
            </a:r>
          </a:p>
          <a:p>
            <a:pPr algn="l">
              <a:lnSpc>
                <a:spcPts val="1550"/>
              </a:lnSpc>
              <a:spcBef>
                <a:spcPts val="0"/>
              </a:spcBef>
              <a:spcAft>
                <a:spcPts val="600"/>
              </a:spcAft>
            </a:pPr>
            <a:r>
              <a:rPr sz="1150" b="0" i="0">
                <a:solidFill>
                  <a:schemeClr val="tx2"/>
                </a:solidFill>
              </a:rPr>
              <a:t>Immune checkpoint inhibitors release these brakes, but add only a modest survival benefit in extensive-stage SCLC (Horn 2018), despite its high tumour mutational burden.</a:t>
            </a:r>
          </a:p>
        </p:txBody>
      </p:sp>
      <p:sp>
        <p:nvSpPr>
          <p:cNvPr id="8" name="Rounded Rectangle 7"/>
          <p:cNvSpPr/>
          <p:nvPr/>
        </p:nvSpPr>
        <p:spPr>
          <a:xfrm>
            <a:off x="8031811" y="2382253"/>
            <a:ext cx="3438769" cy="3392905"/>
          </a:xfrm>
          <a:prstGeom prst="roundRect">
            <a:avLst>
              <a:gd name="adj" fmla="val 4255"/>
            </a:avLst>
          </a:prstGeom>
          <a:solidFill>
            <a:schemeClr val="bg1"/>
          </a:solidFill>
          <a:ln w="7620">
            <a:solidFill>
              <a:srgbClr val="DCE3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248237" y="2562726"/>
            <a:ext cx="3005917" cy="3068053"/>
          </a:xfrm>
          <a:prstGeom prst="rect">
            <a:avLst/>
          </a:prstGeom>
          <a:noFill/>
        </p:spPr>
        <p:txBody>
          <a:bodyPr wrap="square" anchor="t" lIns="0" rIns="0" tIns="0" bIns="0">
            <a:noAutofit/>
          </a:bodyPr>
          <a:lstStyle/>
          <a:p>
            <a:pPr algn="l">
              <a:lnSpc>
                <a:spcPts val="1800"/>
              </a:lnSpc>
              <a:spcBef>
                <a:spcPts val="0"/>
              </a:spcBef>
              <a:spcAft>
                <a:spcPts val="600"/>
              </a:spcAft>
            </a:pPr>
            <a:r>
              <a:rPr sz="1400" b="1" i="0">
                <a:solidFill>
                  <a:schemeClr val="tx1"/>
                </a:solidFill>
              </a:rPr>
              <a:t>The open question</a:t>
            </a:r>
          </a:p>
          <a:p>
            <a:pPr algn="l">
              <a:lnSpc>
                <a:spcPts val="1550"/>
              </a:lnSpc>
              <a:spcBef>
                <a:spcPts val="0"/>
              </a:spcBef>
              <a:spcAft>
                <a:spcPts val="600"/>
              </a:spcAft>
            </a:pPr>
            <a:r>
              <a:rPr sz="1150" b="0" i="0">
                <a:solidFill>
                  <a:schemeClr val="tx2"/>
                </a:solidFill>
              </a:rPr>
              <a:t>Whether SCLC T cells are dysfunctional, and through which genes, was poorly characterised at single-cell resolution when this work began.</a:t>
            </a:r>
          </a:p>
          <a:p>
            <a:pPr algn="l">
              <a:lnSpc>
                <a:spcPts val="1550"/>
              </a:lnSpc>
              <a:spcBef>
                <a:spcPts val="0"/>
              </a:spcBef>
              <a:spcAft>
                <a:spcPts val="600"/>
              </a:spcAft>
            </a:pPr>
            <a:r>
              <a:rPr sz="1150" b="0" i="0">
                <a:solidFill>
                  <a:schemeClr val="tx2"/>
                </a:solidFill>
              </a:rPr>
              <a:t>SCLC subtypes differ in immune activation; an inflamed subtype benefits most from immunotherapy (Gay 2021). This talk asks what a model trained on T cells themselves can say.</a:t>
            </a:r>
          </a:p>
        </p:txBody>
      </p:sp>
      <p:sp>
        <p:nvSpPr>
          <p:cNvPr id="10" name="TextBox 9"/>
          <p:cNvSpPr txBox="1"/>
          <p:nvPr/>
        </p:nvSpPr>
        <p:spPr>
          <a:xfrm>
            <a:off x="721420" y="5883442"/>
            <a:ext cx="10749160" cy="433137"/>
          </a:xfrm>
          <a:prstGeom prst="rect">
            <a:avLst/>
          </a:prstGeom>
          <a:noFill/>
        </p:spPr>
        <p:txBody>
          <a:bodyPr wrap="square" anchor="t" lIns="0" rIns="0" tIns="0" bIns="0">
            <a:noAutofit/>
          </a:bodyPr>
          <a:lstStyle/>
          <a:p>
            <a:pPr algn="l">
              <a:lnSpc>
                <a:spcPts val="1250"/>
              </a:lnSpc>
              <a:spcBef>
                <a:spcPts val="0"/>
              </a:spcBef>
              <a:spcAft>
                <a:spcPts val="0"/>
              </a:spcAft>
            </a:pPr>
            <a:r>
              <a:rPr sz="950" b="0" i="1">
                <a:solidFill>
                  <a:schemeClr val="accent1"/>
                </a:solidFill>
              </a:rPr>
              <a:t>In plain words: we study the immune cells inside lung tumours, because drugs that re-activate them help SCLC patients less than hoped, and nobody knows exactly why.</a:t>
            </a:r>
          </a:p>
        </p:txBody>
      </p:sp>
      <p:sp>
        <p:nvSpPr>
          <p:cNvPr id="11" name="TextBox 10"/>
          <p:cNvSpPr txBox="1"/>
          <p:nvPr/>
        </p:nvSpPr>
        <p:spPr>
          <a:xfrm>
            <a:off x="721420" y="6363006"/>
            <a:ext cx="2164260" cy="135293"/>
          </a:xfrm>
          <a:prstGeom prst="rect">
            <a:avLst/>
          </a:prstGeom>
          <a:noFill/>
        </p:spPr>
        <p:txBody>
          <a:bodyPr wrap="none" anchor="t" lIns="0" rIns="0" tIns="0" bIns="0">
            <a:noAutofit/>
          </a:bodyPr>
          <a:lstStyle/>
          <a:p>
            <a:pPr algn="l">
              <a:lnSpc>
                <a:spcPts val="1062"/>
              </a:lnSpc>
              <a:spcBef>
                <a:spcPts val="0"/>
              </a:spcBef>
              <a:spcAft>
                <a:spcPts val="0"/>
              </a:spcAft>
            </a:pPr>
            <a:r>
              <a:rPr sz="850" b="0" i="0">
                <a:solidFill>
                  <a:srgbClr val="7A8A85"/>
                </a:solidFill>
                <a:latin typeface="Courier New"/>
              </a:rPr>
              <a:t>2 / 26</a:t>
            </a:r>
          </a:p>
        </p:txBody>
      </p:sp>
      <p:sp>
        <p:nvSpPr>
          <p:cNvPr id="12" name="TextBox 11"/>
          <p:cNvSpPr txBox="1"/>
          <p:nvPr/>
        </p:nvSpPr>
        <p:spPr>
          <a:xfrm>
            <a:off x="721420" y="6363006"/>
            <a:ext cx="10749160" cy="135293"/>
          </a:xfrm>
          <a:prstGeom prst="rect">
            <a:avLst/>
          </a:prstGeom>
          <a:noFill/>
        </p:spPr>
        <p:txBody>
          <a:bodyPr wrap="none" anchor="t" lIns="0" rIns="0" tIns="0" bIns="0">
            <a:noAutofit/>
          </a:bodyPr>
          <a:lstStyle/>
          <a:p>
            <a:pPr algn="r">
              <a:lnSpc>
                <a:spcPts val="1062"/>
              </a:lnSpc>
              <a:spcBef>
                <a:spcPts val="0"/>
              </a:spcBef>
              <a:spcAft>
                <a:spcPts val="0"/>
              </a:spcAft>
            </a:pPr>
            <a:r>
              <a:rPr sz="850" b="0" i="0">
                <a:solidFill>
                  <a:srgbClr val="7A8A85"/>
                </a:solidFill>
              </a:rPr>
              <a:t>Rudin 2019; Wherry 2015; Horn 2018; Gay 2021; poster_final (Why this matters)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chemeClr val="bg2"/>
        </a:solidFill>
        <a:effectLst/>
      </p:bgPr>
    </p:bg>
    <p:spTree>
      <p:nvGrpSpPr>
        <p:cNvPr id="1" name=""/>
        <p:cNvGrpSpPr/>
        <p:nvPr/>
      </p:nvGrpSpPr>
      <p:grpSpPr/>
      <p:sp>
        <p:nvSpPr>
          <p:cNvPr id="2" name="Title 1"/>
          <p:cNvSpPr>
            <a:spLocks noGrp="1"/>
          </p:cNvSpPr>
          <p:nvPr>
            <p:ph type="title"/>
          </p:nvPr>
        </p:nvSpPr>
        <p:spPr>
          <a:xfrm>
            <a:off x="721420" y="1515979"/>
            <a:ext cx="10460592" cy="695245"/>
          </a:xfrm>
        </p:spPr>
        <p:txBody>
          <a:bodyPr wrap="square" anchor="t" lIns="0" rIns="0" tIns="0" bIns="0">
            <a:noAutofit/>
          </a:bodyPr>
          <a:lstStyle/>
          <a:p>
            <a:pPr algn="l">
              <a:lnSpc>
                <a:spcPts val="2436"/>
              </a:lnSpc>
            </a:pPr>
            <a:r>
              <a:rPr sz="2100" b="1" i="0">
                <a:solidFill>
                  <a:schemeClr val="tx1"/>
                </a:solidFill>
              </a:rPr>
              <a:t>Three tools, one analogy each</a:t>
            </a:r>
          </a:p>
        </p:txBody>
      </p:sp>
      <p:sp>
        <p:nvSpPr>
          <p:cNvPr id="3" name="TextBox 2"/>
          <p:cNvSpPr txBox="1"/>
          <p:nvPr/>
        </p:nvSpPr>
        <p:spPr>
          <a:xfrm>
            <a:off x="721420" y="762560"/>
            <a:ext cx="10749160" cy="143251"/>
          </a:xfrm>
          <a:prstGeom prst="rect">
            <a:avLst/>
          </a:prstGeom>
          <a:noFill/>
        </p:spPr>
        <p:txBody>
          <a:bodyPr wrap="none" anchor="t" lIns="0" rIns="0" tIns="0" bIns="0">
            <a:noAutofit/>
          </a:bodyPr>
          <a:lstStyle/>
          <a:p>
            <a:pPr algn="l">
              <a:lnSpc>
                <a:spcPts val="1125"/>
              </a:lnSpc>
              <a:spcBef>
                <a:spcPts val="0"/>
              </a:spcBef>
              <a:spcAft>
                <a:spcPts val="0"/>
              </a:spcAft>
            </a:pPr>
            <a:r>
              <a:rPr sz="900" b="1" i="0">
                <a:solidFill>
                  <a:schemeClr val="accent1"/>
                </a:solidFill>
                <a:latin typeface="Courier New"/>
              </a:rPr>
              <a:t>METHODS IN PLAIN WORDS · READ THIS FIRST</a:t>
            </a:r>
          </a:p>
        </p:txBody>
      </p:sp>
      <p:sp>
        <p:nvSpPr>
          <p:cNvPr id="4" name="Rounded Rectangle 3"/>
          <p:cNvSpPr/>
          <p:nvPr/>
        </p:nvSpPr>
        <p:spPr>
          <a:xfrm>
            <a:off x="721420" y="2382253"/>
            <a:ext cx="3438769" cy="3392905"/>
          </a:xfrm>
          <a:prstGeom prst="roundRect">
            <a:avLst>
              <a:gd name="adj" fmla="val 4255"/>
            </a:avLst>
          </a:prstGeom>
          <a:solidFill>
            <a:schemeClr val="bg1"/>
          </a:solidFill>
          <a:ln w="7620">
            <a:solidFill>
              <a:srgbClr val="DCE3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37846" y="2562726"/>
            <a:ext cx="3005917" cy="3068053"/>
          </a:xfrm>
          <a:prstGeom prst="rect">
            <a:avLst/>
          </a:prstGeom>
          <a:noFill/>
        </p:spPr>
        <p:txBody>
          <a:bodyPr wrap="square" anchor="t" lIns="0" rIns="0" tIns="0" bIns="0">
            <a:noAutofit/>
          </a:bodyPr>
          <a:lstStyle/>
          <a:p>
            <a:pPr algn="l">
              <a:lnSpc>
                <a:spcPts val="1800"/>
              </a:lnSpc>
              <a:spcBef>
                <a:spcPts val="0"/>
              </a:spcBef>
              <a:spcAft>
                <a:spcPts val="600"/>
              </a:spcAft>
            </a:pPr>
            <a:r>
              <a:rPr sz="1400" b="1" i="0">
                <a:solidFill>
                  <a:schemeClr val="tx1"/>
                </a:solidFill>
              </a:rPr>
              <a:t>Single-cell RNA sequencing</a:t>
            </a:r>
          </a:p>
          <a:p>
            <a:pPr algn="l">
              <a:lnSpc>
                <a:spcPts val="1550"/>
              </a:lnSpc>
              <a:spcBef>
                <a:spcPts val="0"/>
              </a:spcBef>
              <a:spcAft>
                <a:spcPts val="600"/>
              </a:spcAft>
            </a:pPr>
            <a:r>
              <a:rPr sz="1150" b="0" i="0">
                <a:solidFill>
                  <a:schemeClr val="tx2"/>
                </a:solidFill>
              </a:rPr>
              <a:t>Reads which genes are switched on in </a:t>
            </a:r>
            <a:r>
              <a:rPr sz="1150" b="1" i="0">
                <a:solidFill>
                  <a:schemeClr val="tx2"/>
                </a:solidFill>
              </a:rPr>
              <a:t>each individual cell</a:t>
            </a:r>
            <a:r>
              <a:rPr sz="1150" b="0" i="0">
                <a:solidFill>
                  <a:schemeClr val="tx2"/>
                </a:solidFill>
              </a:rPr>
              <a:t>, not in a ground-up tissue sample.</a:t>
            </a:r>
          </a:p>
          <a:p>
            <a:pPr algn="l">
              <a:lnSpc>
                <a:spcPts val="1550"/>
              </a:lnSpc>
              <a:spcBef>
                <a:spcPts val="0"/>
              </a:spcBef>
              <a:spcAft>
                <a:spcPts val="600"/>
              </a:spcAft>
            </a:pPr>
            <a:r>
              <a:rPr sz="1150" b="0" i="0">
                <a:solidFill>
                  <a:schemeClr val="tx2"/>
                </a:solidFill>
              </a:rPr>
              <a:t>Analogy: a list of every fruit in the bowl, instead of the smoothie.</a:t>
            </a:r>
          </a:p>
          <a:p>
            <a:pPr algn="l">
              <a:lnSpc>
                <a:spcPts val="1550"/>
              </a:lnSpc>
              <a:spcBef>
                <a:spcPts val="0"/>
              </a:spcBef>
              <a:spcAft>
                <a:spcPts val="600"/>
              </a:spcAft>
            </a:pPr>
            <a:r>
              <a:rPr sz="1150" b="0" i="0">
                <a:solidFill>
                  <a:schemeClr val="tx2"/>
                </a:solidFill>
              </a:rPr>
              <a:t>Here: 46,140 T cells from 42 people (HTAN MSK collection, CELLxGENE).</a:t>
            </a:r>
          </a:p>
        </p:txBody>
      </p:sp>
      <p:sp>
        <p:nvSpPr>
          <p:cNvPr id="6" name="Rounded Rectangle 5"/>
          <p:cNvSpPr/>
          <p:nvPr/>
        </p:nvSpPr>
        <p:spPr>
          <a:xfrm>
            <a:off x="4376615" y="2382253"/>
            <a:ext cx="3438769" cy="3392905"/>
          </a:xfrm>
          <a:prstGeom prst="roundRect">
            <a:avLst>
              <a:gd name="adj" fmla="val 4255"/>
            </a:avLst>
          </a:prstGeom>
          <a:solidFill>
            <a:schemeClr val="bg1"/>
          </a:solidFill>
          <a:ln w="7620">
            <a:solidFill>
              <a:srgbClr val="DCE3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593041" y="2562726"/>
            <a:ext cx="3005917" cy="3068053"/>
          </a:xfrm>
          <a:prstGeom prst="rect">
            <a:avLst/>
          </a:prstGeom>
          <a:noFill/>
        </p:spPr>
        <p:txBody>
          <a:bodyPr wrap="square" anchor="t" lIns="0" rIns="0" tIns="0" bIns="0">
            <a:noAutofit/>
          </a:bodyPr>
          <a:lstStyle/>
          <a:p>
            <a:pPr algn="l">
              <a:lnSpc>
                <a:spcPts val="1800"/>
              </a:lnSpc>
              <a:spcBef>
                <a:spcPts val="0"/>
              </a:spcBef>
              <a:spcAft>
                <a:spcPts val="600"/>
              </a:spcAft>
            </a:pPr>
            <a:r>
              <a:rPr sz="1400" b="1" i="0">
                <a:solidFill>
                  <a:schemeClr val="tx1"/>
                </a:solidFill>
              </a:rPr>
              <a:t>Geneformer, a foundation model</a:t>
            </a:r>
          </a:p>
          <a:p>
            <a:pPr algn="l">
              <a:lnSpc>
                <a:spcPts val="1550"/>
              </a:lnSpc>
              <a:spcBef>
                <a:spcPts val="0"/>
              </a:spcBef>
              <a:spcAft>
                <a:spcPts val="600"/>
              </a:spcAft>
            </a:pPr>
            <a:r>
              <a:rPr sz="1150" b="0" i="0">
                <a:solidFill>
                  <a:schemeClr val="tx2"/>
                </a:solidFill>
              </a:rPr>
              <a:t>A neural network pre-trained on a large corpus of single-cell profiles (Theodoris 2023). It reads a cell as its genes </a:t>
            </a:r>
            <a:r>
              <a:rPr sz="1150" b="1" i="0">
                <a:solidFill>
                  <a:schemeClr val="tx2"/>
                </a:solidFill>
              </a:rPr>
              <a:t>ranked by expression</a:t>
            </a:r>
            <a:r>
              <a:rPr sz="1150" b="0" i="0">
                <a:solidFill>
                  <a:schemeClr val="tx2"/>
                </a:solidFill>
              </a:rPr>
              <a:t>, most-expressed first, and turns it into a list of numbers (an </a:t>
            </a:r>
            <a:r>
              <a:rPr sz="1150" b="1" i="0">
                <a:solidFill>
                  <a:schemeClr val="tx2"/>
                </a:solidFill>
              </a:rPr>
              <a:t>embedding</a:t>
            </a:r>
            <a:r>
              <a:rPr sz="1150" b="0" i="0">
                <a:solidFill>
                  <a:schemeClr val="tx2"/>
                </a:solidFill>
              </a:rPr>
              <a:t>) that puts similar cells near each other.</a:t>
            </a:r>
          </a:p>
          <a:p>
            <a:pPr algn="l">
              <a:lnSpc>
                <a:spcPts val="1550"/>
              </a:lnSpc>
              <a:spcBef>
                <a:spcPts val="0"/>
              </a:spcBef>
              <a:spcAft>
                <a:spcPts val="600"/>
              </a:spcAft>
            </a:pPr>
            <a:r>
              <a:rPr sz="1150" b="0" i="0">
                <a:solidFill>
                  <a:schemeClr val="tx2"/>
                </a:solidFill>
              </a:rPr>
              <a:t>Analogy: a map coordinate for every cell. We fine-tuned it to tell SCLC, LUAD and normal-tissue T cells apart.</a:t>
            </a:r>
          </a:p>
        </p:txBody>
      </p:sp>
      <p:sp>
        <p:nvSpPr>
          <p:cNvPr id="8" name="Rounded Rectangle 7"/>
          <p:cNvSpPr/>
          <p:nvPr/>
        </p:nvSpPr>
        <p:spPr>
          <a:xfrm>
            <a:off x="8031811" y="2382253"/>
            <a:ext cx="3438769" cy="3392905"/>
          </a:xfrm>
          <a:prstGeom prst="roundRect">
            <a:avLst>
              <a:gd name="adj" fmla="val 4255"/>
            </a:avLst>
          </a:prstGeom>
          <a:solidFill>
            <a:schemeClr val="bg1"/>
          </a:solidFill>
          <a:ln w="7620">
            <a:solidFill>
              <a:srgbClr val="DCE3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248237" y="2562726"/>
            <a:ext cx="3005917" cy="3068053"/>
          </a:xfrm>
          <a:prstGeom prst="rect">
            <a:avLst/>
          </a:prstGeom>
          <a:noFill/>
        </p:spPr>
        <p:txBody>
          <a:bodyPr wrap="square" anchor="t" lIns="0" rIns="0" tIns="0" bIns="0">
            <a:noAutofit/>
          </a:bodyPr>
          <a:lstStyle/>
          <a:p>
            <a:pPr algn="l">
              <a:lnSpc>
                <a:spcPts val="1800"/>
              </a:lnSpc>
              <a:spcBef>
                <a:spcPts val="0"/>
              </a:spcBef>
              <a:spcAft>
                <a:spcPts val="600"/>
              </a:spcAft>
            </a:pPr>
            <a:r>
              <a:rPr sz="1400" b="1" i="0">
                <a:solidFill>
                  <a:schemeClr val="tx1"/>
                </a:solidFill>
              </a:rPr>
              <a:t>In silico perturbation</a:t>
            </a:r>
          </a:p>
          <a:p>
            <a:pPr algn="l">
              <a:lnSpc>
                <a:spcPts val="1550"/>
              </a:lnSpc>
              <a:spcBef>
                <a:spcPts val="0"/>
              </a:spcBef>
              <a:spcAft>
                <a:spcPts val="600"/>
              </a:spcAft>
            </a:pPr>
            <a:r>
              <a:rPr sz="1150" b="0" i="0">
                <a:solidFill>
                  <a:schemeClr val="tx2"/>
                </a:solidFill>
              </a:rPr>
              <a:t>Delete one gene from a cell's ranked list, or move it to the top ("overexpress"), re-read the cell, and measure how far the model's picture of it moves toward another disease state.</a:t>
            </a:r>
          </a:p>
          <a:p>
            <a:pPr algn="l">
              <a:lnSpc>
                <a:spcPts val="1550"/>
              </a:lnSpc>
              <a:spcBef>
                <a:spcPts val="0"/>
              </a:spcBef>
              <a:spcAft>
                <a:spcPts val="600"/>
              </a:spcAft>
            </a:pPr>
            <a:r>
              <a:rPr sz="1150" b="0" i="0">
                <a:solidFill>
                  <a:schemeClr val="tx2"/>
                </a:solidFill>
              </a:rPr>
              <a:t>Analogy: a Perturb-seq screen run on the computer. </a:t>
            </a:r>
            <a:r>
              <a:rPr sz="1150" b="1" i="0">
                <a:solidFill>
                  <a:schemeClr val="tx2"/>
                </a:solidFill>
              </a:rPr>
              <a:t>Nothing is edited in a lab</a:t>
            </a:r>
            <a:r>
              <a:rPr sz="1150" b="0" i="0">
                <a:solidFill>
                  <a:schemeClr val="tx2"/>
                </a:solidFill>
              </a:rPr>
              <a:t>: it generates hypotheses, it is not a knockout.</a:t>
            </a:r>
          </a:p>
        </p:txBody>
      </p:sp>
      <p:sp>
        <p:nvSpPr>
          <p:cNvPr id="10" name="TextBox 9"/>
          <p:cNvSpPr txBox="1"/>
          <p:nvPr/>
        </p:nvSpPr>
        <p:spPr>
          <a:xfrm>
            <a:off x="721420" y="5883442"/>
            <a:ext cx="10749160" cy="433137"/>
          </a:xfrm>
          <a:prstGeom prst="rect">
            <a:avLst/>
          </a:prstGeom>
          <a:noFill/>
        </p:spPr>
        <p:txBody>
          <a:bodyPr wrap="square" anchor="t" lIns="0" rIns="0" tIns="0" bIns="0">
            <a:noAutofit/>
          </a:bodyPr>
          <a:lstStyle/>
          <a:p>
            <a:pPr algn="l">
              <a:lnSpc>
                <a:spcPts val="1250"/>
              </a:lnSpc>
              <a:spcBef>
                <a:spcPts val="0"/>
              </a:spcBef>
              <a:spcAft>
                <a:spcPts val="0"/>
              </a:spcAft>
            </a:pPr>
            <a:r>
              <a:rPr sz="950" b="0" i="1">
                <a:solidFill>
                  <a:schemeClr val="accent1"/>
                </a:solidFill>
              </a:rPr>
              <a:t>In plain words: we taught a model what SCLC, LUAD and normal T cells look like, then asked it "what if this gene were missing, or boosted?" for thousands of real cells.</a:t>
            </a:r>
          </a:p>
        </p:txBody>
      </p:sp>
      <p:sp>
        <p:nvSpPr>
          <p:cNvPr id="11" name="TextBox 10"/>
          <p:cNvSpPr txBox="1"/>
          <p:nvPr/>
        </p:nvSpPr>
        <p:spPr>
          <a:xfrm>
            <a:off x="721420" y="6363006"/>
            <a:ext cx="2164260" cy="135293"/>
          </a:xfrm>
          <a:prstGeom prst="rect">
            <a:avLst/>
          </a:prstGeom>
          <a:noFill/>
        </p:spPr>
        <p:txBody>
          <a:bodyPr wrap="none" anchor="t" lIns="0" rIns="0" tIns="0" bIns="0">
            <a:noAutofit/>
          </a:bodyPr>
          <a:lstStyle/>
          <a:p>
            <a:pPr algn="l">
              <a:lnSpc>
                <a:spcPts val="1062"/>
              </a:lnSpc>
              <a:spcBef>
                <a:spcPts val="0"/>
              </a:spcBef>
              <a:spcAft>
                <a:spcPts val="0"/>
              </a:spcAft>
            </a:pPr>
            <a:r>
              <a:rPr sz="850" b="0" i="0">
                <a:solidFill>
                  <a:srgbClr val="7A8A85"/>
                </a:solidFill>
                <a:latin typeface="Courier New"/>
              </a:rPr>
              <a:t>3 / 26</a:t>
            </a:r>
          </a:p>
        </p:txBody>
      </p:sp>
      <p:sp>
        <p:nvSpPr>
          <p:cNvPr id="12" name="TextBox 11"/>
          <p:cNvSpPr txBox="1"/>
          <p:nvPr/>
        </p:nvSpPr>
        <p:spPr>
          <a:xfrm>
            <a:off x="721420" y="6363006"/>
            <a:ext cx="10749160" cy="135293"/>
          </a:xfrm>
          <a:prstGeom prst="rect">
            <a:avLst/>
          </a:prstGeom>
          <a:noFill/>
        </p:spPr>
        <p:txBody>
          <a:bodyPr wrap="none" anchor="t" lIns="0" rIns="0" tIns="0" bIns="0">
            <a:noAutofit/>
          </a:bodyPr>
          <a:lstStyle/>
          <a:p>
            <a:pPr algn="r">
              <a:lnSpc>
                <a:spcPts val="1062"/>
              </a:lnSpc>
              <a:spcBef>
                <a:spcPts val="0"/>
              </a:spcBef>
              <a:spcAft>
                <a:spcPts val="0"/>
              </a:spcAft>
            </a:pPr>
            <a:r>
              <a:rPr sz="850" b="0" i="0">
                <a:solidFill>
                  <a:srgbClr val="7A8A85"/>
                </a:solidFill>
              </a:rPr>
              <a:t>METHODS.md @ dd7366c; Theodoris 2023; poster_final Fig. 1, Fig.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chemeClr val="bg2"/>
        </a:solidFill>
        <a:effectLst/>
      </p:bgPr>
    </p:bg>
    <p:spTree>
      <p:nvGrpSpPr>
        <p:cNvPr id="1" name=""/>
        <p:cNvGrpSpPr/>
        <p:nvPr/>
      </p:nvGrpSpPr>
      <p:grpSpPr/>
      <p:sp>
        <p:nvSpPr>
          <p:cNvPr id="2" name="Title 1"/>
          <p:cNvSpPr>
            <a:spLocks noGrp="1"/>
          </p:cNvSpPr>
          <p:nvPr>
            <p:ph type="title"/>
          </p:nvPr>
        </p:nvSpPr>
        <p:spPr>
          <a:xfrm>
            <a:off x="721420" y="1515979"/>
            <a:ext cx="10460592" cy="695245"/>
          </a:xfrm>
        </p:spPr>
        <p:txBody>
          <a:bodyPr wrap="square" anchor="t" lIns="0" rIns="0" tIns="0" bIns="0">
            <a:noAutofit/>
          </a:bodyPr>
          <a:lstStyle/>
          <a:p>
            <a:pPr algn="l">
              <a:lnSpc>
                <a:spcPts val="2436"/>
              </a:lnSpc>
            </a:pPr>
            <a:r>
              <a:rPr sz="2100" b="1" i="0">
                <a:solidFill>
                  <a:schemeClr val="tx1"/>
                </a:solidFill>
              </a:rPr>
              <a:t>Our 24JSDP poster (P25) and what the audit changed</a:t>
            </a:r>
          </a:p>
        </p:txBody>
      </p:sp>
      <p:sp>
        <p:nvSpPr>
          <p:cNvPr id="3" name="TextBox 2"/>
          <p:cNvSpPr txBox="1"/>
          <p:nvPr/>
        </p:nvSpPr>
        <p:spPr>
          <a:xfrm>
            <a:off x="721420" y="762560"/>
            <a:ext cx="10749160" cy="143251"/>
          </a:xfrm>
          <a:prstGeom prst="rect">
            <a:avLst/>
          </a:prstGeom>
          <a:noFill/>
        </p:spPr>
        <p:txBody>
          <a:bodyPr wrap="none" anchor="t" lIns="0" rIns="0" tIns="0" bIns="0">
            <a:noAutofit/>
          </a:bodyPr>
          <a:lstStyle/>
          <a:p>
            <a:pPr algn="l">
              <a:lnSpc>
                <a:spcPts val="1125"/>
              </a:lnSpc>
              <a:spcBef>
                <a:spcPts val="0"/>
              </a:spcBef>
              <a:spcAft>
                <a:spcPts val="0"/>
              </a:spcAft>
            </a:pPr>
            <a:r>
              <a:rPr sz="900" b="1" i="0">
                <a:solidFill>
                  <a:schemeClr val="accent1"/>
                </a:solidFill>
                <a:latin typeface="Courier New"/>
              </a:rPr>
              <a:t>WHERE THIS STARTED · OUR EARLIER POSTER</a:t>
            </a:r>
          </a:p>
        </p:txBody>
      </p:sp>
      <p:sp>
        <p:nvSpPr>
          <p:cNvPr id="4" name="TextBox 3"/>
          <p:cNvSpPr txBox="1"/>
          <p:nvPr/>
        </p:nvSpPr>
        <p:spPr>
          <a:xfrm>
            <a:off x="721420" y="2382253"/>
            <a:ext cx="10749160" cy="432936"/>
          </a:xfrm>
          <a:prstGeom prst="rect">
            <a:avLst/>
          </a:prstGeom>
          <a:noFill/>
        </p:spPr>
        <p:txBody>
          <a:bodyPr wrap="square" anchor="t" lIns="0" rIns="0" tIns="0" bIns="0">
            <a:noAutofit/>
          </a:bodyPr>
          <a:lstStyle/>
          <a:p>
            <a:pPr algn="l">
              <a:lnSpc>
                <a:spcPts val="1500"/>
              </a:lnSpc>
              <a:spcBef>
                <a:spcPts val="0"/>
              </a:spcBef>
              <a:spcAft>
                <a:spcPts val="400"/>
              </a:spcAft>
            </a:pPr>
            <a:r>
              <a:rPr sz="1100" b="1" i="0">
                <a:solidFill>
                  <a:schemeClr val="tx2"/>
                </a:solidFill>
              </a:rPr>
              <a:t>Our 24JSDP poster (P25)</a:t>
            </a:r>
            <a:r>
              <a:rPr sz="1100" b="0" i="0">
                <a:solidFill>
                  <a:schemeClr val="tx2"/>
                </a:solidFill>
              </a:rPr>
              <a:t> reported a donor-held-out classifier (91.9% accuracy), four replicated edits (TIM-3, TIGIT, CTLA-4, IL7R) and tissue validation in 5 Visium SCLC sections (15,632 spots).</a:t>
            </a:r>
          </a:p>
        </p:txBody>
      </p:sp>
      <p:graphicFrame>
        <p:nvGraphicFramePr>
          <p:cNvPr id="5" name="Table 4"/>
          <p:cNvGraphicFramePr>
            <a:graphicFrameLocks noGrp="1"/>
          </p:cNvGraphicFramePr>
          <p:nvPr/>
        </p:nvGraphicFramePr>
        <p:xfrm>
          <a:off x="721420" y="2959568"/>
          <a:ext cx="10749160" cy="1791383"/>
        </p:xfrm>
        <a:graphic>
          <a:graphicData uri="http://schemas.openxmlformats.org/drawingml/2006/table">
            <a:tbl>
              <a:tblPr firstRow="1" bandRow="1">
                <a:tableStyleId>{5C22544A-7EE6-4342-B048-85BDC9FD1C3A}</a:tableStyleId>
              </a:tblPr>
              <a:tblGrid>
                <a:gridCol w="4617089"/>
                <a:gridCol w="6132071"/>
              </a:tblGrid>
              <a:tr h="324853">
                <a:tc>
                  <a:txBody>
                    <a:bodyPr wrap="square"/>
                    <a:lstStyle/>
                    <a:p>
                      <a:r>
                        <a:rPr sz="950" b="1" i="0">
                          <a:solidFill>
                            <a:schemeClr val="bg1"/>
                          </a:solidFill>
                        </a:rPr>
                        <a:t>Poster statement</a:t>
                      </a:r>
                    </a:p>
                  </a:txBody>
                  <a:tcPr marL="72142" marR="72142" marT="36095" marB="36095" anchor="ctr">
                    <a:solidFill>
                      <a:schemeClr val="accent1"/>
                    </a:solidFill>
                  </a:tcPr>
                </a:tc>
                <a:tc>
                  <a:txBody>
                    <a:bodyPr wrap="square"/>
                    <a:lstStyle/>
                    <a:p>
                      <a:r>
                        <a:rPr sz="950" b="1" i="0">
                          <a:solidFill>
                            <a:schemeClr val="bg1"/>
                          </a:solidFill>
                        </a:rPr>
                        <a:t>Status after the audit (this talk)</a:t>
                      </a:r>
                    </a:p>
                  </a:txBody>
                  <a:tcPr marL="72142" marR="72142" marT="36095" marB="36095" anchor="ctr">
                    <a:solidFill>
                      <a:schemeClr val="accent1"/>
                    </a:solidFill>
                  </a:tcPr>
                </a:tc>
              </a:tr>
              <a:tr h="380559">
                <a:tc>
                  <a:txBody>
                    <a:bodyPr wrap="square"/>
                    <a:lstStyle/>
                    <a:p>
                      <a:r>
                        <a:rPr sz="950" b="0" i="0">
                          <a:solidFill>
                            <a:schemeClr val="tx1"/>
                          </a:solidFill>
                        </a:rPr>
                        <a:t>Four edits concordant, FDR &lt; 0.05 in both arms, same sign in all 3 SCLC donors</a:t>
                      </a:r>
                    </a:p>
                  </a:txBody>
                  <a:tcPr marL="72142" marR="72142" marT="36095" marB="36095" anchor="ctr">
                    <a:solidFill>
                      <a:schemeClr val="bg1"/>
                    </a:solidFill>
                  </a:tcPr>
                </a:tc>
                <a:tc>
                  <a:txBody>
                    <a:bodyPr wrap="square"/>
                    <a:lstStyle/>
                    <a:p>
                      <a:r>
                        <a:rPr sz="950" b="0" i="0">
                          <a:solidFill>
                            <a:schemeClr val="tx1"/>
                          </a:solidFill>
                        </a:rPr>
                        <a:t>Deletion replication stands. The concordance half was scored on different cell sets per arm (overexpress 2,424 cells, delete 202-1,131) and has not been rerun.</a:t>
                      </a:r>
                    </a:p>
                  </a:txBody>
                  <a:tcPr marL="72142" marR="72142" marT="36095" marB="36095" anchor="ctr">
                    <a:solidFill>
                      <a:schemeClr val="bg1"/>
                    </a:solidFill>
                  </a:tcPr>
                </a:tc>
              </a:tr>
              <a:tr h="380559">
                <a:tc>
                  <a:txBody>
                    <a:bodyPr wrap="square"/>
                    <a:lstStyle/>
                    <a:p>
                      <a:r>
                        <a:rPr sz="950" b="0" i="0">
                          <a:solidFill>
                            <a:schemeClr val="tx1"/>
                          </a:solidFill>
                        </a:rPr>
                        <a:t>"The model implies Normal &lt; SCLC &lt; LUAD on the checkpoint axis ... an open question"</a:t>
                      </a:r>
                    </a:p>
                  </a:txBody>
                  <a:tcPr marL="72142" marR="72142" marT="36095" marB="36095" anchor="ctr">
                    <a:solidFill>
                      <a:schemeClr val="accent5"/>
                    </a:solidFill>
                  </a:tcPr>
                </a:tc>
                <a:tc>
                  <a:txBody>
                    <a:bodyPr wrap="square"/>
                    <a:lstStyle/>
                    <a:p>
                      <a:r>
                        <a:rPr sz="950" b="0" i="0">
                          <a:solidFill>
                            <a:schemeClr val="tx1"/>
                          </a:solidFill>
                        </a:rPr>
                        <a:t>Closed as null: donor-level SCLC vs LUAD, p = 0.216.</a:t>
                      </a:r>
                    </a:p>
                  </a:txBody>
                  <a:tcPr marL="72142" marR="72142" marT="36095" marB="36095" anchor="ctr">
                    <a:solidFill>
                      <a:schemeClr val="accent5"/>
                    </a:solidFill>
                  </a:tcPr>
                </a:tc>
              </a:tr>
              <a:tr h="324853">
                <a:tc>
                  <a:txBody>
                    <a:bodyPr wrap="square"/>
                    <a:lstStyle/>
                    <a:p>
                      <a:r>
                        <a:rPr sz="950" b="0" i="0">
                          <a:solidFill>
                            <a:schemeClr val="tx1"/>
                          </a:solidFill>
                        </a:rPr>
                        <a:t>Detection vs effect size, rho = -0.60: sparse genes fake big effects</a:t>
                      </a:r>
                    </a:p>
                  </a:txBody>
                  <a:tcPr marL="72142" marR="72142" marT="36095" marB="36095" anchor="ctr">
                    <a:solidFill>
                      <a:schemeClr val="bg1"/>
                    </a:solidFill>
                  </a:tcPr>
                </a:tc>
                <a:tc>
                  <a:txBody>
                    <a:bodyPr wrap="square"/>
                    <a:lstStyle/>
                    <a:p>
                      <a:r>
                        <a:rPr sz="950" b="0" i="0">
                          <a:solidFill>
                            <a:schemeClr val="tx1"/>
                          </a:solidFill>
                        </a:rPr>
                        <a:t>Unchanged; the original talk's own QC slide, shown here as Results R2.</a:t>
                      </a:r>
                    </a:p>
                  </a:txBody>
                  <a:tcPr marL="72142" marR="72142" marT="36095" marB="36095" anchor="ctr">
                    <a:solidFill>
                      <a:schemeClr val="bg1"/>
                    </a:solidFill>
                  </a:tcPr>
                </a:tc>
              </a:tr>
              <a:tr h="380559">
                <a:tc>
                  <a:txBody>
                    <a:bodyPr wrap="square"/>
                    <a:lstStyle/>
                    <a:p>
                      <a:r>
                        <a:rPr sz="950" b="0" i="0">
                          <a:solidFill>
                            <a:schemeClr val="tx1"/>
                          </a:solidFill>
                        </a:rPr>
                        <a:t>Tissue: dysfunction tracks T-cell abundance (rho 0.161); talk: antigen presentation rho 0.361</a:t>
                      </a:r>
                    </a:p>
                  </a:txBody>
                  <a:tcPr marL="72142" marR="72142" marT="36095" marB="36095" anchor="ctr">
                    <a:solidFill>
                      <a:schemeClr val="accent5"/>
                    </a:solidFill>
                  </a:tcPr>
                </a:tc>
                <a:tc>
                  <a:txBody>
                    <a:bodyPr wrap="square"/>
                    <a:lstStyle/>
                    <a:p>
                      <a:r>
                        <a:rPr sz="950" b="0" i="0">
                          <a:solidFill>
                            <a:schemeClr val="tx1"/>
                          </a:solidFill>
                        </a:rPr>
                        <a:t>Unchanged; not re-analysed here.</a:t>
                      </a:r>
                    </a:p>
                  </a:txBody>
                  <a:tcPr marL="72142" marR="72142" marT="36095" marB="36095" anchor="ctr">
                    <a:solidFill>
                      <a:schemeClr val="accent5"/>
                    </a:solidFill>
                  </a:tcPr>
                </a:tc>
              </a:tr>
            </a:tbl>
          </a:graphicData>
        </a:graphic>
      </p:graphicFrame>
      <p:sp>
        <p:nvSpPr>
          <p:cNvPr id="6" name="TextBox 5"/>
          <p:cNvSpPr txBox="1"/>
          <p:nvPr/>
        </p:nvSpPr>
        <p:spPr>
          <a:xfrm>
            <a:off x="721420" y="5883442"/>
            <a:ext cx="10749160" cy="433137"/>
          </a:xfrm>
          <a:prstGeom prst="rect">
            <a:avLst/>
          </a:prstGeom>
          <a:noFill/>
        </p:spPr>
        <p:txBody>
          <a:bodyPr wrap="square" anchor="t" lIns="0" rIns="0" tIns="0" bIns="0">
            <a:noAutofit/>
          </a:bodyPr>
          <a:lstStyle/>
          <a:p>
            <a:pPr algn="l">
              <a:lnSpc>
                <a:spcPts val="1250"/>
              </a:lnSpc>
              <a:spcBef>
                <a:spcPts val="0"/>
              </a:spcBef>
              <a:spcAft>
                <a:spcPts val="0"/>
              </a:spcAft>
            </a:pPr>
            <a:r>
              <a:rPr sz="950" b="0" i="1">
                <a:solidFill>
                  <a:schemeClr val="accent1"/>
                </a:solidFill>
              </a:rPr>
              <a:t>In plain words: the poster's main hits survive; one of its claims (an ordering of the three disease states) did not hold up once each person was counted once.</a:t>
            </a:r>
          </a:p>
        </p:txBody>
      </p:sp>
      <p:sp>
        <p:nvSpPr>
          <p:cNvPr id="7" name="TextBox 6"/>
          <p:cNvSpPr txBox="1"/>
          <p:nvPr/>
        </p:nvSpPr>
        <p:spPr>
          <a:xfrm>
            <a:off x="721420" y="6363006"/>
            <a:ext cx="2164260" cy="135293"/>
          </a:xfrm>
          <a:prstGeom prst="rect">
            <a:avLst/>
          </a:prstGeom>
          <a:noFill/>
        </p:spPr>
        <p:txBody>
          <a:bodyPr wrap="none" anchor="t" lIns="0" rIns="0" tIns="0" bIns="0">
            <a:noAutofit/>
          </a:bodyPr>
          <a:lstStyle/>
          <a:p>
            <a:pPr algn="l">
              <a:lnSpc>
                <a:spcPts val="1062"/>
              </a:lnSpc>
              <a:spcBef>
                <a:spcPts val="0"/>
              </a:spcBef>
              <a:spcAft>
                <a:spcPts val="0"/>
              </a:spcAft>
            </a:pPr>
            <a:r>
              <a:rPr sz="850" b="0" i="0">
                <a:solidFill>
                  <a:srgbClr val="7A8A85"/>
                </a:solidFill>
                <a:latin typeface="Courier New"/>
              </a:rPr>
              <a:t>4 / 26</a:t>
            </a:r>
          </a:p>
        </p:txBody>
      </p:sp>
      <p:sp>
        <p:nvSpPr>
          <p:cNvPr id="8" name="TextBox 7"/>
          <p:cNvSpPr txBox="1"/>
          <p:nvPr/>
        </p:nvSpPr>
        <p:spPr>
          <a:xfrm>
            <a:off x="721420" y="6363006"/>
            <a:ext cx="10749160" cy="135293"/>
          </a:xfrm>
          <a:prstGeom prst="rect">
            <a:avLst/>
          </a:prstGeom>
          <a:noFill/>
        </p:spPr>
        <p:txBody>
          <a:bodyPr wrap="none" anchor="t" lIns="0" rIns="0" tIns="0" bIns="0">
            <a:noAutofit/>
          </a:bodyPr>
          <a:lstStyle/>
          <a:p>
            <a:pPr algn="r">
              <a:lnSpc>
                <a:spcPts val="1062"/>
              </a:lnSpc>
              <a:spcBef>
                <a:spcPts val="0"/>
              </a:spcBef>
              <a:spcAft>
                <a:spcPts val="0"/>
              </a:spcAft>
            </a:pPr>
            <a:r>
              <a:rPr sz="850" b="0" i="0">
                <a:solidFill>
                  <a:srgbClr val="7A8A85"/>
                </a:solidFill>
              </a:rPr>
              <a:t>poster_final; JSDP_P25_talk; this deck, slides R1 and R3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chemeClr val="bg2"/>
        </a:solidFill>
        <a:effectLst/>
      </p:bgPr>
    </p:bg>
    <p:spTree>
      <p:nvGrpSpPr>
        <p:cNvPr id="1" name=""/>
        <p:cNvGrpSpPr/>
        <p:nvPr/>
      </p:nvGrpSpPr>
      <p:grpSpPr/>
      <p:sp>
        <p:nvSpPr>
          <p:cNvPr id="2" name="Title 1"/>
          <p:cNvSpPr>
            <a:spLocks noGrp="1"/>
          </p:cNvSpPr>
          <p:nvPr>
            <p:ph type="title"/>
          </p:nvPr>
        </p:nvSpPr>
        <p:spPr>
          <a:xfrm>
            <a:off x="721420" y="1515979"/>
            <a:ext cx="9739172" cy="695245"/>
          </a:xfrm>
        </p:spPr>
        <p:txBody>
          <a:bodyPr wrap="square" anchor="t" lIns="0" rIns="0" tIns="0" bIns="0">
            <a:noAutofit/>
          </a:bodyPr>
          <a:lstStyle/>
          <a:p>
            <a:pPr algn="l">
              <a:lnSpc>
                <a:spcPts val="2436"/>
              </a:lnSpc>
              <a:spcBef>
                <a:spcPts val="0"/>
              </a:spcBef>
              <a:spcAft>
                <a:spcPts val="300"/>
              </a:spcAft>
            </a:pPr>
            <a:r>
              <a:rPr sz="2100" b="1" i="0">
                <a:solidFill>
                  <a:schemeClr val="tx1"/>
                </a:solidFill>
              </a:rPr>
              <a:t>A perturbation screen can look statistically overwhelming and still be wrong</a:t>
            </a:r>
          </a:p>
        </p:txBody>
      </p:sp>
      <p:sp>
        <p:nvSpPr>
          <p:cNvPr id="3" name="TextBox 2"/>
          <p:cNvSpPr txBox="1"/>
          <p:nvPr/>
        </p:nvSpPr>
        <p:spPr>
          <a:xfrm>
            <a:off x="721420" y="762560"/>
            <a:ext cx="10749160" cy="143251"/>
          </a:xfrm>
          <a:prstGeom prst="rect">
            <a:avLst/>
          </a:prstGeom>
          <a:noFill/>
        </p:spPr>
        <p:txBody>
          <a:bodyPr wrap="none" anchor="t" lIns="0" rIns="0" tIns="0" bIns="0">
            <a:noAutofit/>
          </a:bodyPr>
          <a:lstStyle/>
          <a:p>
            <a:pPr algn="l"/>
            <a:r>
              <a:rPr sz="900" b="1" i="0">
                <a:solidFill>
                  <a:schemeClr val="accent1"/>
                </a:solidFill>
                <a:latin typeface="Courier New"/>
              </a:rPr>
              <a:t>BACKGROUND</a:t>
            </a:r>
          </a:p>
        </p:txBody>
      </p:sp>
      <p:sp>
        <p:nvSpPr>
          <p:cNvPr id="4" name="TextBox 3"/>
          <p:cNvSpPr txBox="1"/>
          <p:nvPr/>
        </p:nvSpPr>
        <p:spPr>
          <a:xfrm>
            <a:off x="721420" y="2454442"/>
            <a:ext cx="10749160" cy="3320716"/>
          </a:xfrm>
          <a:prstGeom prst="rect">
            <a:avLst/>
          </a:prstGeom>
          <a:noFill/>
        </p:spPr>
        <p:txBody>
          <a:bodyPr wrap="square" anchor="t" lIns="0" rIns="0" tIns="0" bIns="0">
            <a:noAutofit/>
          </a:bodyPr>
          <a:lstStyle/>
          <a:p>
            <a:pPr algn="l">
              <a:lnSpc>
                <a:spcPts val="1800"/>
              </a:lnSpc>
              <a:spcBef>
                <a:spcPts val="0"/>
              </a:spcBef>
              <a:spcAft>
                <a:spcPts val="300"/>
              </a:spcAft>
            </a:pPr>
            <a:r>
              <a:rPr sz="1250" b="0" i="0">
                <a:solidFill>
                  <a:schemeClr val="tx2"/>
                </a:solidFill>
              </a:rPr>
              <a:t>Foundation models fine-tuned on single-cell transcriptomes can be probed for candidate disease-state drivers: delete or overexpress a gene's simulated expression in a held-out cell, and read the shift in a fine-tuned classifier's predicted state. A dose-responsive driver should move the model toward its target when overexpressed and away from it when deleted.</a:t>
            </a:r>
          </a:p>
          <a:p>
            <a:pPr algn="l">
              <a:lnSpc>
                <a:spcPts val="1800"/>
              </a:lnSpc>
              <a:spcBef>
                <a:spcPts val="0"/>
              </a:spcBef>
              <a:spcAft>
                <a:spcPts val="300"/>
              </a:spcAft>
            </a:pPr>
            <a:r>
              <a:rPr sz="1250" b="0" i="0">
                <a:solidFill>
                  <a:schemeClr val="tx2"/>
                </a:solidFill>
              </a:rPr>
              <a:t>A classifier trained on real tissue also learns whatever else correlates with its labels -- ambient RNA from other cell types, detection-rate differences, cohort composition, tissue of origin. None of that is cell-intrinsic biology, and a screen does not tell you on its own which one it found.</a:t>
            </a:r>
          </a:p>
          <a:p>
            <a:pPr algn="l">
              <a:lnSpc>
                <a:spcPts val="1800"/>
              </a:lnSpc>
              <a:spcBef>
                <a:spcPts val="0"/>
              </a:spcBef>
              <a:spcAft>
                <a:spcPts val="300"/>
              </a:spcAft>
            </a:pPr>
            <a:r>
              <a:rPr sz="1250" b="1" i="0">
                <a:solidFill>
                  <a:schemeClr val="tx1"/>
                </a:solidFill>
              </a:rPr>
              <a:t>This talk presents a set of translational candidates identified this way, then applies the audit a screen like this needs: a concordance test, a screen-level ambient-contamination check, and a donor-level reanalysis of a cross-cohort ordering claim.</a:t>
            </a:r>
          </a:p>
        </p:txBody>
      </p:sp>
      <p:sp>
        <p:nvSpPr>
          <p:cNvPr id="5" name="TextBox 4"/>
          <p:cNvSpPr txBox="1"/>
          <p:nvPr/>
        </p:nvSpPr>
        <p:spPr>
          <a:xfrm>
            <a:off x="721420" y="6363006"/>
            <a:ext cx="10749160" cy="135293"/>
          </a:xfrm>
          <a:prstGeom prst="rect">
            <a:avLst/>
          </a:prstGeom>
          <a:noFill/>
        </p:spPr>
        <p:txBody>
          <a:bodyPr wrap="none" anchor="t" lIns="0" rIns="0" tIns="0" bIns="0">
            <a:noAutofit/>
          </a:bodyPr>
          <a:lstStyle/>
          <a:p>
            <a:pPr algn="l"/>
            <a:r>
              <a:rPr sz="850" b="0" i="0">
                <a:solidFill>
                  <a:srgbClr val="7A8A85"/>
                </a:solidFill>
                <a:latin typeface="Courier New"/>
              </a:rPr>
              <a:t>5 / 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chemeClr val="bg2"/>
        </a:solidFill>
        <a:effectLst/>
      </p:bgPr>
    </p:bg>
    <p:spTree>
      <p:nvGrpSpPr>
        <p:cNvPr id="1" name=""/>
        <p:cNvGrpSpPr/>
        <p:nvPr/>
      </p:nvGrpSpPr>
      <p:grpSpPr/>
      <p:sp>
        <p:nvSpPr>
          <p:cNvPr id="2" name="Title 1"/>
          <p:cNvSpPr>
            <a:spLocks noGrp="1"/>
          </p:cNvSpPr>
          <p:nvPr>
            <p:ph type="title"/>
          </p:nvPr>
        </p:nvSpPr>
        <p:spPr>
          <a:xfrm>
            <a:off x="721420" y="1515979"/>
            <a:ext cx="9739172" cy="695245"/>
          </a:xfrm>
        </p:spPr>
        <p:txBody>
          <a:bodyPr wrap="square" anchor="t" lIns="0" rIns="0" tIns="0" bIns="0">
            <a:noAutofit/>
          </a:bodyPr>
          <a:lstStyle/>
          <a:p>
            <a:pPr algn="l">
              <a:lnSpc>
                <a:spcPts val="2436"/>
              </a:lnSpc>
              <a:spcBef>
                <a:spcPts val="0"/>
              </a:spcBef>
              <a:spcAft>
                <a:spcPts val="300"/>
              </a:spcAft>
            </a:pPr>
            <a:r>
              <a:rPr sz="2100" b="1" i="0">
                <a:solidFill>
                  <a:schemeClr val="tx1"/>
                </a:solidFill>
              </a:rPr>
              <a:t>Four replicated checkpoint/persistence hits, tissue-validated</a:t>
            </a:r>
          </a:p>
        </p:txBody>
      </p:sp>
      <p:sp>
        <p:nvSpPr>
          <p:cNvPr id="3" name="TextBox 2"/>
          <p:cNvSpPr txBox="1"/>
          <p:nvPr/>
        </p:nvSpPr>
        <p:spPr>
          <a:xfrm>
            <a:off x="721420" y="762560"/>
            <a:ext cx="10749160" cy="143251"/>
          </a:xfrm>
          <a:prstGeom prst="rect">
            <a:avLst/>
          </a:prstGeom>
          <a:noFill/>
        </p:spPr>
        <p:txBody>
          <a:bodyPr wrap="none" anchor="t" lIns="0" rIns="0" tIns="0" bIns="0">
            <a:noAutofit/>
          </a:bodyPr>
          <a:lstStyle/>
          <a:p>
            <a:pPr algn="l"/>
            <a:r>
              <a:rPr sz="900" b="1" i="0">
                <a:solidFill>
                  <a:schemeClr val="accent1"/>
                </a:solidFill>
                <a:latin typeface="Courier New"/>
              </a:rPr>
              <a:t>INTRODUCTION · THE ORIGINAL STUDY</a:t>
            </a:r>
          </a:p>
        </p:txBody>
      </p:sp>
      <p:pic>
        <p:nvPicPr>
          <p:cNvPr id="4" name="Picture 3" descr="screen_b.png"/>
          <p:cNvPicPr>
            <a:picLocks noChangeAspect="1"/>
          </p:cNvPicPr>
          <p:nvPr/>
        </p:nvPicPr>
        <p:blipFill>
          <a:blip r:embed="rId2"/>
          <a:stretch>
            <a:fillRect/>
          </a:stretch>
        </p:blipFill>
        <p:spPr>
          <a:xfrm>
            <a:off x="1046059" y="2165684"/>
            <a:ext cx="4039953" cy="3609474"/>
          </a:xfrm>
          <a:prstGeom prst="rect">
            <a:avLst/>
          </a:prstGeom>
        </p:spPr>
      </p:pic>
      <p:sp>
        <p:nvSpPr>
          <p:cNvPr id="5" name="TextBox 4"/>
          <p:cNvSpPr txBox="1"/>
          <p:nvPr/>
        </p:nvSpPr>
        <p:spPr>
          <a:xfrm>
            <a:off x="5699219" y="2165684"/>
            <a:ext cx="5771361" cy="2165684"/>
          </a:xfrm>
          <a:prstGeom prst="rect">
            <a:avLst/>
          </a:prstGeom>
          <a:noFill/>
        </p:spPr>
        <p:txBody>
          <a:bodyPr wrap="square" anchor="t" lIns="0" rIns="0" tIns="0" bIns="0">
            <a:noAutofit/>
          </a:bodyPr>
          <a:lstStyle/>
          <a:p>
            <a:pPr algn="l">
              <a:lnSpc>
                <a:spcPts val="1600"/>
              </a:lnSpc>
              <a:spcBef>
                <a:spcPts val="0"/>
              </a:spcBef>
              <a:spcAft>
                <a:spcPts val="300"/>
              </a:spcAft>
            </a:pPr>
            <a:r>
              <a:rPr sz="1150" b="0" i="0">
                <a:solidFill>
                  <a:schemeClr val="tx2"/>
                </a:solidFill>
              </a:rPr>
              <a:t>A donor-disjoint SCLC/LUAD/normal T-cell classifier supported an applied in-silico perturbation screen for candidate CAR-T/ICI-relevant drivers. Four hits replicated across the screen: </a:t>
            </a:r>
            <a:r>
              <a:rPr sz="1150" b="1" i="0">
                <a:solidFill>
                  <a:schemeClr val="tx2"/>
                </a:solidFill>
              </a:rPr>
              <a:t>TIGIT, TIM-3 (HAVCR2), CTLA-4, IL7R.</a:t>
            </a:r>
          </a:p>
          <a:p>
            <a:pPr algn="l">
              <a:lnSpc>
                <a:spcPts val="1600"/>
              </a:lnSpc>
              <a:spcBef>
                <a:spcPts val="0"/>
              </a:spcBef>
              <a:spcAft>
                <a:spcPts val="300"/>
              </a:spcAft>
            </a:pPr>
            <a:r>
              <a:rPr sz="1150" b="0" i="0">
                <a:solidFill>
                  <a:schemeClr val="tx2"/>
                </a:solidFill>
              </a:rPr>
              <a:t>Independent Visium spatial validation (GSE263196, 5 SCLC specimens, 15,632 in-tissue spots) supported a tissue-validated antigen-presentation programme.</a:t>
            </a:r>
          </a:p>
        </p:txBody>
      </p:sp>
      <p:sp>
        <p:nvSpPr>
          <p:cNvPr id="6" name="Rounded Rectangle 5"/>
          <p:cNvSpPr/>
          <p:nvPr/>
        </p:nvSpPr>
        <p:spPr>
          <a:xfrm>
            <a:off x="5699219" y="4475747"/>
            <a:ext cx="5771361" cy="1299411"/>
          </a:xfrm>
          <a:prstGeom prst="roundRect">
            <a:avLst>
              <a:gd name="adj" fmla="val 11111"/>
            </a:avLst>
          </a:prstGeom>
          <a:solidFill>
            <a:schemeClr val="accent5"/>
          </a:solidFill>
          <a:ln w="7620">
            <a:solidFill>
              <a:schemeClr val="accent5"/>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 name="TextBox 6"/>
          <p:cNvSpPr txBox="1"/>
          <p:nvPr/>
        </p:nvSpPr>
        <p:spPr>
          <a:xfrm>
            <a:off x="5987787" y="4620126"/>
            <a:ext cx="5194225" cy="1010653"/>
          </a:xfrm>
          <a:prstGeom prst="rect">
            <a:avLst/>
          </a:prstGeom>
          <a:noFill/>
        </p:spPr>
        <p:txBody>
          <a:bodyPr wrap="square" anchor="t" lIns="0" rIns="0" tIns="0" bIns="0">
            <a:noAutofit/>
          </a:bodyPr>
          <a:lstStyle/>
          <a:p>
            <a:pPr algn="l">
              <a:lnSpc>
                <a:spcPts val="1400"/>
              </a:lnSpc>
              <a:spcBef>
                <a:spcPts val="0"/>
              </a:spcBef>
              <a:spcAft>
                <a:spcPts val="300"/>
              </a:spcAft>
            </a:pPr>
            <a:r>
              <a:rPr sz="1000" b="1" i="0">
                <a:solidFill>
                  <a:schemeClr val="tx2"/>
                </a:solidFill>
              </a:rPr>
              <a:t>Presented at JSDP, 2026-08-17. No caveat attached here -- none of these four hits is implicated in anything that follows.</a:t>
            </a:r>
          </a:p>
        </p:txBody>
      </p:sp>
      <p:sp>
        <p:nvSpPr>
          <p:cNvPr id="8" name="TextBox 7"/>
          <p:cNvSpPr txBox="1"/>
          <p:nvPr/>
        </p:nvSpPr>
        <p:spPr>
          <a:xfrm>
            <a:off x="721420" y="6363006"/>
            <a:ext cx="10749160" cy="135293"/>
          </a:xfrm>
          <a:prstGeom prst="rect">
            <a:avLst/>
          </a:prstGeom>
          <a:noFill/>
        </p:spPr>
        <p:txBody>
          <a:bodyPr wrap="none" anchor="t" lIns="0" rIns="0" tIns="0" bIns="0">
            <a:noAutofit/>
          </a:bodyPr>
          <a:lstStyle/>
          <a:p>
            <a:pPr algn="l"/>
            <a:r>
              <a:rPr sz="850" b="0" i="0">
                <a:solidFill>
                  <a:srgbClr val="7A8A85"/>
                </a:solidFill>
                <a:latin typeface="Courier New"/>
              </a:rPr>
              <a:t>6 / 26</a:t>
            </a:r>
          </a:p>
        </p:txBody>
      </p:sp>
      <p:sp>
        <p:nvSpPr>
          <p:cNvPr id="9" name="TextBox 8"/>
          <p:cNvSpPr txBox="1"/>
          <p:nvPr/>
        </p:nvSpPr>
        <p:spPr>
          <a:xfrm>
            <a:off x="721420" y="6363006"/>
            <a:ext cx="10749160" cy="135293"/>
          </a:xfrm>
          <a:prstGeom prst="rect">
            <a:avLst/>
          </a:prstGeom>
          <a:noFill/>
        </p:spPr>
        <p:txBody>
          <a:bodyPr wrap="none" anchor="t" lIns="0" rIns="0" tIns="0" bIns="0">
            <a:noAutofit/>
          </a:bodyPr>
          <a:lstStyle/>
          <a:p>
            <a:pPr algn="r"/>
            <a:r>
              <a:rPr sz="850" b="0" i="0">
                <a:solidFill>
                  <a:srgbClr val="7A8A85"/>
                </a:solidFill>
              </a:rPr>
              <a:t>talk/JSDP_P25_talk.pptx; poster/poster_final.html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chemeClr val="bg2"/>
        </a:solidFill>
        <a:effectLst/>
      </p:bgPr>
    </p:bg>
    <p:spTree>
      <p:nvGrpSpPr>
        <p:cNvPr id="1" name=""/>
        <p:cNvGrpSpPr/>
        <p:nvPr/>
      </p:nvGrpSpPr>
      <p:grpSpPr/>
      <p:sp>
        <p:nvSpPr>
          <p:cNvPr id="2" name="Title 1"/>
          <p:cNvSpPr>
            <a:spLocks noGrp="1"/>
          </p:cNvSpPr>
          <p:nvPr>
            <p:ph type="title"/>
          </p:nvPr>
        </p:nvSpPr>
        <p:spPr>
          <a:xfrm>
            <a:off x="721420" y="1588168"/>
            <a:ext cx="10460592" cy="562817"/>
          </a:xfrm>
        </p:spPr>
        <p:txBody>
          <a:bodyPr wrap="square" anchor="t" lIns="0" rIns="0" tIns="0" bIns="0">
            <a:noAutofit/>
          </a:bodyPr>
          <a:lstStyle/>
          <a:p>
            <a:pPr algn="l">
              <a:lnSpc>
                <a:spcPts val="1972"/>
              </a:lnSpc>
              <a:spcBef>
                <a:spcPts val="0"/>
              </a:spcBef>
              <a:spcAft>
                <a:spcPts val="300"/>
              </a:spcAft>
            </a:pPr>
            <a:r>
              <a:rPr sz="1700" b="1" i="0">
                <a:solidFill>
                  <a:schemeClr val="tx1"/>
                </a:solidFill>
              </a:rPr>
              <a:t>One test was already flagged as pending; one new screen needed the same scrutiny</a:t>
            </a:r>
          </a:p>
        </p:txBody>
      </p:sp>
      <p:sp>
        <p:nvSpPr>
          <p:cNvPr id="3" name="TextBox 2"/>
          <p:cNvSpPr txBox="1"/>
          <p:nvPr/>
        </p:nvSpPr>
        <p:spPr>
          <a:xfrm>
            <a:off x="721420" y="762560"/>
            <a:ext cx="10749160" cy="143251"/>
          </a:xfrm>
          <a:prstGeom prst="rect">
            <a:avLst/>
          </a:prstGeom>
          <a:noFill/>
        </p:spPr>
        <p:txBody>
          <a:bodyPr wrap="none" anchor="t" lIns="0" rIns="0" tIns="0" bIns="0">
            <a:noAutofit/>
          </a:bodyPr>
          <a:lstStyle/>
          <a:p>
            <a:pPr algn="l"/>
            <a:r>
              <a:rPr sz="900" b="1" i="0">
                <a:solidFill>
                  <a:schemeClr val="accent1"/>
                </a:solidFill>
                <a:latin typeface="Courier New"/>
              </a:rPr>
              <a:t>INTRODUCTION · WHAT WAS ALREADY OPEN, AND WHAT THIS TALK ADDS</a:t>
            </a:r>
          </a:p>
        </p:txBody>
      </p:sp>
      <p:sp>
        <p:nvSpPr>
          <p:cNvPr id="4" name="Rounded Rectangle 3"/>
          <p:cNvSpPr/>
          <p:nvPr/>
        </p:nvSpPr>
        <p:spPr>
          <a:xfrm>
            <a:off x="721420" y="1876926"/>
            <a:ext cx="3438769" cy="2021305"/>
          </a:xfrm>
          <a:prstGeom prst="roundRect">
            <a:avLst>
              <a:gd name="adj" fmla="val 7142"/>
            </a:avLst>
          </a:prstGeom>
          <a:solidFill>
            <a:schemeClr val="bg1"/>
          </a:solidFill>
          <a:ln w="7620">
            <a:solidFill>
              <a:srgbClr val="DCE3DF"/>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 name="TextBox 4"/>
          <p:cNvSpPr txBox="1"/>
          <p:nvPr/>
        </p:nvSpPr>
        <p:spPr>
          <a:xfrm>
            <a:off x="973917" y="2021305"/>
            <a:ext cx="2933775" cy="1732547"/>
          </a:xfrm>
          <a:prstGeom prst="rect">
            <a:avLst/>
          </a:prstGeom>
          <a:noFill/>
        </p:spPr>
        <p:txBody>
          <a:bodyPr wrap="square" anchor="t" lIns="0" rIns="0" tIns="0" bIns="0">
            <a:noAutofit/>
          </a:bodyPr>
          <a:lstStyle/>
          <a:p>
            <a:pPr algn="l">
              <a:lnSpc>
                <a:spcPts val="1600"/>
              </a:lnSpc>
              <a:spcBef>
                <a:spcPts val="0"/>
              </a:spcBef>
              <a:spcAft>
                <a:spcPts val="300"/>
              </a:spcAft>
            </a:pPr>
            <a:r>
              <a:rPr sz="1250" b="1" i="0">
                <a:solidFill>
                  <a:schemeClr val="tx1"/>
                </a:solidFill>
              </a:rPr>
              <a:t>The poster's own hedge</a:t>
            </a:r>
          </a:p>
          <a:p>
            <a:pPr algn="l">
              <a:lnSpc>
                <a:spcPts val="1340"/>
              </a:lnSpc>
              <a:spcBef>
                <a:spcPts val="0"/>
              </a:spcBef>
              <a:spcAft>
                <a:spcPts val="300"/>
              </a:spcAft>
            </a:pPr>
            <a:r>
              <a:rPr sz="960" b="0" i="0">
                <a:solidFill>
                  <a:srgbClr val="4A5A55"/>
                </a:solidFill>
              </a:rPr>
              <a:t>“The model implies Normal &lt; SCLC &lt; LUAD on the checkpoint axis. This conflicts with the clinical tumour-level picture of SCLC as cold and ICI-resistant, so it </a:t>
            </a:r>
            <a:r>
              <a:rPr sz="960" b="1" i="0">
                <a:solidFill>
                  <a:srgbClr val="4A5A55"/>
                </a:solidFill>
              </a:rPr>
              <a:t>remains an open question rather than a reconciled conclusion.</a:t>
            </a:r>
            <a:r>
              <a:rPr sz="960" b="0" i="0">
                <a:solidFill>
                  <a:srgbClr val="4A5A55"/>
                </a:solidFill>
              </a:rPr>
              <a:t>”</a:t>
            </a:r>
          </a:p>
        </p:txBody>
      </p:sp>
      <p:sp>
        <p:nvSpPr>
          <p:cNvPr id="6" name="Rounded Rectangle 5"/>
          <p:cNvSpPr/>
          <p:nvPr/>
        </p:nvSpPr>
        <p:spPr>
          <a:xfrm>
            <a:off x="4376615" y="1876926"/>
            <a:ext cx="3438769" cy="2021305"/>
          </a:xfrm>
          <a:prstGeom prst="roundRect">
            <a:avLst>
              <a:gd name="adj" fmla="val 7142"/>
            </a:avLst>
          </a:prstGeom>
          <a:solidFill>
            <a:schemeClr val="bg1"/>
          </a:solidFill>
          <a:ln w="7620">
            <a:solidFill>
              <a:srgbClr val="DCE3DF"/>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 name="TextBox 6"/>
          <p:cNvSpPr txBox="1"/>
          <p:nvPr/>
        </p:nvSpPr>
        <p:spPr>
          <a:xfrm>
            <a:off x="4629112" y="2021305"/>
            <a:ext cx="2933775" cy="1732547"/>
          </a:xfrm>
          <a:prstGeom prst="rect">
            <a:avLst/>
          </a:prstGeom>
          <a:noFill/>
        </p:spPr>
        <p:txBody>
          <a:bodyPr wrap="square" anchor="t" lIns="0" rIns="0" tIns="0" bIns="0">
            <a:noAutofit/>
          </a:bodyPr>
          <a:lstStyle/>
          <a:p>
            <a:pPr algn="l">
              <a:lnSpc>
                <a:spcPts val="1600"/>
              </a:lnSpc>
              <a:spcBef>
                <a:spcPts val="0"/>
              </a:spcBef>
              <a:spcAft>
                <a:spcPts val="300"/>
              </a:spcAft>
            </a:pPr>
            <a:r>
              <a:rPr sz="1250" b="1" i="0">
                <a:solidFill>
                  <a:schemeClr val="tx1"/>
                </a:solidFill>
              </a:rPr>
              <a:t>The talk's own QC slide, “TESTED SINCE THE POSTER”</a:t>
            </a:r>
          </a:p>
          <a:p>
            <a:pPr algn="l">
              <a:lnSpc>
                <a:spcPts val="1340"/>
              </a:lnSpc>
              <a:spcBef>
                <a:spcPts val="0"/>
              </a:spcBef>
              <a:spcAft>
                <a:spcPts val="300"/>
              </a:spcAft>
            </a:pPr>
            <a:r>
              <a:rPr sz="960" b="0" i="0">
                <a:solidFill>
                  <a:srgbClr val="4A5A55"/>
                </a:solidFill>
              </a:rPr>
              <a:t>“The states are not on a line, so there is no ordering to contradict... Test 1 of 4 — sign directions, not centroid geometry. </a:t>
            </a:r>
            <a:r>
              <a:rPr sz="960" b="1" i="0">
                <a:solidFill>
                  <a:srgbClr val="4A5A55"/>
                </a:solidFill>
              </a:rPr>
              <a:t>Pending T2 and T3.</a:t>
            </a:r>
            <a:r>
              <a:rPr sz="960" b="0" i="0">
                <a:solidFill>
                  <a:srgbClr val="4A5A55"/>
                </a:solidFill>
              </a:rPr>
              <a:t>” The donor-level test was named as open before this work began.</a:t>
            </a:r>
          </a:p>
        </p:txBody>
      </p:sp>
      <p:sp>
        <p:nvSpPr>
          <p:cNvPr id="8" name="Rounded Rectangle 7"/>
          <p:cNvSpPr/>
          <p:nvPr/>
        </p:nvSpPr>
        <p:spPr>
          <a:xfrm>
            <a:off x="8031811" y="1876926"/>
            <a:ext cx="3438769" cy="2021305"/>
          </a:xfrm>
          <a:prstGeom prst="roundRect">
            <a:avLst>
              <a:gd name="adj" fmla="val 7142"/>
            </a:avLst>
          </a:prstGeom>
          <a:solidFill>
            <a:schemeClr val="bg1"/>
          </a:solidFill>
          <a:ln w="7620">
            <a:solidFill>
              <a:srgbClr val="DCE3DF"/>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9" name="TextBox 8"/>
          <p:cNvSpPr txBox="1"/>
          <p:nvPr/>
        </p:nvSpPr>
        <p:spPr>
          <a:xfrm>
            <a:off x="8284308" y="2021305"/>
            <a:ext cx="2933775" cy="1732547"/>
          </a:xfrm>
          <a:prstGeom prst="rect">
            <a:avLst/>
          </a:prstGeom>
          <a:noFill/>
        </p:spPr>
        <p:txBody>
          <a:bodyPr wrap="square" anchor="t" lIns="0" rIns="0" tIns="0" bIns="0">
            <a:noAutofit/>
          </a:bodyPr>
          <a:lstStyle/>
          <a:p>
            <a:pPr algn="l">
              <a:lnSpc>
                <a:spcPts val="1600"/>
              </a:lnSpc>
              <a:spcBef>
                <a:spcPts val="0"/>
              </a:spcBef>
              <a:spcAft>
                <a:spcPts val="300"/>
              </a:spcAft>
            </a:pPr>
            <a:r>
              <a:rPr sz="1250" b="1" i="0">
                <a:solidFill>
                  <a:schemeClr val="tx1"/>
                </a:solidFill>
              </a:rPr>
              <a:t>What this talk adds</a:t>
            </a:r>
          </a:p>
          <a:p>
            <a:pPr algn="l">
              <a:lnSpc>
                <a:spcPts val="1340"/>
              </a:lnSpc>
              <a:spcBef>
                <a:spcPts val="0"/>
              </a:spcBef>
              <a:spcAft>
                <a:spcPts val="300"/>
              </a:spcAft>
            </a:pPr>
            <a:r>
              <a:rPr sz="960" b="0" i="0">
                <a:solidFill>
                  <a:srgbClr val="4A5A55"/>
                </a:solidFill>
              </a:rPr>
              <a:t>A later, expanded screen surfaced two new high-FDR candidates needing the same concordance scrutiny the original four received. This talk </a:t>
            </a:r>
            <a:r>
              <a:rPr sz="960" b="1" i="0">
                <a:solidFill>
                  <a:srgbClr val="4A5A55"/>
                </a:solidFill>
              </a:rPr>
              <a:t>completes the pending test</a:t>
            </a:r>
            <a:r>
              <a:rPr sz="960" b="0" i="0">
                <a:solidFill>
                  <a:srgbClr val="4A5A55"/>
                </a:solidFill>
              </a:rPr>
              <a:t> and applies that scrutiny — it does not reopen a settled claim.</a:t>
            </a:r>
          </a:p>
        </p:txBody>
      </p:sp>
      <p:sp>
        <p:nvSpPr>
          <p:cNvPr id="10" name="TextBox 9"/>
          <p:cNvSpPr txBox="1"/>
          <p:nvPr/>
        </p:nvSpPr>
        <p:spPr>
          <a:xfrm>
            <a:off x="721420" y="6363006"/>
            <a:ext cx="10749160" cy="135293"/>
          </a:xfrm>
          <a:prstGeom prst="rect">
            <a:avLst/>
          </a:prstGeom>
          <a:noFill/>
        </p:spPr>
        <p:txBody>
          <a:bodyPr wrap="none" anchor="t" lIns="0" rIns="0" tIns="0" bIns="0">
            <a:noAutofit/>
          </a:bodyPr>
          <a:lstStyle/>
          <a:p>
            <a:pPr algn="l"/>
            <a:r>
              <a:rPr sz="850" b="0" i="0">
                <a:solidFill>
                  <a:srgbClr val="7A8A85"/>
                </a:solidFill>
                <a:latin typeface="Courier New"/>
              </a:rPr>
              <a:t>7 / 26</a:t>
            </a:r>
          </a:p>
        </p:txBody>
      </p:sp>
      <p:sp>
        <p:nvSpPr>
          <p:cNvPr id="11" name="TextBox 10"/>
          <p:cNvSpPr txBox="1"/>
          <p:nvPr/>
        </p:nvSpPr>
        <p:spPr>
          <a:xfrm>
            <a:off x="721420" y="6363006"/>
            <a:ext cx="10749160" cy="135293"/>
          </a:xfrm>
          <a:prstGeom prst="rect">
            <a:avLst/>
          </a:prstGeom>
          <a:noFill/>
        </p:spPr>
        <p:txBody>
          <a:bodyPr wrap="none" anchor="t" lIns="0" rIns="0" tIns="0" bIns="0">
            <a:noAutofit/>
          </a:bodyPr>
          <a:lstStyle/>
          <a:p>
            <a:pPr algn="r"/>
            <a:r>
              <a:rPr sz="850" b="0" i="0">
                <a:solidFill>
                  <a:srgbClr val="7A8A85"/>
                </a:solidFill>
              </a:rPr>
              <a:t>poster/poster_final.html; talk/JSDP_P25_talk.pdf ("TESTED SINCE THE POSTER", p.7)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chemeClr val="bg2"/>
        </a:solidFill>
        <a:effectLst/>
      </p:bgPr>
    </p:bg>
    <p:spTree>
      <p:nvGrpSpPr>
        <p:cNvPr id="1" name=""/>
        <p:cNvGrpSpPr/>
        <p:nvPr/>
      </p:nvGrpSpPr>
      <p:grpSpPr/>
      <p:sp>
        <p:nvSpPr>
          <p:cNvPr id="2" name="Title 1"/>
          <p:cNvSpPr>
            <a:spLocks noGrp="1"/>
          </p:cNvSpPr>
          <p:nvPr>
            <p:ph type="title"/>
          </p:nvPr>
        </p:nvSpPr>
        <p:spPr>
          <a:xfrm>
            <a:off x="721420" y="1515979"/>
            <a:ext cx="7214201" cy="728352"/>
          </a:xfrm>
        </p:spPr>
        <p:txBody>
          <a:bodyPr wrap="square" anchor="t" lIns="0" rIns="0" tIns="0" bIns="0">
            <a:noAutofit/>
          </a:bodyPr>
          <a:lstStyle/>
          <a:p>
            <a:pPr algn="l">
              <a:lnSpc>
                <a:spcPts val="2552"/>
              </a:lnSpc>
              <a:spcBef>
                <a:spcPts val="0"/>
              </a:spcBef>
              <a:spcAft>
                <a:spcPts val="300"/>
              </a:spcAft>
            </a:pPr>
            <a:r>
              <a:rPr sz="2200" b="1" i="0">
                <a:solidFill>
                  <a:schemeClr val="tx1"/>
                </a:solidFill>
              </a:rPr>
              <a:t>46,140 T cells, 42 donors, one fine-tuned classifier</a:t>
            </a:r>
          </a:p>
        </p:txBody>
      </p:sp>
      <p:sp>
        <p:nvSpPr>
          <p:cNvPr id="3" name="TextBox 2"/>
          <p:cNvSpPr txBox="1"/>
          <p:nvPr/>
        </p:nvSpPr>
        <p:spPr>
          <a:xfrm>
            <a:off x="721420" y="762560"/>
            <a:ext cx="10749160" cy="143251"/>
          </a:xfrm>
          <a:prstGeom prst="rect">
            <a:avLst/>
          </a:prstGeom>
          <a:noFill/>
        </p:spPr>
        <p:txBody>
          <a:bodyPr wrap="none" anchor="t" lIns="0" rIns="0" tIns="0" bIns="0">
            <a:noAutofit/>
          </a:bodyPr>
          <a:lstStyle/>
          <a:p>
            <a:pPr algn="l"/>
            <a:r>
              <a:rPr sz="900" b="1" i="0">
                <a:solidFill>
                  <a:schemeClr val="accent1"/>
                </a:solidFill>
                <a:latin typeface="Courier New"/>
              </a:rPr>
              <a:t>METHODS · COHORT, CLASSIFIER</a:t>
            </a:r>
          </a:p>
        </p:txBody>
      </p:sp>
      <p:pic>
        <p:nvPicPr>
          <p:cNvPr id="4" name="Picture 3" descr="confusion.png"/>
          <p:cNvPicPr>
            <a:picLocks noChangeAspect="1"/>
          </p:cNvPicPr>
          <p:nvPr/>
        </p:nvPicPr>
        <p:blipFill>
          <a:blip r:embed="rId2"/>
          <a:stretch>
            <a:fillRect/>
          </a:stretch>
        </p:blipFill>
        <p:spPr>
          <a:xfrm>
            <a:off x="721420" y="2454442"/>
            <a:ext cx="4328521" cy="3336149"/>
          </a:xfrm>
          <a:prstGeom prst="rect">
            <a:avLst/>
          </a:prstGeom>
        </p:spPr>
      </p:pic>
      <p:sp>
        <p:nvSpPr>
          <p:cNvPr id="5" name="TextBox 4"/>
          <p:cNvSpPr txBox="1"/>
          <p:nvPr/>
        </p:nvSpPr>
        <p:spPr>
          <a:xfrm>
            <a:off x="5338509" y="2382253"/>
            <a:ext cx="6132071" cy="1443789"/>
          </a:xfrm>
          <a:prstGeom prst="rect">
            <a:avLst/>
          </a:prstGeom>
          <a:noFill/>
        </p:spPr>
        <p:txBody>
          <a:bodyPr wrap="square" anchor="t" lIns="0" rIns="0" tIns="0" bIns="0">
            <a:noAutofit/>
          </a:bodyPr>
          <a:lstStyle/>
          <a:p>
            <a:pPr algn="l">
              <a:lnSpc>
                <a:spcPts val="1600"/>
              </a:lnSpc>
              <a:spcBef>
                <a:spcPts val="0"/>
              </a:spcBef>
              <a:spcAft>
                <a:spcPts val="300"/>
              </a:spcAft>
            </a:pPr>
            <a:r>
              <a:rPr sz="1250" b="1" i="0">
                <a:solidFill>
                  <a:schemeClr val="accent1"/>
                </a:solidFill>
              </a:rPr>
              <a:t>Held-out test performance</a:t>
            </a:r>
          </a:p>
          <a:p>
            <a:pPr algn="l">
              <a:lnSpc>
                <a:spcPts val="1500"/>
              </a:lnSpc>
              <a:spcBef>
                <a:spcPts val="0"/>
              </a:spcBef>
              <a:spcAft>
                <a:spcPts val="300"/>
              </a:spcAft>
            </a:pPr>
            <a:r>
              <a:rPr sz="2000" b="1" i="0">
                <a:solidFill>
                  <a:schemeClr val="tx1"/>
                </a:solidFill>
                <a:latin typeface="Courier New"/>
              </a:rPr>
              <a:t>91.9%</a:t>
            </a:r>
            <a:r>
              <a:rPr sz="1050" b="0" i="0">
                <a:solidFill>
                  <a:schemeClr val="tx1"/>
                </a:solidFill>
              </a:rPr>
              <a:t> accuracy, macro F1 0.903, donor-disjoint split. Geneformer V2 104M fine-tune.</a:t>
            </a:r>
          </a:p>
        </p:txBody>
      </p:sp>
      <p:sp>
        <p:nvSpPr>
          <p:cNvPr id="6" name="Rounded Rectangle 5"/>
          <p:cNvSpPr/>
          <p:nvPr/>
        </p:nvSpPr>
        <p:spPr>
          <a:xfrm>
            <a:off x="5338509" y="4042611"/>
            <a:ext cx="6132071" cy="1876926"/>
          </a:xfrm>
          <a:prstGeom prst="roundRect">
            <a:avLst>
              <a:gd name="adj" fmla="val 7692"/>
            </a:avLst>
          </a:prstGeom>
          <a:solidFill>
            <a:schemeClr val="accent5"/>
          </a:solidFill>
          <a:ln w="7620">
            <a:solidFill>
              <a:schemeClr val="accent5"/>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 name="TextBox 6"/>
          <p:cNvSpPr txBox="1"/>
          <p:nvPr/>
        </p:nvSpPr>
        <p:spPr>
          <a:xfrm>
            <a:off x="5627077" y="4186989"/>
            <a:ext cx="5554935" cy="1588168"/>
          </a:xfrm>
          <a:prstGeom prst="rect">
            <a:avLst/>
          </a:prstGeom>
          <a:noFill/>
        </p:spPr>
        <p:txBody>
          <a:bodyPr wrap="square" anchor="t" lIns="0" rIns="0" tIns="0" bIns="0">
            <a:noAutofit/>
          </a:bodyPr>
          <a:lstStyle/>
          <a:p>
            <a:pPr algn="l">
              <a:lnSpc>
                <a:spcPts val="1500"/>
              </a:lnSpc>
              <a:spcBef>
                <a:spcPts val="0"/>
              </a:spcBef>
              <a:spcAft>
                <a:spcPts val="300"/>
              </a:spcAft>
            </a:pPr>
            <a:r>
              <a:rPr sz="1100" b="1" i="0">
                <a:solidFill>
                  <a:schemeClr val="accent1"/>
                </a:solidFill>
              </a:rPr>
              <a:t>Normal-class test performance rests on 1 held-out donor (566 cells)</a:t>
            </a:r>
          </a:p>
          <a:p>
            <a:pPr algn="l">
              <a:lnSpc>
                <a:spcPts val="1300"/>
              </a:lnSpc>
              <a:spcBef>
                <a:spcPts val="0"/>
              </a:spcBef>
              <a:spcAft>
                <a:spcPts val="300"/>
              </a:spcAft>
            </a:pPr>
            <a:r>
              <a:rPr sz="940" b="0" i="0">
                <a:solidFill>
                  <a:schemeClr val="tx2"/>
                </a:solidFill>
              </a:rPr>
              <a:t>A third of this macro-F1. Already flagged in the repo's own methods (perturbation_workflow/METHODS.md, lines 57-67 the split table, line 112: “Normal-class metrics are flagged explicitly given 1 test donor”).</a:t>
            </a:r>
          </a:p>
          <a:p>
            <a:pPr algn="l">
              <a:lnSpc>
                <a:spcPts val="1300"/>
              </a:lnSpc>
              <a:spcBef>
                <a:spcPts val="0"/>
              </a:spcBef>
              <a:spcAft>
                <a:spcPts val="300"/>
              </a:spcAft>
            </a:pPr>
            <a:r>
              <a:rPr sz="940" b="0" i="0">
                <a:solidFill>
                  <a:schemeClr val="tx2"/>
                </a:solidFill>
              </a:rPr>
              <a:t>19 SCLC + 22 LUAD + 4 normal = 45, but 42 unique donors: three donor_ids (RU675, RU682, RU684) each carry two biospecimens from the same clinical patient, one LUAD tumour and one normal-tissue sample (METHODS.md, lines 33-39).</a:t>
            </a:r>
          </a:p>
        </p:txBody>
      </p:sp>
      <p:sp>
        <p:nvSpPr>
          <p:cNvPr id="8" name="TextBox 7"/>
          <p:cNvSpPr txBox="1"/>
          <p:nvPr/>
        </p:nvSpPr>
        <p:spPr>
          <a:xfrm>
            <a:off x="721420" y="6363006"/>
            <a:ext cx="10749160" cy="135293"/>
          </a:xfrm>
          <a:prstGeom prst="rect">
            <a:avLst/>
          </a:prstGeom>
          <a:noFill/>
        </p:spPr>
        <p:txBody>
          <a:bodyPr wrap="none" anchor="t" lIns="0" rIns="0" tIns="0" bIns="0">
            <a:noAutofit/>
          </a:bodyPr>
          <a:lstStyle/>
          <a:p>
            <a:pPr algn="l"/>
            <a:r>
              <a:rPr sz="850" b="0" i="0">
                <a:solidFill>
                  <a:srgbClr val="7A8A85"/>
                </a:solidFill>
                <a:latin typeface="Courier New"/>
              </a:rPr>
              <a:t>8 / 26</a:t>
            </a:r>
          </a:p>
        </p:txBody>
      </p:sp>
      <p:sp>
        <p:nvSpPr>
          <p:cNvPr id="9" name="TextBox 8"/>
          <p:cNvSpPr txBox="1"/>
          <p:nvPr/>
        </p:nvSpPr>
        <p:spPr>
          <a:xfrm>
            <a:off x="721420" y="6363006"/>
            <a:ext cx="10749160" cy="135293"/>
          </a:xfrm>
          <a:prstGeom prst="rect">
            <a:avLst/>
          </a:prstGeom>
          <a:noFill/>
        </p:spPr>
        <p:txBody>
          <a:bodyPr wrap="none" anchor="t" lIns="0" rIns="0" tIns="0" bIns="0">
            <a:noAutofit/>
          </a:bodyPr>
          <a:lstStyle/>
          <a:p>
            <a:pPr algn="r"/>
            <a:r>
              <a:rPr sz="850" b="0" i="0">
                <a:solidFill>
                  <a:srgbClr val="7A8A85"/>
                </a:solidFill>
              </a:rPr>
              <a:t>README.md; perturbation_workflow/METHODS.md</a:t>
            </a:r>
          </a:p>
        </p:txBody>
      </p:sp>
      <p:sp>
        <p:nvSpPr>
          <p:cNvPr id="10" name="TextBox 9"/>
          <p:cNvSpPr txBox="1"/>
          <p:nvPr/>
        </p:nvSpPr>
        <p:spPr>
          <a:xfrm>
            <a:off x="721420" y="5955632"/>
            <a:ext cx="10749160" cy="360947"/>
          </a:xfrm>
          <a:prstGeom prst="rect">
            <a:avLst/>
          </a:prstGeom>
          <a:noFill/>
        </p:spPr>
        <p:txBody>
          <a:bodyPr wrap="square" anchor="t" lIns="0" rIns="0" tIns="0" bIns="0">
            <a:noAutofit/>
          </a:bodyPr>
          <a:lstStyle/>
          <a:p>
            <a:pPr algn="l">
              <a:lnSpc>
                <a:spcPts val="1250"/>
              </a:lnSpc>
              <a:spcBef>
                <a:spcPts val="0"/>
              </a:spcBef>
              <a:spcAft>
                <a:spcPts val="0"/>
              </a:spcAft>
            </a:pPr>
            <a:r>
              <a:rPr sz="950" b="0" i="1">
                <a:solidFill>
                  <a:schemeClr val="accent1"/>
                </a:solidFill>
              </a:rPr>
              <a:t>In plain words: shown T cells from 8 people it had never seen, the model named the right disease state for about 92 of every 100 cells; the normal-tissue part of that score rests on one person.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chemeClr val="bg2"/>
        </a:solidFill>
        <a:effectLst/>
      </p:bgPr>
    </p:bg>
    <p:spTree>
      <p:nvGrpSpPr>
        <p:cNvPr id="1" name=""/>
        <p:cNvGrpSpPr/>
        <p:nvPr/>
      </p:nvGrpSpPr>
      <p:grpSpPr/>
      <p:sp>
        <p:nvSpPr>
          <p:cNvPr id="2" name="Title 1"/>
          <p:cNvSpPr>
            <a:spLocks noGrp="1"/>
          </p:cNvSpPr>
          <p:nvPr>
            <p:ph type="title"/>
          </p:nvPr>
        </p:nvSpPr>
        <p:spPr>
          <a:xfrm>
            <a:off x="721420" y="1588168"/>
            <a:ext cx="9739172" cy="695245"/>
          </a:xfrm>
        </p:spPr>
        <p:txBody>
          <a:bodyPr wrap="square" anchor="t" lIns="0" rIns="0" tIns="0" bIns="0">
            <a:noAutofit/>
          </a:bodyPr>
          <a:lstStyle/>
          <a:p>
            <a:pPr algn="l">
              <a:lnSpc>
                <a:spcPts val="2436"/>
              </a:lnSpc>
              <a:spcBef>
                <a:spcPts val="0"/>
              </a:spcBef>
              <a:spcAft>
                <a:spcPts val="300"/>
              </a:spcAft>
            </a:pPr>
            <a:r>
              <a:rPr sz="2100" b="1" i="0">
                <a:solidFill>
                  <a:schemeClr val="tx1"/>
                </a:solidFill>
              </a:rPr>
              <a:t>Delete or overexpress, in held-out cells, across six comparisons</a:t>
            </a:r>
          </a:p>
        </p:txBody>
      </p:sp>
      <p:sp>
        <p:nvSpPr>
          <p:cNvPr id="3" name="TextBox 2"/>
          <p:cNvSpPr txBox="1"/>
          <p:nvPr/>
        </p:nvSpPr>
        <p:spPr>
          <a:xfrm>
            <a:off x="721420" y="762560"/>
            <a:ext cx="10749160" cy="143251"/>
          </a:xfrm>
          <a:prstGeom prst="rect">
            <a:avLst/>
          </a:prstGeom>
          <a:noFill/>
        </p:spPr>
        <p:txBody>
          <a:bodyPr wrap="none" anchor="t" lIns="0" rIns="0" tIns="0" bIns="0">
            <a:noAutofit/>
          </a:bodyPr>
          <a:lstStyle/>
          <a:p>
            <a:pPr algn="l"/>
            <a:r>
              <a:rPr sz="900" b="1" i="0">
                <a:solidFill>
                  <a:schemeClr val="accent1"/>
                </a:solidFill>
                <a:latin typeface="Courier New"/>
              </a:rPr>
              <a:t>METHODS · IN-SILICO PERTURBATION</a:t>
            </a:r>
          </a:p>
        </p:txBody>
      </p:sp>
      <p:sp>
        <p:nvSpPr>
          <p:cNvPr id="4" name="TextBox 3"/>
          <p:cNvSpPr txBox="1"/>
          <p:nvPr/>
        </p:nvSpPr>
        <p:spPr>
          <a:xfrm>
            <a:off x="721420" y="2454442"/>
            <a:ext cx="10749160" cy="3320716"/>
          </a:xfrm>
          <a:prstGeom prst="rect">
            <a:avLst/>
          </a:prstGeom>
          <a:noFill/>
        </p:spPr>
        <p:txBody>
          <a:bodyPr wrap="square" anchor="t" lIns="0" rIns="0" tIns="0" bIns="0">
            <a:noAutofit/>
          </a:bodyPr>
          <a:lstStyle/>
          <a:p>
            <a:pPr algn="l">
              <a:lnSpc>
                <a:spcPts val="1800"/>
              </a:lnSpc>
              <a:spcBef>
                <a:spcPts val="0"/>
              </a:spcBef>
              <a:spcAft>
                <a:spcPts val="300"/>
              </a:spcAft>
            </a:pPr>
            <a:r>
              <a:rPr sz="1250" b="0" i="0">
                <a:solidFill>
                  <a:schemeClr val="tx2"/>
                </a:solidFill>
              </a:rPr>
              <a:t>Each gene is deleted (its token removed from a cell's rank-ordered input) or overexpressed (promoted to the front of the rank) in held-out cells, and the shift in the classifier's predicted disease-state probability is read for both operations.</a:t>
            </a:r>
          </a:p>
          <a:p>
            <a:pPr algn="l">
              <a:lnSpc>
                <a:spcPts val="1800"/>
              </a:lnSpc>
              <a:spcBef>
                <a:spcPts val="0"/>
              </a:spcBef>
              <a:spcAft>
                <a:spcPts val="300"/>
              </a:spcAft>
            </a:pPr>
            <a:r>
              <a:rPr sz="1250" b="0" i="0">
                <a:solidFill>
                  <a:schemeClr val="tx2"/>
                </a:solidFill>
              </a:rPr>
              <a:t>Six source→goal disease-state comparisons: SCLC→LUAD, SCLC→normal, LUAD→SCLC, LUAD→normal, normal→SCLC, normal→LUAD.</a:t>
            </a:r>
          </a:p>
          <a:p>
            <a:pPr algn="l">
              <a:lnSpc>
                <a:spcPts val="1800"/>
              </a:lnSpc>
              <a:spcBef>
                <a:spcPts val="0"/>
              </a:spcBef>
              <a:spcAft>
                <a:spcPts val="300"/>
              </a:spcAft>
            </a:pPr>
            <a:r>
              <a:rPr sz="1250" b="1" i="0">
                <a:solidFill>
                  <a:schemeClr val="tx1"/>
                </a:solidFill>
              </a:rPr>
              <a:t>A dose-responsive driver should move the model toward its target under overexpression and away from it under deletion — the two operations are read together, never one alone.</a:t>
            </a:r>
          </a:p>
        </p:txBody>
      </p:sp>
      <p:sp>
        <p:nvSpPr>
          <p:cNvPr id="5" name="TextBox 4"/>
          <p:cNvSpPr txBox="1"/>
          <p:nvPr/>
        </p:nvSpPr>
        <p:spPr>
          <a:xfrm>
            <a:off x="721420" y="6363006"/>
            <a:ext cx="10749160" cy="135293"/>
          </a:xfrm>
          <a:prstGeom prst="rect">
            <a:avLst/>
          </a:prstGeom>
          <a:noFill/>
        </p:spPr>
        <p:txBody>
          <a:bodyPr wrap="none" anchor="t" lIns="0" rIns="0" tIns="0" bIns="0">
            <a:noAutofit/>
          </a:bodyPr>
          <a:lstStyle/>
          <a:p>
            <a:pPr algn="l"/>
            <a:r>
              <a:rPr sz="850" b="0" i="0">
                <a:solidFill>
                  <a:srgbClr val="7A8A85"/>
                </a:solidFill>
                <a:latin typeface="Courier New"/>
              </a:rPr>
              <a:t>9 / 26</a:t>
            </a:r>
          </a:p>
        </p:txBody>
      </p:sp>
      <p:sp>
        <p:nvSpPr>
          <p:cNvPr id="6" name="TextBox 5"/>
          <p:cNvSpPr txBox="1"/>
          <p:nvPr/>
        </p:nvSpPr>
        <p:spPr>
          <a:xfrm>
            <a:off x="721420" y="6363006"/>
            <a:ext cx="10749160" cy="135293"/>
          </a:xfrm>
          <a:prstGeom prst="rect">
            <a:avLst/>
          </a:prstGeom>
          <a:noFill/>
        </p:spPr>
        <p:txBody>
          <a:bodyPr wrap="none" anchor="t" lIns="0" rIns="0" tIns="0" bIns="0">
            <a:noAutofit/>
          </a:bodyPr>
          <a:lstStyle/>
          <a:p>
            <a:pPr algn="r"/>
            <a:r>
              <a:rPr sz="850" b="0" i="0">
                <a:solidFill>
                  <a:srgbClr val="7A8A85"/>
                </a:solidFill>
              </a:rPr>
              <a:t>README.md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chemeClr val="bg2"/>
        </a:solidFill>
        <a:effectLst/>
      </p:bgPr>
    </p:bg>
    <p:spTree>
      <p:nvGrpSpPr>
        <p:cNvPr id="1" name=""/>
        <p:cNvGrpSpPr/>
        <p:nvPr/>
      </p:nvGrpSpPr>
      <p:grpSpPr/>
      <p:sp>
        <p:nvSpPr>
          <p:cNvPr id="2" name="Title 1"/>
          <p:cNvSpPr>
            <a:spLocks noGrp="1"/>
          </p:cNvSpPr>
          <p:nvPr>
            <p:ph type="title"/>
          </p:nvPr>
        </p:nvSpPr>
        <p:spPr>
          <a:xfrm>
            <a:off x="721420" y="1588168"/>
            <a:ext cx="10099882" cy="629031"/>
          </a:xfrm>
        </p:spPr>
        <p:txBody>
          <a:bodyPr wrap="square" anchor="t" lIns="0" rIns="0" tIns="0" bIns="0">
            <a:noAutofit/>
          </a:bodyPr>
          <a:lstStyle/>
          <a:p>
            <a:pPr algn="l">
              <a:lnSpc>
                <a:spcPts val="2204"/>
              </a:lnSpc>
              <a:spcBef>
                <a:spcPts val="0"/>
              </a:spcBef>
              <a:spcAft>
                <a:spcPts val="300"/>
              </a:spcAft>
            </a:pPr>
            <a:r>
              <a:rPr sz="1900" b="1" i="0">
                <a:solidFill>
                  <a:schemeClr val="tx1"/>
                </a:solidFill>
              </a:rPr>
              <a:t>A real driver must move opposite ways under deletion and overexpression</a:t>
            </a:r>
          </a:p>
        </p:txBody>
      </p:sp>
      <p:sp>
        <p:nvSpPr>
          <p:cNvPr id="3" name="TextBox 2"/>
          <p:cNvSpPr txBox="1"/>
          <p:nvPr/>
        </p:nvSpPr>
        <p:spPr>
          <a:xfrm>
            <a:off x="721420" y="762560"/>
            <a:ext cx="10749160" cy="143251"/>
          </a:xfrm>
          <a:prstGeom prst="rect">
            <a:avLst/>
          </a:prstGeom>
          <a:noFill/>
        </p:spPr>
        <p:txBody>
          <a:bodyPr wrap="none" anchor="t" lIns="0" rIns="0" tIns="0" bIns="0">
            <a:noAutofit/>
          </a:bodyPr>
          <a:lstStyle/>
          <a:p>
            <a:pPr algn="l"/>
            <a:r>
              <a:rPr sz="900" b="1" i="0">
                <a:solidFill>
                  <a:schemeClr val="accent1"/>
                </a:solidFill>
                <a:latin typeface="Courier New"/>
              </a:rPr>
              <a:t>METHODS · HOW A HIT EARNS THE NAME</a:t>
            </a:r>
          </a:p>
        </p:txBody>
      </p:sp>
      <p:sp>
        <p:nvSpPr>
          <p:cNvPr id="4" name="Rounded Rectangle 3"/>
          <p:cNvSpPr/>
          <p:nvPr/>
        </p:nvSpPr>
        <p:spPr>
          <a:xfrm>
            <a:off x="721420" y="1949116"/>
            <a:ext cx="10749160" cy="1660358"/>
          </a:xfrm>
          <a:prstGeom prst="roundRect">
            <a:avLst>
              <a:gd name="adj" fmla="val 8695"/>
            </a:avLst>
          </a:prstGeom>
          <a:solidFill>
            <a:schemeClr val="bg1"/>
          </a:solidFill>
          <a:ln w="7620">
            <a:solidFill>
              <a:srgbClr val="DCE3DF"/>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 name="Rounded Rectangle 4"/>
          <p:cNvSpPr/>
          <p:nvPr/>
        </p:nvSpPr>
        <p:spPr>
          <a:xfrm>
            <a:off x="721420" y="1949116"/>
            <a:ext cx="86570" cy="1660358"/>
          </a:xfrm>
          <a:prstGeom prst="roundRect">
            <a:avLst>
              <a:gd name="adj" fmla="val 50000"/>
            </a:avLst>
          </a:prstGeom>
          <a:solidFill>
            <a:schemeClr val="accent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 name="TextBox 5"/>
          <p:cNvSpPr txBox="1"/>
          <p:nvPr/>
        </p:nvSpPr>
        <p:spPr>
          <a:xfrm>
            <a:off x="1154272" y="2093495"/>
            <a:ext cx="9883456" cy="1371600"/>
          </a:xfrm>
          <a:prstGeom prst="rect">
            <a:avLst/>
          </a:prstGeom>
          <a:noFill/>
        </p:spPr>
        <p:txBody>
          <a:bodyPr wrap="square" anchor="t" lIns="0" rIns="0" tIns="0" bIns="0">
            <a:noAutofit/>
          </a:bodyPr>
          <a:lstStyle/>
          <a:p>
            <a:pPr algn="l">
              <a:lnSpc>
                <a:spcPts val="1600"/>
              </a:lnSpc>
              <a:spcBef>
                <a:spcPts val="0"/>
              </a:spcBef>
              <a:spcAft>
                <a:spcPts val="300"/>
              </a:spcAft>
            </a:pPr>
            <a:r>
              <a:rPr sz="1200" b="1" i="0">
                <a:solidFill>
                  <a:schemeClr val="tx1"/>
                </a:solidFill>
              </a:rPr>
              <a:t>The </a:t>
            </a:r>
            <a:r>
              <a:rPr sz="1200" b="1" i="0">
                <a:solidFill>
                  <a:schemeClr val="tx1"/>
                </a:solidFill>
                <a:latin typeface="Courier New"/>
              </a:rPr>
              <a:t>concordant</a:t>
            </a:r>
            <a:r>
              <a:rPr sz="1200" b="1" i="0">
                <a:solidFill>
                  <a:schemeClr val="tx1"/>
                </a:solidFill>
              </a:rPr>
              <a:t> criterion, used throughout this repo's perturbation work:</a:t>
            </a:r>
          </a:p>
          <a:p>
            <a:pPr algn="l">
              <a:lnSpc>
                <a:spcPts val="1600"/>
              </a:lnSpc>
              <a:spcBef>
                <a:spcPts val="0"/>
              </a:spcBef>
              <a:spcAft>
                <a:spcPts val="300"/>
              </a:spcAft>
            </a:pPr>
            <a:r>
              <a:rPr sz="1150" b="0" i="0">
                <a:solidFill>
                  <a:schemeClr val="accent2"/>
                </a:solidFill>
                <a:latin typeface="Courier New"/>
              </a:rPr>
              <a:t>delete_fdr &lt; 0.05 AND overexpress_fdr &lt; 0.05 AND delete_shift × overexpress_shift &lt; 0 AND delete_n ≥ 25</a:t>
            </a:r>
          </a:p>
        </p:txBody>
      </p:sp>
      <p:sp>
        <p:nvSpPr>
          <p:cNvPr id="7" name="TextBox 6"/>
          <p:cNvSpPr txBox="1"/>
          <p:nvPr/>
        </p:nvSpPr>
        <p:spPr>
          <a:xfrm>
            <a:off x="721420" y="3970421"/>
            <a:ext cx="10749160" cy="1804737"/>
          </a:xfrm>
          <a:prstGeom prst="rect">
            <a:avLst/>
          </a:prstGeom>
          <a:noFill/>
        </p:spPr>
        <p:txBody>
          <a:bodyPr wrap="square" anchor="t" lIns="0" rIns="0" tIns="0" bIns="0">
            <a:noAutofit/>
          </a:bodyPr>
          <a:lstStyle/>
          <a:p>
            <a:pPr algn="l">
              <a:lnSpc>
                <a:spcPts val="1700"/>
              </a:lnSpc>
              <a:spcBef>
                <a:spcPts val="0"/>
              </a:spcBef>
              <a:spcAft>
                <a:spcPts val="300"/>
              </a:spcAft>
            </a:pPr>
            <a:r>
              <a:rPr sz="1200" b="0" i="0">
                <a:solidFill>
                  <a:schemeClr val="tx2"/>
                </a:solidFill>
              </a:rPr>
              <a:t>Significance in one arm is not enough. A gene must clear both arms and reverse sign between them — the signature a dose-responsive driver actually produces. A gene can be significant in both arms and still fail this test if deletion and overexpression push the classifier the </a:t>
            </a:r>
            <a:r>
              <a:rPr sz="1200" b="1" i="0">
                <a:solidFill>
                  <a:schemeClr val="tx2"/>
                </a:solidFill>
              </a:rPr>
              <a:t>same</a:t>
            </a:r>
            <a:r>
              <a:rPr sz="1200" b="0" i="0">
                <a:solidFill>
                  <a:schemeClr val="tx2"/>
                </a:solidFill>
              </a:rPr>
              <a:t> direction — the model reacting to the gene's presence at all, not to a dose-responsive relationship with the labelled state.</a:t>
            </a:r>
          </a:p>
        </p:txBody>
      </p:sp>
      <p:sp>
        <p:nvSpPr>
          <p:cNvPr id="8" name="TextBox 7"/>
          <p:cNvSpPr txBox="1"/>
          <p:nvPr/>
        </p:nvSpPr>
        <p:spPr>
          <a:xfrm>
            <a:off x="721420" y="6363006"/>
            <a:ext cx="10749160" cy="135293"/>
          </a:xfrm>
          <a:prstGeom prst="rect">
            <a:avLst/>
          </a:prstGeom>
          <a:noFill/>
        </p:spPr>
        <p:txBody>
          <a:bodyPr wrap="none" anchor="t" lIns="0" rIns="0" tIns="0" bIns="0">
            <a:noAutofit/>
          </a:bodyPr>
          <a:lstStyle/>
          <a:p>
            <a:pPr algn="l"/>
            <a:r>
              <a:rPr sz="850" b="0" i="0">
                <a:solidFill>
                  <a:srgbClr val="7A8A85"/>
                </a:solidFill>
                <a:latin typeface="Courier New"/>
              </a:rPr>
              <a:t>10 / 26</a:t>
            </a:r>
          </a:p>
        </p:txBody>
      </p:sp>
      <p:sp>
        <p:nvSpPr>
          <p:cNvPr id="9" name="TextBox 8"/>
          <p:cNvSpPr txBox="1"/>
          <p:nvPr/>
        </p:nvSpPr>
        <p:spPr>
          <a:xfrm>
            <a:off x="721420" y="6363006"/>
            <a:ext cx="10749160" cy="135293"/>
          </a:xfrm>
          <a:prstGeom prst="rect">
            <a:avLst/>
          </a:prstGeom>
          <a:noFill/>
        </p:spPr>
        <p:txBody>
          <a:bodyPr wrap="none" anchor="t" lIns="0" rIns="0" tIns="0" bIns="0">
            <a:noAutofit/>
          </a:bodyPr>
          <a:lstStyle/>
          <a:p>
            <a:pPr algn="r"/>
            <a:r>
              <a:rPr sz="850" b="0" i="0">
                <a:solidFill>
                  <a:srgbClr val="7A8A85"/>
                </a:solidFill>
              </a:rPr>
              <a:t>primary_test_perturbation/scripts/build_delete_overexpress_shift_report.py @ b99365b</a:t>
            </a:r>
          </a:p>
        </p:txBody>
      </p:sp>
      <p:sp>
        <p:nvSpPr>
          <p:cNvPr id="10" name="TextBox 9"/>
          <p:cNvSpPr txBox="1"/>
          <p:nvPr/>
        </p:nvSpPr>
        <p:spPr>
          <a:xfrm>
            <a:off x="721420" y="5919537"/>
            <a:ext cx="10749160" cy="397042"/>
          </a:xfrm>
          <a:prstGeom prst="rect">
            <a:avLst/>
          </a:prstGeom>
          <a:noFill/>
        </p:spPr>
        <p:txBody>
          <a:bodyPr wrap="square" anchor="t" lIns="0" rIns="0" tIns="0" bIns="0">
            <a:noAutofit/>
          </a:bodyPr>
          <a:lstStyle/>
          <a:p>
            <a:pPr algn="l">
              <a:lnSpc>
                <a:spcPts val="1250"/>
              </a:lnSpc>
              <a:spcBef>
                <a:spcPts val="0"/>
              </a:spcBef>
              <a:spcAft>
                <a:spcPts val="0"/>
              </a:spcAft>
            </a:pPr>
            <a:r>
              <a:rPr sz="950" b="0" i="1">
                <a:solidFill>
                  <a:schemeClr val="accent1"/>
                </a:solidFill>
              </a:rPr>
              <a:t>In plain words: a gene counts only if removing it and boosting it push the cell in opposite directions, each beyond chance; FDR &lt; 0.05 means at most about 5% of such calls are expected to be false.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chemeClr val="bg2"/>
        </a:solidFill>
        <a:effectLst/>
      </p:bgPr>
    </p:bg>
    <p:spTree>
      <p:nvGrpSpPr>
        <p:cNvPr id="1" name=""/>
        <p:cNvGrpSpPr/>
        <p:nvPr/>
      </p:nvGrpSpPr>
      <p:grpSpPr/>
      <p:sp>
        <p:nvSpPr>
          <p:cNvPr id="2" name="Title 1"/>
          <p:cNvSpPr>
            <a:spLocks noGrp="1"/>
          </p:cNvSpPr>
          <p:nvPr>
            <p:ph type="title"/>
          </p:nvPr>
        </p:nvSpPr>
        <p:spPr>
          <a:xfrm>
            <a:off x="721420" y="1588168"/>
            <a:ext cx="10099882" cy="662138"/>
          </a:xfrm>
        </p:spPr>
        <p:txBody>
          <a:bodyPr wrap="square" anchor="t" lIns="0" rIns="0" tIns="0" bIns="0">
            <a:noAutofit/>
          </a:bodyPr>
          <a:lstStyle/>
          <a:p>
            <a:pPr algn="l">
              <a:lnSpc>
                <a:spcPts val="2320"/>
              </a:lnSpc>
              <a:spcBef>
                <a:spcPts val="0"/>
              </a:spcBef>
              <a:spcAft>
                <a:spcPts val="300"/>
              </a:spcAft>
            </a:pPr>
            <a:r>
              <a:rPr sz="2000" b="1" i="0">
                <a:solidFill>
                  <a:schemeClr val="tx1"/>
                </a:solidFill>
              </a:rPr>
              <a:t>Two further checks, applied after the screen, not instead of it</a:t>
            </a:r>
          </a:p>
        </p:txBody>
      </p:sp>
      <p:sp>
        <p:nvSpPr>
          <p:cNvPr id="3" name="TextBox 2"/>
          <p:cNvSpPr txBox="1"/>
          <p:nvPr/>
        </p:nvSpPr>
        <p:spPr>
          <a:xfrm>
            <a:off x="721420" y="762560"/>
            <a:ext cx="10749160" cy="143251"/>
          </a:xfrm>
          <a:prstGeom prst="rect">
            <a:avLst/>
          </a:prstGeom>
          <a:noFill/>
        </p:spPr>
        <p:txBody>
          <a:bodyPr wrap="none" anchor="t" lIns="0" rIns="0" tIns="0" bIns="0">
            <a:noAutofit/>
          </a:bodyPr>
          <a:lstStyle/>
          <a:p>
            <a:pPr algn="l"/>
            <a:r>
              <a:rPr sz="900" b="1" i="0">
                <a:solidFill>
                  <a:schemeClr val="accent1"/>
                </a:solidFill>
                <a:latin typeface="Courier New"/>
              </a:rPr>
              <a:t>METHODS · SCREEN-LEVEL AND DONOR-LEVEL AUDITS</a:t>
            </a:r>
          </a:p>
        </p:txBody>
      </p:sp>
      <p:sp>
        <p:nvSpPr>
          <p:cNvPr id="4" name="Rounded Rectangle 3"/>
          <p:cNvSpPr/>
          <p:nvPr/>
        </p:nvSpPr>
        <p:spPr>
          <a:xfrm>
            <a:off x="721420" y="1876926"/>
            <a:ext cx="3438769" cy="2021305"/>
          </a:xfrm>
          <a:prstGeom prst="roundRect">
            <a:avLst>
              <a:gd name="adj" fmla="val 7142"/>
            </a:avLst>
          </a:prstGeom>
          <a:solidFill>
            <a:schemeClr val="bg1"/>
          </a:solidFill>
          <a:ln w="7620">
            <a:solidFill>
              <a:srgbClr val="DCE3DF"/>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 name="TextBox 4"/>
          <p:cNvSpPr txBox="1"/>
          <p:nvPr/>
        </p:nvSpPr>
        <p:spPr>
          <a:xfrm>
            <a:off x="973917" y="2021305"/>
            <a:ext cx="2933775" cy="1732547"/>
          </a:xfrm>
          <a:prstGeom prst="rect">
            <a:avLst/>
          </a:prstGeom>
          <a:noFill/>
        </p:spPr>
        <p:txBody>
          <a:bodyPr wrap="square" anchor="t" lIns="0" rIns="0" tIns="0" bIns="0">
            <a:noAutofit/>
          </a:bodyPr>
          <a:lstStyle/>
          <a:p>
            <a:pPr algn="l">
              <a:lnSpc>
                <a:spcPts val="1600"/>
              </a:lnSpc>
              <a:spcBef>
                <a:spcPts val="0"/>
              </a:spcBef>
              <a:spcAft>
                <a:spcPts val="300"/>
              </a:spcAft>
            </a:pPr>
            <a:r>
              <a:rPr sz="1250" b="1" i="0">
                <a:solidFill>
                  <a:schemeClr val="tx1"/>
                </a:solidFill>
              </a:rPr>
              <a:t>Ambient-risk audit</a:t>
            </a:r>
          </a:p>
          <a:p>
            <a:pPr algn="l">
              <a:lnSpc>
                <a:spcPts val="1340"/>
              </a:lnSpc>
              <a:spcBef>
                <a:spcPts val="0"/>
              </a:spcBef>
              <a:spcAft>
                <a:spcPts val="300"/>
              </a:spcAft>
            </a:pPr>
            <a:r>
              <a:rPr sz="960" b="0" i="0">
                <a:solidFill>
                  <a:srgbClr val="4A5A55"/>
                </a:solidFill>
              </a:rPr>
              <a:t>Every top-effect gene is checked against a curated ambient-contamination panel and a curated T-cell-intrinsic anchor panel. The flag threshold is the 25th percentile of the full ambient-anchor population's own risk scores — a within-panel, not an absolute, cutoff.</a:t>
            </a:r>
          </a:p>
        </p:txBody>
      </p:sp>
      <p:sp>
        <p:nvSpPr>
          <p:cNvPr id="6" name="Rounded Rectangle 5"/>
          <p:cNvSpPr/>
          <p:nvPr/>
        </p:nvSpPr>
        <p:spPr>
          <a:xfrm>
            <a:off x="4376615" y="1876926"/>
            <a:ext cx="3438769" cy="2021305"/>
          </a:xfrm>
          <a:prstGeom prst="roundRect">
            <a:avLst>
              <a:gd name="adj" fmla="val 7142"/>
            </a:avLst>
          </a:prstGeom>
          <a:solidFill>
            <a:schemeClr val="bg1"/>
          </a:solidFill>
          <a:ln w="7620">
            <a:solidFill>
              <a:srgbClr val="DCE3DF"/>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 name="TextBox 6"/>
          <p:cNvSpPr txBox="1"/>
          <p:nvPr/>
        </p:nvSpPr>
        <p:spPr>
          <a:xfrm>
            <a:off x="4629112" y="2021305"/>
            <a:ext cx="2933775" cy="1732547"/>
          </a:xfrm>
          <a:prstGeom prst="rect">
            <a:avLst/>
          </a:prstGeom>
          <a:noFill/>
        </p:spPr>
        <p:txBody>
          <a:bodyPr wrap="square" anchor="t" lIns="0" rIns="0" tIns="0" bIns="0">
            <a:noAutofit/>
          </a:bodyPr>
          <a:lstStyle/>
          <a:p>
            <a:pPr algn="l">
              <a:lnSpc>
                <a:spcPts val="1600"/>
              </a:lnSpc>
              <a:spcBef>
                <a:spcPts val="0"/>
              </a:spcBef>
              <a:spcAft>
                <a:spcPts val="300"/>
              </a:spcAft>
            </a:pPr>
            <a:r>
              <a:rPr sz="1250" b="1" i="0">
                <a:solidFill>
                  <a:schemeClr val="tx1"/>
                </a:solidFill>
              </a:rPr>
              <a:t>Donor-weighted reanalysis</a:t>
            </a:r>
          </a:p>
          <a:p>
            <a:pPr algn="l">
              <a:lnSpc>
                <a:spcPts val="1340"/>
              </a:lnSpc>
              <a:spcBef>
                <a:spcPts val="0"/>
              </a:spcBef>
              <a:spcAft>
                <a:spcPts val="300"/>
              </a:spcAft>
            </a:pPr>
            <a:r>
              <a:rPr sz="960" b="0" i="0">
                <a:solidFill>
                  <a:srgbClr val="4A5A55"/>
                </a:solidFill>
              </a:rPr>
              <a:t>Any cross-cohort comparison is recomputed donor-level (mean within donor first, then an unweighted mean of donor means) alongside the original cell-weighted statistic, to separate a real group difference from one donor's cell count dominating the mean.</a:t>
            </a:r>
          </a:p>
        </p:txBody>
      </p:sp>
      <p:sp>
        <p:nvSpPr>
          <p:cNvPr id="8" name="Rounded Rectangle 7"/>
          <p:cNvSpPr/>
          <p:nvPr/>
        </p:nvSpPr>
        <p:spPr>
          <a:xfrm>
            <a:off x="8031811" y="1876926"/>
            <a:ext cx="3438769" cy="2021305"/>
          </a:xfrm>
          <a:prstGeom prst="roundRect">
            <a:avLst>
              <a:gd name="adj" fmla="val 7142"/>
            </a:avLst>
          </a:prstGeom>
          <a:solidFill>
            <a:schemeClr val="bg1"/>
          </a:solidFill>
          <a:ln w="7620">
            <a:solidFill>
              <a:srgbClr val="DCE3DF"/>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9" name="TextBox 8"/>
          <p:cNvSpPr txBox="1"/>
          <p:nvPr/>
        </p:nvSpPr>
        <p:spPr>
          <a:xfrm>
            <a:off x="8284308" y="2021305"/>
            <a:ext cx="2933775" cy="1732547"/>
          </a:xfrm>
          <a:prstGeom prst="rect">
            <a:avLst/>
          </a:prstGeom>
          <a:noFill/>
        </p:spPr>
        <p:txBody>
          <a:bodyPr wrap="square" anchor="t" lIns="0" rIns="0" tIns="0" bIns="0">
            <a:noAutofit/>
          </a:bodyPr>
          <a:lstStyle/>
          <a:p>
            <a:pPr algn="l">
              <a:lnSpc>
                <a:spcPts val="1600"/>
              </a:lnSpc>
              <a:spcBef>
                <a:spcPts val="0"/>
              </a:spcBef>
              <a:spcAft>
                <a:spcPts val="300"/>
              </a:spcAft>
            </a:pPr>
            <a:r>
              <a:rPr sz="1250" b="1" i="0">
                <a:solidFill>
                  <a:schemeClr val="tx1"/>
                </a:solidFill>
              </a:rPr>
              <a:t>Why both, not either</a:t>
            </a:r>
          </a:p>
          <a:p>
            <a:pPr algn="l">
              <a:lnSpc>
                <a:spcPts val="1340"/>
              </a:lnSpc>
              <a:spcBef>
                <a:spcPts val="0"/>
              </a:spcBef>
              <a:spcAft>
                <a:spcPts val="300"/>
              </a:spcAft>
            </a:pPr>
            <a:r>
              <a:rPr sz="960" b="0" i="0">
                <a:solidFill>
                  <a:srgbClr val="4A5A55"/>
                </a:solidFill>
              </a:rPr>
              <a:t>A significance test alone cannot distinguish a cell-intrinsic effect from an ambient or cell-count artifact. Both audits are applied to every candidate discussed in Results, not selectively to ones that already look questionable.</a:t>
            </a:r>
          </a:p>
        </p:txBody>
      </p:sp>
      <p:sp>
        <p:nvSpPr>
          <p:cNvPr id="10" name="TextBox 9"/>
          <p:cNvSpPr txBox="1"/>
          <p:nvPr/>
        </p:nvSpPr>
        <p:spPr>
          <a:xfrm>
            <a:off x="721420" y="6363006"/>
            <a:ext cx="10749160" cy="135293"/>
          </a:xfrm>
          <a:prstGeom prst="rect">
            <a:avLst/>
          </a:prstGeom>
          <a:noFill/>
        </p:spPr>
        <p:txBody>
          <a:bodyPr wrap="none" anchor="t" lIns="0" rIns="0" tIns="0" bIns="0">
            <a:noAutofit/>
          </a:bodyPr>
          <a:lstStyle/>
          <a:p>
            <a:pPr algn="l"/>
            <a:r>
              <a:rPr sz="850" b="0" i="0">
                <a:solidFill>
                  <a:srgbClr val="7A8A85"/>
                </a:solidFill>
                <a:latin typeface="Courier New"/>
              </a:rPr>
              <a:t>11 / 26</a:t>
            </a:r>
          </a:p>
        </p:txBody>
      </p:sp>
      <p:sp>
        <p:nvSpPr>
          <p:cNvPr id="11" name="TextBox 10"/>
          <p:cNvSpPr txBox="1"/>
          <p:nvPr/>
        </p:nvSpPr>
        <p:spPr>
          <a:xfrm>
            <a:off x="721420" y="6363006"/>
            <a:ext cx="10749160" cy="135293"/>
          </a:xfrm>
          <a:prstGeom prst="rect">
            <a:avLst/>
          </a:prstGeom>
          <a:noFill/>
        </p:spPr>
        <p:txBody>
          <a:bodyPr wrap="none" anchor="t" lIns="0" rIns="0" tIns="0" bIns="0">
            <a:noAutofit/>
          </a:bodyPr>
          <a:lstStyle/>
          <a:p>
            <a:pPr algn="r"/>
            <a:r>
              <a:rPr sz="850" b="0" i="0">
                <a:solidFill>
                  <a:srgbClr val="7A8A85"/>
                </a:solidFill>
              </a:rPr>
              <a:t>ambient_risk_diagnostic.py line 198 @ b99365b; immune_axis_test/donor_robustness.py @ 9ec518c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chemeClr val="bg2"/>
        </a:solidFill>
        <a:effectLst/>
      </p:bgPr>
    </p:bg>
    <p:spTree>
      <p:nvGrpSpPr>
        <p:cNvPr id="1" name=""/>
        <p:cNvGrpSpPr/>
        <p:nvPr/>
      </p:nvGrpSpPr>
      <p:grpSpPr/>
      <p:sp>
        <p:nvSpPr>
          <p:cNvPr id="2" name="Title 1"/>
          <p:cNvSpPr>
            <a:spLocks noGrp="1"/>
          </p:cNvSpPr>
          <p:nvPr>
            <p:ph type="title"/>
          </p:nvPr>
        </p:nvSpPr>
        <p:spPr>
          <a:xfrm>
            <a:off x="721420" y="1515979"/>
            <a:ext cx="9378462" cy="695245"/>
          </a:xfrm>
        </p:spPr>
        <p:txBody>
          <a:bodyPr wrap="square" anchor="t" lIns="0" rIns="0" tIns="0" bIns="0">
            <a:noAutofit/>
          </a:bodyPr>
          <a:lstStyle/>
          <a:p>
            <a:pPr algn="l">
              <a:lnSpc>
                <a:spcPts val="2436"/>
              </a:lnSpc>
              <a:spcBef>
                <a:spcPts val="0"/>
              </a:spcBef>
              <a:spcAft>
                <a:spcPts val="300"/>
              </a:spcAft>
            </a:pPr>
            <a:r>
              <a:rPr sz="2100" b="1" i="0">
                <a:solidFill>
                  <a:schemeClr val="tx1"/>
                </a:solidFill>
              </a:rPr>
              <a:t>Four hits replicate and validate independently in tissue</a:t>
            </a:r>
          </a:p>
        </p:txBody>
      </p:sp>
      <p:sp>
        <p:nvSpPr>
          <p:cNvPr id="3" name="TextBox 2"/>
          <p:cNvSpPr txBox="1"/>
          <p:nvPr/>
        </p:nvSpPr>
        <p:spPr>
          <a:xfrm>
            <a:off x="721420" y="762560"/>
            <a:ext cx="10749160" cy="143251"/>
          </a:xfrm>
          <a:prstGeom prst="rect">
            <a:avLst/>
          </a:prstGeom>
          <a:noFill/>
        </p:spPr>
        <p:txBody>
          <a:bodyPr wrap="none" anchor="t" lIns="0" rIns="0" tIns="0" bIns="0">
            <a:noAutofit/>
          </a:bodyPr>
          <a:lstStyle/>
          <a:p>
            <a:pPr algn="l"/>
            <a:r>
              <a:rPr sz="900" b="1" i="0">
                <a:solidFill>
                  <a:schemeClr val="accent1"/>
                </a:solidFill>
                <a:latin typeface="Courier New"/>
              </a:rPr>
              <a:t>RESULTS · THE ORIGINAL SCREEN</a:t>
            </a:r>
          </a:p>
        </p:txBody>
      </p:sp>
      <p:pic>
        <p:nvPicPr>
          <p:cNvPr id="4" name="Picture 3" descr="spatial.png"/>
          <p:cNvPicPr>
            <a:picLocks noChangeAspect="1"/>
          </p:cNvPicPr>
          <p:nvPr/>
        </p:nvPicPr>
        <p:blipFill>
          <a:blip r:embed="rId2"/>
          <a:stretch>
            <a:fillRect/>
          </a:stretch>
        </p:blipFill>
        <p:spPr>
          <a:xfrm>
            <a:off x="721420" y="2310063"/>
            <a:ext cx="4689231" cy="3174352"/>
          </a:xfrm>
          <a:prstGeom prst="rect">
            <a:avLst/>
          </a:prstGeom>
        </p:spPr>
      </p:pic>
      <p:sp>
        <p:nvSpPr>
          <p:cNvPr id="5" name="TextBox 4"/>
          <p:cNvSpPr txBox="1"/>
          <p:nvPr/>
        </p:nvSpPr>
        <p:spPr>
          <a:xfrm>
            <a:off x="5699219" y="2310063"/>
            <a:ext cx="5771361" cy="2165684"/>
          </a:xfrm>
          <a:prstGeom prst="rect">
            <a:avLst/>
          </a:prstGeom>
          <a:noFill/>
        </p:spPr>
        <p:txBody>
          <a:bodyPr wrap="square" anchor="t" lIns="0" rIns="0" tIns="0" bIns="0">
            <a:noAutofit/>
          </a:bodyPr>
          <a:lstStyle/>
          <a:p>
            <a:pPr algn="l">
              <a:lnSpc>
                <a:spcPts val="1900"/>
              </a:lnSpc>
              <a:spcBef>
                <a:spcPts val="0"/>
              </a:spcBef>
              <a:spcAft>
                <a:spcPts val="300"/>
              </a:spcAft>
            </a:pPr>
            <a:r>
              <a:rPr sz="1500" b="1" i="0">
                <a:solidFill>
                  <a:schemeClr val="accent1"/>
                </a:solidFill>
              </a:rPr>
              <a:t>TIGIT, TIM-3 (HAVCR2), CTLA-4, IL7R</a:t>
            </a:r>
          </a:p>
          <a:p>
            <a:pPr algn="l">
              <a:lnSpc>
                <a:spcPts val="1500"/>
              </a:lnSpc>
              <a:spcBef>
                <a:spcPts val="0"/>
              </a:spcBef>
              <a:spcAft>
                <a:spcPts val="300"/>
              </a:spcAft>
            </a:pPr>
            <a:r>
              <a:rPr sz="1050" b="0" i="0">
                <a:solidFill>
                  <a:schemeClr val="tx2"/>
                </a:solidFill>
              </a:rPr>
              <a:t>Four replicated checkpoint/persistence edits from the applied screen (screen_b.png, Introduction). Replication here means: deletion FDR &lt; 0.05 and the same deletion sign in all 3 SCLC donors.</a:t>
            </a:r>
          </a:p>
          <a:p>
            <a:pPr algn="l">
              <a:lnSpc>
                <a:spcPts val="1500"/>
              </a:lnSpc>
              <a:spcBef>
                <a:spcPts val="0"/>
              </a:spcBef>
              <a:spcAft>
                <a:spcPts val="300"/>
              </a:spcAft>
            </a:pPr>
            <a:r>
              <a:rPr sz="1050" b="0" i="0">
                <a:solidFill>
                  <a:schemeClr val="tx2"/>
                </a:solidFill>
              </a:rPr>
              <a:t>GSE263196 Visium, 5 SCLC specimens, 15,632 in-tissue spots: antigen-presentation programme </a:t>
            </a:r>
            <a:r>
              <a:rPr sz="1050" b="1" i="0">
                <a:solidFill>
                  <a:schemeClr val="tx2"/>
                </a:solidFill>
              </a:rPr>
              <a:t>rho = 0.361, 7.95 sigma above the null.</a:t>
            </a:r>
          </a:p>
        </p:txBody>
      </p:sp>
      <p:sp>
        <p:nvSpPr>
          <p:cNvPr id="6" name="Rounded Rectangle 5"/>
          <p:cNvSpPr/>
          <p:nvPr/>
        </p:nvSpPr>
        <p:spPr>
          <a:xfrm>
            <a:off x="5699219" y="4764505"/>
            <a:ext cx="5771361" cy="1155032"/>
          </a:xfrm>
          <a:prstGeom prst="roundRect">
            <a:avLst>
              <a:gd name="adj" fmla="val 12500"/>
            </a:avLst>
          </a:prstGeom>
          <a:solidFill>
            <a:schemeClr val="accent5"/>
          </a:solidFill>
          <a:ln w="7620">
            <a:solidFill>
              <a:schemeClr val="accent5"/>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 name="TextBox 6"/>
          <p:cNvSpPr txBox="1"/>
          <p:nvPr/>
        </p:nvSpPr>
        <p:spPr>
          <a:xfrm>
            <a:off x="5987787" y="4872789"/>
            <a:ext cx="5194225" cy="938463"/>
          </a:xfrm>
          <a:prstGeom prst="rect">
            <a:avLst/>
          </a:prstGeom>
          <a:noFill/>
        </p:spPr>
        <p:txBody>
          <a:bodyPr wrap="square" anchor="t" lIns="0" rIns="0" tIns="0" bIns="0">
            <a:noAutofit/>
          </a:bodyPr>
          <a:lstStyle/>
          <a:p>
            <a:pPr algn="l">
              <a:lnSpc>
                <a:spcPts val="1280"/>
              </a:lnSpc>
              <a:spcBef>
                <a:spcPts val="0"/>
              </a:spcBef>
              <a:spcAft>
                <a:spcPts val="300"/>
              </a:spcAft>
            </a:pPr>
            <a:r>
              <a:rPr sz="919" b="1" i="0">
                <a:solidFill>
                  <a:schemeClr val="tx2"/>
                </a:solidFill>
              </a:rPr>
              <a:t>The concordance half of the original call was made by the pre-2026-09-22 panel runner, which overexpressed into all 2,424 SCLC cells while deleting only in the 202–1,131 cells expressing each gene; it has not been rerun with paired cell sets. Unaffected by S100, ambient or T6 below; the spatial number is untouched. A qualifier, not a retraction.</a:t>
            </a:r>
          </a:p>
        </p:txBody>
      </p:sp>
      <p:sp>
        <p:nvSpPr>
          <p:cNvPr id="8" name="TextBox 7"/>
          <p:cNvSpPr txBox="1"/>
          <p:nvPr/>
        </p:nvSpPr>
        <p:spPr>
          <a:xfrm>
            <a:off x="721420" y="6363006"/>
            <a:ext cx="10749160" cy="135293"/>
          </a:xfrm>
          <a:prstGeom prst="rect">
            <a:avLst/>
          </a:prstGeom>
          <a:noFill/>
        </p:spPr>
        <p:txBody>
          <a:bodyPr wrap="none" anchor="t" lIns="0" rIns="0" tIns="0" bIns="0">
            <a:noAutofit/>
          </a:bodyPr>
          <a:lstStyle/>
          <a:p>
            <a:pPr algn="l"/>
            <a:r>
              <a:rPr sz="850" b="0" i="0">
                <a:solidFill>
                  <a:srgbClr val="7A8A85"/>
                </a:solidFill>
                <a:latin typeface="Courier New"/>
              </a:rPr>
              <a:t>12 / 26</a:t>
            </a:r>
          </a:p>
        </p:txBody>
      </p:sp>
      <p:sp>
        <p:nvSpPr>
          <p:cNvPr id="9" name="TextBox 8"/>
          <p:cNvSpPr txBox="1"/>
          <p:nvPr/>
        </p:nvSpPr>
        <p:spPr>
          <a:xfrm>
            <a:off x="721420" y="6363006"/>
            <a:ext cx="10749160" cy="135293"/>
          </a:xfrm>
          <a:prstGeom prst="rect">
            <a:avLst/>
          </a:prstGeom>
          <a:noFill/>
        </p:spPr>
        <p:txBody>
          <a:bodyPr wrap="none" anchor="t" lIns="0" rIns="0" tIns="0" bIns="0">
            <a:noAutofit/>
          </a:bodyPr>
          <a:lstStyle/>
          <a:p>
            <a:pPr algn="r"/>
            <a:r>
              <a:rPr sz="850" b="0" i="0">
                <a:solidFill>
                  <a:srgbClr val="7A8A85"/>
                </a:solidFill>
              </a:rPr>
              <a:t>talk/JSDP_P25_talk.pptx/pdf (rho, sigma: talk only); targeted_panel_delete_overexpress_merged.csv @ 6882627; runner fix 66d235b</a:t>
            </a:r>
          </a:p>
        </p:txBody>
      </p:sp>
      <p:sp>
        <p:nvSpPr>
          <p:cNvPr id="10" name="TextBox 9"/>
          <p:cNvSpPr txBox="1"/>
          <p:nvPr/>
        </p:nvSpPr>
        <p:spPr>
          <a:xfrm>
            <a:off x="721420" y="5955632"/>
            <a:ext cx="10749160" cy="360947"/>
          </a:xfrm>
          <a:prstGeom prst="rect">
            <a:avLst/>
          </a:prstGeom>
          <a:noFill/>
        </p:spPr>
        <p:txBody>
          <a:bodyPr wrap="square" anchor="t" lIns="0" rIns="0" tIns="0" bIns="0">
            <a:noAutofit/>
          </a:bodyPr>
          <a:lstStyle/>
          <a:p>
            <a:pPr algn="l">
              <a:lnSpc>
                <a:spcPts val="1250"/>
              </a:lnSpc>
              <a:spcBef>
                <a:spcPts val="0"/>
              </a:spcBef>
              <a:spcAft>
                <a:spcPts val="0"/>
              </a:spcAft>
            </a:pPr>
            <a:r>
              <a:rPr sz="950" b="0" i="1">
                <a:solidFill>
                  <a:schemeClr val="accent1"/>
                </a:solidFill>
              </a:rPr>
              <a:t>In plain words: in real tumour slices, spots with more antigen-presentation activity also held more T cells (rho 0.361, where 0 is no relation and 1 is perfect), far beyond chance (7.95 sigma).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chemeClr val="bg2"/>
        </a:solidFill>
        <a:effectLst/>
      </p:bgPr>
    </p:bg>
    <p:spTree>
      <p:nvGrpSpPr>
        <p:cNvPr id="1" name=""/>
        <p:cNvGrpSpPr/>
        <p:nvPr/>
      </p:nvGrpSpPr>
      <p:grpSpPr/>
      <p:sp>
        <p:nvSpPr>
          <p:cNvPr id="2" name="Title 1"/>
          <p:cNvSpPr>
            <a:spLocks noGrp="1"/>
          </p:cNvSpPr>
          <p:nvPr>
            <p:ph type="title"/>
          </p:nvPr>
        </p:nvSpPr>
        <p:spPr>
          <a:xfrm>
            <a:off x="721420" y="1515979"/>
            <a:ext cx="10460592" cy="562817"/>
          </a:xfrm>
        </p:spPr>
        <p:txBody>
          <a:bodyPr wrap="square" anchor="t" lIns="0" rIns="0" tIns="0" bIns="0">
            <a:noAutofit/>
          </a:bodyPr>
          <a:lstStyle/>
          <a:p>
            <a:pPr algn="l">
              <a:lnSpc>
                <a:spcPts val="1972"/>
              </a:lnSpc>
              <a:spcBef>
                <a:spcPts val="0"/>
              </a:spcBef>
              <a:spcAft>
                <a:spcPts val="300"/>
              </a:spcAft>
            </a:pPr>
            <a:r>
              <a:rPr sz="1700" b="1" i="0">
                <a:solidFill>
                  <a:schemeClr val="tx1"/>
                </a:solidFill>
              </a:rPr>
              <a:t>Sparse genes fake big effects, and the poster's own ordering fails its own test</a:t>
            </a:r>
          </a:p>
        </p:txBody>
      </p:sp>
      <p:sp>
        <p:nvSpPr>
          <p:cNvPr id="3" name="TextBox 2"/>
          <p:cNvSpPr txBox="1"/>
          <p:nvPr/>
        </p:nvSpPr>
        <p:spPr>
          <a:xfrm>
            <a:off x="721420" y="762560"/>
            <a:ext cx="10749160" cy="143251"/>
          </a:xfrm>
          <a:prstGeom prst="rect">
            <a:avLst/>
          </a:prstGeom>
          <a:noFill/>
        </p:spPr>
        <p:txBody>
          <a:bodyPr wrap="none" anchor="t" lIns="0" rIns="0" tIns="0" bIns="0">
            <a:noAutofit/>
          </a:bodyPr>
          <a:lstStyle/>
          <a:p>
            <a:pPr algn="l"/>
            <a:r>
              <a:rPr sz="900" b="1" i="0">
                <a:solidFill>
                  <a:schemeClr val="accent1"/>
                </a:solidFill>
                <a:latin typeface="Courier New"/>
              </a:rPr>
              <a:t>RESULTS · THE ORIGINAL TALK'S OWN QUALITY-CONTROL CHECK</a:t>
            </a:r>
          </a:p>
        </p:txBody>
      </p:sp>
      <p:pic>
        <p:nvPicPr>
          <p:cNvPr id="4" name="Picture 3" descr="detection.png"/>
          <p:cNvPicPr>
            <a:picLocks noChangeAspect="1"/>
          </p:cNvPicPr>
          <p:nvPr/>
        </p:nvPicPr>
        <p:blipFill>
          <a:blip r:embed="rId2"/>
          <a:stretch>
            <a:fillRect/>
          </a:stretch>
        </p:blipFill>
        <p:spPr>
          <a:xfrm>
            <a:off x="721420" y="2310063"/>
            <a:ext cx="5380655" cy="3590476"/>
          </a:xfrm>
          <a:prstGeom prst="rect">
            <a:avLst/>
          </a:prstGeom>
        </p:spPr>
      </p:pic>
      <p:sp>
        <p:nvSpPr>
          <p:cNvPr id="5" name="TextBox 4"/>
          <p:cNvSpPr txBox="1"/>
          <p:nvPr/>
        </p:nvSpPr>
        <p:spPr>
          <a:xfrm>
            <a:off x="6420639" y="2310063"/>
            <a:ext cx="5049941" cy="2382253"/>
          </a:xfrm>
          <a:prstGeom prst="rect">
            <a:avLst/>
          </a:prstGeom>
          <a:noFill/>
        </p:spPr>
        <p:txBody>
          <a:bodyPr wrap="square" anchor="t" lIns="0" rIns="0" tIns="0" bIns="0">
            <a:noAutofit/>
          </a:bodyPr>
          <a:lstStyle/>
          <a:p>
            <a:pPr algn="l">
              <a:lnSpc>
                <a:spcPts val="1500"/>
              </a:lnSpc>
              <a:spcBef>
                <a:spcPts val="0"/>
              </a:spcBef>
              <a:spcAft>
                <a:spcPts val="300"/>
              </a:spcAft>
            </a:pPr>
            <a:r>
              <a:rPr sz="1100" b="1" i="0">
                <a:solidFill>
                  <a:schemeClr val="accent1"/>
                </a:solidFill>
              </a:rPr>
              <a:t>Detection vs. effect size: Spearman rho = -0.60 (p = 2.7e-5, n = 42) across the full 50-gene panel.</a:t>
            </a:r>
          </a:p>
          <a:p>
            <a:pPr algn="l">
              <a:lnSpc>
                <a:spcPts val="1450"/>
              </a:lnSpc>
              <a:spcBef>
                <a:spcPts val="0"/>
              </a:spcBef>
              <a:spcAft>
                <a:spcPts val="300"/>
              </a:spcAft>
            </a:pPr>
            <a:r>
              <a:rPr sz="1000" b="0" i="0">
                <a:solidFill>
                  <a:schemeClr val="tx2"/>
                </a:solidFill>
              </a:rPr>
              <a:t>“TESTED SINCE THE POSTER” (talk, slide 7): “the states are not on a line, so there is no ordering to contradict... Working reading: a triangle — SCLC ≤ Normal &lt; LUAD... Test 1 of 4 — sign directions, not centroid geometry. </a:t>
            </a:r>
            <a:r>
              <a:rPr sz="1000" b="1" i="0">
                <a:solidFill>
                  <a:schemeClr val="tx2"/>
                </a:solidFill>
              </a:rPr>
              <a:t>Pending T2 and T3.</a:t>
            </a:r>
            <a:r>
              <a:rPr sz="1000" b="0" i="0">
                <a:solidFill>
                  <a:schemeClr val="tx2"/>
                </a:solidFill>
              </a:rPr>
              <a:t>”</a:t>
            </a:r>
          </a:p>
        </p:txBody>
      </p:sp>
      <p:sp>
        <p:nvSpPr>
          <p:cNvPr id="6" name="Rounded Rectangle 5"/>
          <p:cNvSpPr/>
          <p:nvPr/>
        </p:nvSpPr>
        <p:spPr>
          <a:xfrm>
            <a:off x="6420639" y="4836695"/>
            <a:ext cx="5049941" cy="1082842"/>
          </a:xfrm>
          <a:prstGeom prst="roundRect">
            <a:avLst>
              <a:gd name="adj" fmla="val 13333"/>
            </a:avLst>
          </a:prstGeom>
          <a:solidFill>
            <a:schemeClr val="accent5"/>
          </a:solidFill>
          <a:ln w="7620">
            <a:solidFill>
              <a:schemeClr val="accent5"/>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 name="TextBox 6"/>
          <p:cNvSpPr txBox="1"/>
          <p:nvPr/>
        </p:nvSpPr>
        <p:spPr>
          <a:xfrm>
            <a:off x="6709207" y="4944979"/>
            <a:ext cx="4472805" cy="866274"/>
          </a:xfrm>
          <a:prstGeom prst="rect">
            <a:avLst/>
          </a:prstGeom>
          <a:noFill/>
        </p:spPr>
        <p:txBody>
          <a:bodyPr wrap="square" anchor="t" lIns="0" rIns="0" tIns="0" bIns="0">
            <a:noAutofit/>
          </a:bodyPr>
          <a:lstStyle/>
          <a:p>
            <a:pPr algn="l">
              <a:lnSpc>
                <a:spcPts val="1300"/>
              </a:lnSpc>
              <a:spcBef>
                <a:spcPts val="0"/>
              </a:spcBef>
              <a:spcAft>
                <a:spcPts val="300"/>
              </a:spcAft>
            </a:pPr>
            <a:r>
              <a:rPr sz="940" b="1" i="0">
                <a:solidFill>
                  <a:schemeClr val="tx2"/>
                </a:solidFill>
              </a:rPr>
              <a:t>This is the original team's own self-correction, dated before this work began — not a finding of ours.</a:t>
            </a:r>
          </a:p>
        </p:txBody>
      </p:sp>
      <p:sp>
        <p:nvSpPr>
          <p:cNvPr id="8" name="TextBox 7"/>
          <p:cNvSpPr txBox="1"/>
          <p:nvPr/>
        </p:nvSpPr>
        <p:spPr>
          <a:xfrm>
            <a:off x="721420" y="6363006"/>
            <a:ext cx="10749160" cy="135293"/>
          </a:xfrm>
          <a:prstGeom prst="rect">
            <a:avLst/>
          </a:prstGeom>
          <a:noFill/>
        </p:spPr>
        <p:txBody>
          <a:bodyPr wrap="none" anchor="t" lIns="0" rIns="0" tIns="0" bIns="0">
            <a:noAutofit/>
          </a:bodyPr>
          <a:lstStyle/>
          <a:p>
            <a:pPr algn="l"/>
            <a:r>
              <a:rPr sz="850" b="0" i="0">
                <a:solidFill>
                  <a:srgbClr val="7A8A85"/>
                </a:solidFill>
                <a:latin typeface="Courier New"/>
              </a:rPr>
              <a:t>13 / 26</a:t>
            </a:r>
          </a:p>
        </p:txBody>
      </p:sp>
      <p:sp>
        <p:nvSpPr>
          <p:cNvPr id="9" name="TextBox 8"/>
          <p:cNvSpPr txBox="1"/>
          <p:nvPr/>
        </p:nvSpPr>
        <p:spPr>
          <a:xfrm>
            <a:off x="721420" y="6363006"/>
            <a:ext cx="10749160" cy="135293"/>
          </a:xfrm>
          <a:prstGeom prst="rect">
            <a:avLst/>
          </a:prstGeom>
          <a:noFill/>
        </p:spPr>
        <p:txBody>
          <a:bodyPr wrap="none" anchor="t" lIns="0" rIns="0" tIns="0" bIns="0">
            <a:noAutofit/>
          </a:bodyPr>
          <a:lstStyle/>
          <a:p>
            <a:pPr algn="r"/>
            <a:r>
              <a:rPr sz="850" b="0" i="0">
                <a:solidFill>
                  <a:srgbClr val="7A8A85"/>
                </a:solidFill>
              </a:rPr>
              <a:t>talk/JSDP_P25_talk.pdf, slide 7</a:t>
            </a:r>
          </a:p>
        </p:txBody>
      </p:sp>
      <p:sp>
        <p:nvSpPr>
          <p:cNvPr id="10" name="TextBox 9"/>
          <p:cNvSpPr txBox="1"/>
          <p:nvPr/>
        </p:nvSpPr>
        <p:spPr>
          <a:xfrm>
            <a:off x="721420" y="5955632"/>
            <a:ext cx="10749160" cy="360947"/>
          </a:xfrm>
          <a:prstGeom prst="rect">
            <a:avLst/>
          </a:prstGeom>
          <a:noFill/>
        </p:spPr>
        <p:txBody>
          <a:bodyPr wrap="square" anchor="t" lIns="0" rIns="0" tIns="0" bIns="0">
            <a:noAutofit/>
          </a:bodyPr>
          <a:lstStyle/>
          <a:p>
            <a:pPr algn="l">
              <a:lnSpc>
                <a:spcPts val="1250"/>
              </a:lnSpc>
              <a:spcBef>
                <a:spcPts val="0"/>
              </a:spcBef>
              <a:spcAft>
                <a:spcPts val="0"/>
              </a:spcAft>
            </a:pPr>
            <a:r>
              <a:rPr sz="950" b="0" i="1">
                <a:solidFill>
                  <a:schemeClr val="accent1"/>
                </a:solidFill>
              </a:rPr>
              <a:t>In plain words: the rarer a gene is in the data, the bigger its apparent effect tends to be (rho -0.60), so the size of an effect alone is not evidence.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chemeClr val="bg2"/>
        </a:solidFill>
        <a:effectLst/>
      </p:bgPr>
    </p:bg>
    <p:spTree>
      <p:nvGrpSpPr>
        <p:cNvPr id="1" name=""/>
        <p:cNvGrpSpPr/>
        <p:nvPr/>
      </p:nvGrpSpPr>
      <p:grpSpPr/>
      <p:sp>
        <p:nvSpPr>
          <p:cNvPr id="2" name="Title 1"/>
          <p:cNvSpPr>
            <a:spLocks noGrp="1"/>
          </p:cNvSpPr>
          <p:nvPr>
            <p:ph type="title"/>
          </p:nvPr>
        </p:nvSpPr>
        <p:spPr>
          <a:xfrm>
            <a:off x="721420" y="1588168"/>
            <a:ext cx="10749160" cy="794565"/>
          </a:xfrm>
        </p:spPr>
        <p:txBody>
          <a:bodyPr wrap="square" anchor="t" lIns="0" rIns="0" tIns="0" bIns="0">
            <a:noAutofit/>
          </a:bodyPr>
          <a:lstStyle/>
          <a:p>
            <a:pPr algn="l">
              <a:lnSpc>
                <a:spcPts val="2783"/>
              </a:lnSpc>
              <a:spcBef>
                <a:spcPts val="0"/>
              </a:spcBef>
              <a:spcAft>
                <a:spcPts val="300"/>
              </a:spcAft>
            </a:pPr>
            <a:r>
              <a:rPr sz="2400" b="1" i="0">
                <a:solidFill>
                  <a:schemeClr val="tx1"/>
                </a:solidFill>
              </a:rPr>
              <a:t>The open question is now closed as null</a:t>
            </a:r>
          </a:p>
        </p:txBody>
      </p:sp>
      <p:sp>
        <p:nvSpPr>
          <p:cNvPr id="3" name="TextBox 2"/>
          <p:cNvSpPr txBox="1"/>
          <p:nvPr/>
        </p:nvSpPr>
        <p:spPr>
          <a:xfrm>
            <a:off x="721420" y="762560"/>
            <a:ext cx="10749160" cy="143251"/>
          </a:xfrm>
          <a:prstGeom prst="rect">
            <a:avLst/>
          </a:prstGeom>
          <a:noFill/>
        </p:spPr>
        <p:txBody>
          <a:bodyPr wrap="none" anchor="t" lIns="0" rIns="0" tIns="0" bIns="0">
            <a:noAutofit/>
          </a:bodyPr>
          <a:lstStyle/>
          <a:p>
            <a:pPr algn="l"/>
            <a:r>
              <a:rPr sz="900" b="1" i="0">
                <a:solidFill>
                  <a:schemeClr val="accent1"/>
                </a:solidFill>
                <a:latin typeface="Courier New"/>
              </a:rPr>
              <a:t>RESULTS · COMPLETING THE PENDING TEST</a:t>
            </a:r>
          </a:p>
        </p:txBody>
      </p:sp>
      <p:pic>
        <p:nvPicPr>
          <p:cNvPr id="4" name="Picture 3" descr="fig_t6_reversal.png"/>
          <p:cNvPicPr>
            <a:picLocks noChangeAspect="1"/>
          </p:cNvPicPr>
          <p:nvPr/>
        </p:nvPicPr>
        <p:blipFill>
          <a:blip r:embed="rId2"/>
          <a:stretch>
            <a:fillRect/>
          </a:stretch>
        </p:blipFill>
        <p:spPr>
          <a:xfrm>
            <a:off x="1373770" y="2526632"/>
            <a:ext cx="5729146" cy="2349923"/>
          </a:xfrm>
          <a:prstGeom prst="rect">
            <a:avLst/>
          </a:prstGeom>
        </p:spPr>
      </p:pic>
      <p:sp>
        <p:nvSpPr>
          <p:cNvPr id="5" name="TextBox 4"/>
          <p:cNvSpPr txBox="1"/>
          <p:nvPr/>
        </p:nvSpPr>
        <p:spPr>
          <a:xfrm>
            <a:off x="8043834" y="433137"/>
            <a:ext cx="3426746" cy="1732547"/>
          </a:xfrm>
          <a:prstGeom prst="rect">
            <a:avLst/>
          </a:prstGeom>
          <a:noFill/>
        </p:spPr>
        <p:txBody>
          <a:bodyPr wrap="square" anchor="t" lIns="0" rIns="0" tIns="0" bIns="0">
            <a:noAutofit/>
          </a:bodyPr>
          <a:lstStyle/>
          <a:p>
            <a:pPr algn="l">
              <a:lnSpc>
                <a:spcPts val="1700"/>
              </a:lnSpc>
              <a:spcBef>
                <a:spcPts val="0"/>
              </a:spcBef>
              <a:spcAft>
                <a:spcPts val="300"/>
              </a:spcAft>
            </a:pPr>
            <a:r>
              <a:rPr sz="1300" b="1" i="0">
                <a:solidFill>
                  <a:schemeClr val="accent1"/>
                </a:solidFill>
              </a:rPr>
              <a:t>Donor-level: no reversal</a:t>
            </a:r>
          </a:p>
          <a:p>
            <a:pPr algn="l">
              <a:lnSpc>
                <a:spcPts val="1360"/>
              </a:lnSpc>
              <a:spcBef>
                <a:spcPts val="0"/>
              </a:spcBef>
              <a:spcAft>
                <a:spcPts val="300"/>
              </a:spcAft>
            </a:pPr>
            <a:r>
              <a:rPr sz="980" b="0" i="0">
                <a:solidFill>
                  <a:srgbClr val="4A5A55"/>
                </a:solidFill>
              </a:rPr>
              <a:t>Complete population: SCLC 0.301 &gt; LUAD 0.244. Test-only: SCLC 0.321 &gt; LUAD 0.267. Two-sided </a:t>
            </a:r>
            <a:r>
              <a:rPr sz="980" b="1" i="0">
                <a:solidFill>
                  <a:srgbClr val="4A5A55"/>
                </a:solidFill>
              </a:rPr>
              <a:t>Monte Carlo</a:t>
            </a:r>
            <a:r>
              <a:rPr sz="980" b="0" i="0">
                <a:solidFill>
                  <a:srgbClr val="4A5A55"/>
                </a:solidFill>
              </a:rPr>
              <a:t> test, 100,000 replicates: p = 0.216, 19 vs. 22 donors. </a:t>
            </a:r>
            <a:r>
              <a:rPr sz="980" b="1" i="0">
                <a:solidFill>
                  <a:srgbClr val="4A5A55"/>
                </a:solidFill>
              </a:rPr>
              <a:t>Not significant.</a:t>
            </a:r>
          </a:p>
        </p:txBody>
      </p:sp>
      <p:sp>
        <p:nvSpPr>
          <p:cNvPr id="6" name="Rounded Rectangle 5"/>
          <p:cNvSpPr/>
          <p:nvPr/>
        </p:nvSpPr>
        <p:spPr>
          <a:xfrm>
            <a:off x="8043834" y="2598821"/>
            <a:ext cx="3426746" cy="2815389"/>
          </a:xfrm>
          <a:prstGeom prst="roundRect">
            <a:avLst>
              <a:gd name="adj" fmla="val 5128"/>
            </a:avLst>
          </a:prstGeom>
          <a:solidFill>
            <a:schemeClr val="accent5"/>
          </a:solidFill>
          <a:ln w="7620">
            <a:solidFill>
              <a:schemeClr val="accent5"/>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 name="TextBox 6"/>
          <p:cNvSpPr txBox="1"/>
          <p:nvPr/>
        </p:nvSpPr>
        <p:spPr>
          <a:xfrm>
            <a:off x="8332402" y="2743200"/>
            <a:ext cx="2849609" cy="2526632"/>
          </a:xfrm>
          <a:prstGeom prst="rect">
            <a:avLst/>
          </a:prstGeom>
          <a:noFill/>
        </p:spPr>
        <p:txBody>
          <a:bodyPr wrap="square" anchor="t" lIns="0" rIns="0" tIns="0" bIns="0">
            <a:noAutofit/>
          </a:bodyPr>
          <a:lstStyle/>
          <a:p>
            <a:pPr algn="l">
              <a:lnSpc>
                <a:spcPts val="1500"/>
              </a:lnSpc>
              <a:spcBef>
                <a:spcPts val="0"/>
              </a:spcBef>
              <a:spcAft>
                <a:spcPts val="300"/>
              </a:spcAft>
            </a:pPr>
            <a:r>
              <a:rPr sz="1150" b="1" i="0">
                <a:solidFill>
                  <a:schemeClr val="accent1"/>
                </a:solidFill>
              </a:rPr>
              <a:t>PleuralEffusion: one genuine donor</a:t>
            </a:r>
          </a:p>
          <a:p>
            <a:pPr algn="l">
              <a:lnSpc>
                <a:spcPts val="1320"/>
              </a:lnSpc>
              <a:spcBef>
                <a:spcPts val="0"/>
              </a:spcBef>
              <a:spcAft>
                <a:spcPts val="300"/>
              </a:spcAft>
            </a:pPr>
            <a:r>
              <a:rPr sz="940" b="0" i="0">
                <a:solidFill>
                  <a:schemeClr val="tx2"/>
                </a:solidFill>
              </a:rPr>
              <a:t>Carries 74.9% of test-only SCLC cells. </a:t>
            </a:r>
            <a:r>
              <a:rPr sz="940" b="0" i="0">
                <a:solidFill>
                  <a:schemeClr val="tx2"/>
                </a:solidFill>
                <a:latin typeface="Courier New"/>
              </a:rPr>
              <a:t>HTAN_Participant_ID</a:t>
            </a:r>
            <a:r>
              <a:rPr sz="940" b="0" i="0">
                <a:solidFill>
                  <a:schemeClr val="tx2"/>
                </a:solidFill>
              </a:rPr>
              <a:t> confirms exactly one participant (</a:t>
            </a:r>
            <a:r>
              <a:rPr sz="940" b="0" i="0">
                <a:solidFill>
                  <a:schemeClr val="tx2"/>
                </a:solidFill>
                <a:latin typeface="Courier New"/>
              </a:rPr>
              <a:t>HTA8_2001</a:t>
            </a:r>
            <a:r>
              <a:rPr sz="940" b="0" i="0">
                <a:solidFill>
                  <a:schemeClr val="tx2"/>
                </a:solidFill>
              </a:rPr>
              <a:t>), not several merged (METHODS.md, lines 29-32).</a:t>
            </a:r>
          </a:p>
          <a:p>
            <a:pPr algn="l">
              <a:lnSpc>
                <a:spcPts val="1300"/>
              </a:lnSpc>
              <a:spcBef>
                <a:spcPts val="0"/>
              </a:spcBef>
              <a:spcAft>
                <a:spcPts val="300"/>
              </a:spcAft>
            </a:pPr>
            <a:r>
              <a:rPr sz="919" b="0" i="0">
                <a:solidFill>
                  <a:schemeClr val="tx2"/>
                </a:solidFill>
              </a:rPr>
              <a:t>A separate, </a:t>
            </a:r>
            <a:r>
              <a:rPr sz="919" b="1" i="0">
                <a:solidFill>
                  <a:schemeClr val="tx2"/>
                </a:solidFill>
              </a:rPr>
              <a:t>exact-enumeration</a:t>
            </a:r>
            <a:r>
              <a:rPr sz="919" b="0" i="0">
                <a:solidFill>
                  <a:schemeClr val="tx2"/>
                </a:solidFill>
              </a:rPr>
              <a:t> test on the 3-vs-4-donor test-only slice: only 35 label assignments exist; the smallest attainable two-sided p is 0.0571 (2/35) — that design cannot reach significance regardless of the true effect.</a:t>
            </a:r>
          </a:p>
        </p:txBody>
      </p:sp>
      <p:sp>
        <p:nvSpPr>
          <p:cNvPr id="8" name="TextBox 7"/>
          <p:cNvSpPr txBox="1"/>
          <p:nvPr/>
        </p:nvSpPr>
        <p:spPr>
          <a:xfrm>
            <a:off x="721420" y="6363006"/>
            <a:ext cx="10749160" cy="135293"/>
          </a:xfrm>
          <a:prstGeom prst="rect">
            <a:avLst/>
          </a:prstGeom>
          <a:noFill/>
        </p:spPr>
        <p:txBody>
          <a:bodyPr wrap="none" anchor="t" lIns="0" rIns="0" tIns="0" bIns="0">
            <a:noAutofit/>
          </a:bodyPr>
          <a:lstStyle/>
          <a:p>
            <a:pPr algn="l"/>
            <a:r>
              <a:rPr sz="850" b="0" i="0">
                <a:solidFill>
                  <a:srgbClr val="7A8A85"/>
                </a:solidFill>
                <a:latin typeface="Courier New"/>
              </a:rPr>
              <a:t>14 / 26</a:t>
            </a:r>
          </a:p>
        </p:txBody>
      </p:sp>
      <p:sp>
        <p:nvSpPr>
          <p:cNvPr id="9" name="TextBox 8"/>
          <p:cNvSpPr txBox="1"/>
          <p:nvPr/>
        </p:nvSpPr>
        <p:spPr>
          <a:xfrm>
            <a:off x="721420" y="6363006"/>
            <a:ext cx="10749160" cy="135293"/>
          </a:xfrm>
          <a:prstGeom prst="rect">
            <a:avLst/>
          </a:prstGeom>
          <a:noFill/>
        </p:spPr>
        <p:txBody>
          <a:bodyPr wrap="none" anchor="t" lIns="0" rIns="0" tIns="0" bIns="0">
            <a:noAutofit/>
          </a:bodyPr>
          <a:lstStyle/>
          <a:p>
            <a:pPr algn="r"/>
            <a:r>
              <a:rPr sz="850" b="0" i="0">
                <a:solidFill>
                  <a:srgbClr val="7A8A85"/>
                </a:solidFill>
              </a:rPr>
              <a:t>t6_weighting_reconciliation.csv, t6_permutation_tests.csv @ 9ec518c</a:t>
            </a:r>
          </a:p>
        </p:txBody>
      </p:sp>
      <p:sp>
        <p:nvSpPr>
          <p:cNvPr id="10" name="TextBox 9"/>
          <p:cNvSpPr txBox="1"/>
          <p:nvPr/>
        </p:nvSpPr>
        <p:spPr>
          <a:xfrm>
            <a:off x="721420" y="5919537"/>
            <a:ext cx="10749160" cy="397042"/>
          </a:xfrm>
          <a:prstGeom prst="rect">
            <a:avLst/>
          </a:prstGeom>
          <a:noFill/>
        </p:spPr>
        <p:txBody>
          <a:bodyPr wrap="square" anchor="t" lIns="0" rIns="0" tIns="0" bIns="0">
            <a:noAutofit/>
          </a:bodyPr>
          <a:lstStyle/>
          <a:p>
            <a:pPr algn="l">
              <a:lnSpc>
                <a:spcPts val="1250"/>
              </a:lnSpc>
              <a:spcBef>
                <a:spcPts val="0"/>
              </a:spcBef>
              <a:spcAft>
                <a:spcPts val="0"/>
              </a:spcAft>
            </a:pPr>
            <a:r>
              <a:rPr sz="950" b="0" i="1">
                <a:solidFill>
                  <a:schemeClr val="accent1"/>
                </a:solidFill>
              </a:rPr>
              <a:t>In plain words: counting each person once instead of each cell, SCLC and LUAD T cells do not differ significantly on this axis (p = 0.216); one donor had supplied most of the test-only SCLC cells.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chemeClr val="bg2"/>
        </a:solidFill>
        <a:effectLst/>
      </p:bgPr>
    </p:bg>
    <p:spTree>
      <p:nvGrpSpPr>
        <p:cNvPr id="1" name=""/>
        <p:cNvGrpSpPr/>
        <p:nvPr/>
      </p:nvGrpSpPr>
      <p:grpSpPr/>
      <p:sp>
        <p:nvSpPr>
          <p:cNvPr id="2" name="Title 1"/>
          <p:cNvSpPr>
            <a:spLocks noGrp="1"/>
          </p:cNvSpPr>
          <p:nvPr>
            <p:ph type="title"/>
          </p:nvPr>
        </p:nvSpPr>
        <p:spPr>
          <a:xfrm>
            <a:off x="721420" y="1155032"/>
            <a:ext cx="5482793" cy="662138"/>
          </a:xfrm>
        </p:spPr>
        <p:txBody>
          <a:bodyPr wrap="square" anchor="t" lIns="0" rIns="0" tIns="0" bIns="0">
            <a:noAutofit/>
          </a:bodyPr>
          <a:lstStyle/>
          <a:p>
            <a:pPr algn="l">
              <a:lnSpc>
                <a:spcPts val="2320"/>
              </a:lnSpc>
              <a:spcBef>
                <a:spcPts val="0"/>
              </a:spcBef>
              <a:spcAft>
                <a:spcPts val="300"/>
              </a:spcAft>
            </a:pPr>
            <a:r>
              <a:rPr sz="2000" b="1" i="0">
                <a:solidFill>
                  <a:schemeClr val="tx1"/>
                </a:solidFill>
              </a:rPr>
              <a:t>S100A8 and S100A9: an overwhelming FDR, and no concordance at all</a:t>
            </a:r>
          </a:p>
        </p:txBody>
      </p:sp>
      <p:sp>
        <p:nvSpPr>
          <p:cNvPr id="3" name="TextBox 2"/>
          <p:cNvSpPr txBox="1"/>
          <p:nvPr/>
        </p:nvSpPr>
        <p:spPr>
          <a:xfrm>
            <a:off x="721420" y="690370"/>
            <a:ext cx="10749160" cy="143251"/>
          </a:xfrm>
          <a:prstGeom prst="rect">
            <a:avLst/>
          </a:prstGeom>
          <a:noFill/>
        </p:spPr>
        <p:txBody>
          <a:bodyPr wrap="none" anchor="t" lIns="0" rIns="0" tIns="0" bIns="0">
            <a:noAutofit/>
          </a:bodyPr>
          <a:lstStyle/>
          <a:p>
            <a:pPr algn="l"/>
            <a:r>
              <a:rPr sz="900" b="1" i="0">
                <a:solidFill>
                  <a:schemeClr val="accent1"/>
                </a:solidFill>
                <a:latin typeface="Courier New"/>
              </a:rPr>
              <a:t>RESULTS · A LATER, EXPANDED SCREEN</a:t>
            </a:r>
          </a:p>
        </p:txBody>
      </p:sp>
      <p:pic>
        <p:nvPicPr>
          <p:cNvPr id="4" name="Picture 3" descr="fig_concordance.png"/>
          <p:cNvPicPr>
            <a:picLocks noChangeAspect="1"/>
          </p:cNvPicPr>
          <p:nvPr/>
        </p:nvPicPr>
        <p:blipFill>
          <a:blip r:embed="rId2"/>
          <a:stretch>
            <a:fillRect/>
          </a:stretch>
        </p:blipFill>
        <p:spPr>
          <a:xfrm>
            <a:off x="1502959" y="2526632"/>
            <a:ext cx="3847574" cy="2887579"/>
          </a:xfrm>
          <a:prstGeom prst="rect">
            <a:avLst/>
          </a:prstGeom>
        </p:spPr>
      </p:pic>
      <p:sp>
        <p:nvSpPr>
          <p:cNvPr id="5" name="TextBox 4"/>
          <p:cNvSpPr txBox="1"/>
          <p:nvPr/>
        </p:nvSpPr>
        <p:spPr>
          <a:xfrm>
            <a:off x="6420639" y="2526632"/>
            <a:ext cx="5049941" cy="1010653"/>
          </a:xfrm>
          <a:prstGeom prst="rect">
            <a:avLst/>
          </a:prstGeom>
          <a:noFill/>
        </p:spPr>
        <p:txBody>
          <a:bodyPr wrap="square" anchor="t" lIns="0" rIns="0" tIns="0" bIns="0">
            <a:noAutofit/>
          </a:bodyPr>
          <a:lstStyle/>
          <a:p>
            <a:pPr algn="l">
              <a:lnSpc>
                <a:spcPts val="1600"/>
              </a:lnSpc>
              <a:spcBef>
                <a:spcPts val="0"/>
              </a:spcBef>
              <a:spcAft>
                <a:spcPts val="300"/>
              </a:spcAft>
            </a:pPr>
            <a:r>
              <a:rPr sz="1300" b="1" i="0">
                <a:solidFill>
                  <a:schemeClr val="accent2"/>
                </a:solidFill>
              </a:rPr>
              <a:t>9 of 12 rows same-sign; 0 of 6 comparisons concordant</a:t>
            </a:r>
          </a:p>
          <a:p>
            <a:pPr algn="l">
              <a:lnSpc>
                <a:spcPts val="1260"/>
              </a:lnSpc>
              <a:spcBef>
                <a:spcPts val="0"/>
              </a:spcBef>
              <a:spcAft>
                <a:spcPts val="300"/>
              </a:spcAft>
            </a:pPr>
            <a:r>
              <a:rPr sz="900" b="0" i="0">
                <a:solidFill>
                  <a:srgbClr val="4A5A55"/>
                </a:solidFill>
              </a:rPr>
              <a:t>Example: S100A8, LUAD→SCLC deletion — FDR = 1.45e-224, N = 713 detections, shift = +0.0255. </a:t>
            </a:r>
            <a:r>
              <a:rPr sz="900" b="1" i="0">
                <a:solidFill>
                  <a:srgbClr val="4A5A55"/>
                </a:solidFill>
              </a:rPr>
              <a:t>The FDR is a certainty claim, not a size claim</a:t>
            </a:r>
            <a:r>
              <a:rPr sz="900" b="0" i="0">
                <a:solidFill>
                  <a:srgbClr val="4A5A55"/>
                </a:solidFill>
              </a:rPr>
              <a:t> — it says nothing about direction. First appearance of these two genes in this deck: caveated from the start, not a later correction.</a:t>
            </a:r>
          </a:p>
        </p:txBody>
      </p:sp>
      <p:sp>
        <p:nvSpPr>
          <p:cNvPr id="6" name="Rounded Rectangle 5"/>
          <p:cNvSpPr/>
          <p:nvPr/>
        </p:nvSpPr>
        <p:spPr>
          <a:xfrm>
            <a:off x="6420639" y="3681663"/>
            <a:ext cx="5049941" cy="1732547"/>
          </a:xfrm>
          <a:prstGeom prst="roundRect">
            <a:avLst>
              <a:gd name="adj" fmla="val 8333"/>
            </a:avLst>
          </a:prstGeom>
          <a:solidFill>
            <a:schemeClr val="accent5"/>
          </a:solidFill>
          <a:ln w="7620">
            <a:solidFill>
              <a:schemeClr val="accent5"/>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 name="TextBox 6"/>
          <p:cNvSpPr txBox="1"/>
          <p:nvPr/>
        </p:nvSpPr>
        <p:spPr>
          <a:xfrm>
            <a:off x="6709207" y="3789947"/>
            <a:ext cx="4472805" cy="1515979"/>
          </a:xfrm>
          <a:prstGeom prst="rect">
            <a:avLst/>
          </a:prstGeom>
          <a:noFill/>
        </p:spPr>
        <p:txBody>
          <a:bodyPr wrap="square" anchor="t" lIns="0" rIns="0" tIns="0" bIns="0">
            <a:noAutofit/>
          </a:bodyPr>
          <a:lstStyle/>
          <a:p>
            <a:pPr algn="l">
              <a:lnSpc>
                <a:spcPts val="1400"/>
              </a:lnSpc>
              <a:spcBef>
                <a:spcPts val="0"/>
              </a:spcBef>
              <a:spcAft>
                <a:spcPts val="300"/>
              </a:spcAft>
            </a:pPr>
            <a:r>
              <a:rPr sz="1100" b="1" i="0">
                <a:solidFill>
                  <a:schemeClr val="accent1"/>
                </a:solidFill>
              </a:rPr>
              <a:t>What the LUAD-normal and SCLC-normal rows can and cannot lean on</a:t>
            </a:r>
          </a:p>
          <a:p>
            <a:pPr algn="l">
              <a:lnSpc>
                <a:spcPts val="1260"/>
              </a:lnSpc>
              <a:spcBef>
                <a:spcPts val="0"/>
              </a:spcBef>
              <a:spcAft>
                <a:spcPts val="300"/>
              </a:spcAft>
            </a:pPr>
            <a:r>
              <a:rPr sz="919" b="0" i="0">
                <a:solidFill>
                  <a:schemeClr val="tx2"/>
                </a:solidFill>
              </a:rPr>
              <a:t>Of 12 rows, 8 touch the normal class (4 comparisons). For luad↔normal, 3 of 4 normal donors are the </a:t>
            </a:r>
            <a:r>
              <a:rPr sz="919" b="0" i="1">
                <a:solidFill>
                  <a:schemeClr val="tx2"/>
                </a:solidFill>
              </a:rPr>
              <a:t>same patients</a:t>
            </a:r>
            <a:r>
              <a:rPr sz="919" b="0" i="0">
                <a:solidFill>
                  <a:schemeClr val="tx2"/>
                </a:solidFill>
              </a:rPr>
              <a:t> as 3 LUAD donors — real protection against a separate-cohort confound, though only 3 of 4. </a:t>
            </a:r>
            <a:r>
              <a:rPr sz="919" b="1" i="0">
                <a:solidFill>
                  <a:schemeClr val="tx2"/>
                </a:solidFill>
              </a:rPr>
              <a:t>No such pairing exists for sclc↔normal.</a:t>
            </a:r>
          </a:p>
        </p:txBody>
      </p:sp>
      <p:sp>
        <p:nvSpPr>
          <p:cNvPr id="8" name="TextBox 7"/>
          <p:cNvSpPr txBox="1"/>
          <p:nvPr/>
        </p:nvSpPr>
        <p:spPr>
          <a:xfrm>
            <a:off x="721420" y="6363006"/>
            <a:ext cx="10749160" cy="135293"/>
          </a:xfrm>
          <a:prstGeom prst="rect">
            <a:avLst/>
          </a:prstGeom>
          <a:noFill/>
        </p:spPr>
        <p:txBody>
          <a:bodyPr wrap="none" anchor="t" lIns="0" rIns="0" tIns="0" bIns="0">
            <a:noAutofit/>
          </a:bodyPr>
          <a:lstStyle/>
          <a:p>
            <a:pPr algn="l"/>
            <a:r>
              <a:rPr sz="850" b="0" i="0">
                <a:solidFill>
                  <a:srgbClr val="7A8A85"/>
                </a:solidFill>
                <a:latin typeface="Courier New"/>
              </a:rPr>
              <a:t>15 / 26</a:t>
            </a:r>
          </a:p>
        </p:txBody>
      </p:sp>
      <p:sp>
        <p:nvSpPr>
          <p:cNvPr id="9" name="TextBox 8"/>
          <p:cNvSpPr txBox="1"/>
          <p:nvPr/>
        </p:nvSpPr>
        <p:spPr>
          <a:xfrm>
            <a:off x="721420" y="6363006"/>
            <a:ext cx="10749160" cy="135293"/>
          </a:xfrm>
          <a:prstGeom prst="rect">
            <a:avLst/>
          </a:prstGeom>
          <a:noFill/>
        </p:spPr>
        <p:txBody>
          <a:bodyPr wrap="none" anchor="t" lIns="0" rIns="0" tIns="0" bIns="0">
            <a:noAutofit/>
          </a:bodyPr>
          <a:lstStyle/>
          <a:p>
            <a:pPr algn="r"/>
            <a:r>
              <a:rPr sz="850" b="0" i="0">
                <a:solidFill>
                  <a:srgbClr val="7A8A85"/>
                </a:solidFill>
              </a:rPr>
              <a:t>isp_plausibility_top_candidates.csv @ b99365b</a:t>
            </a:r>
          </a:p>
        </p:txBody>
      </p:sp>
      <p:sp>
        <p:nvSpPr>
          <p:cNvPr id="10" name="TextBox 9"/>
          <p:cNvSpPr txBox="1"/>
          <p:nvPr/>
        </p:nvSpPr>
        <p:spPr>
          <a:xfrm>
            <a:off x="721420" y="5919537"/>
            <a:ext cx="10749160" cy="397042"/>
          </a:xfrm>
          <a:prstGeom prst="rect">
            <a:avLst/>
          </a:prstGeom>
          <a:noFill/>
        </p:spPr>
        <p:txBody>
          <a:bodyPr wrap="square" anchor="t" lIns="0" rIns="0" tIns="0" bIns="0">
            <a:noAutofit/>
          </a:bodyPr>
          <a:lstStyle/>
          <a:p>
            <a:pPr algn="l">
              <a:lnSpc>
                <a:spcPts val="1250"/>
              </a:lnSpc>
              <a:spcBef>
                <a:spcPts val="0"/>
              </a:spcBef>
              <a:spcAft>
                <a:spcPts val="0"/>
              </a:spcAft>
            </a:pPr>
            <a:r>
              <a:rPr sz="950" b="0" i="1">
                <a:solidFill>
                  <a:schemeClr val="accent1"/>
                </a:solidFill>
              </a:rPr>
              <a:t>In plain words: an FDR of 1.45e-224 says the shift is almost certainly not chance, not that it is large or meaningful; S100A8/S100A9 still fail the both-directions test in all 6 comparisons.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chemeClr val="tx1"/>
        </a:solidFill>
        <a:effectLst/>
      </p:bgPr>
    </p:bg>
    <p:spTree>
      <p:nvGrpSpPr>
        <p:cNvPr id="1" name=""/>
        <p:cNvGrpSpPr/>
        <p:nvPr/>
      </p:nvGrpSpPr>
      <p:grpSpPr/>
      <p:sp>
        <p:nvSpPr>
          <p:cNvPr id="2" name="Title 1"/>
          <p:cNvSpPr>
            <a:spLocks noGrp="1"/>
          </p:cNvSpPr>
          <p:nvPr>
            <p:ph type="title"/>
          </p:nvPr>
        </p:nvSpPr>
        <p:spPr>
          <a:xfrm>
            <a:off x="721420" y="1443789"/>
            <a:ext cx="5482793" cy="662138"/>
          </a:xfrm>
        </p:spPr>
        <p:txBody>
          <a:bodyPr wrap="square" anchor="t" lIns="0" rIns="0" tIns="0" bIns="0">
            <a:noAutofit/>
          </a:bodyPr>
          <a:lstStyle/>
          <a:p>
            <a:pPr algn="l">
              <a:lnSpc>
                <a:spcPts val="2320"/>
              </a:lnSpc>
              <a:spcBef>
                <a:spcPts val="0"/>
              </a:spcBef>
              <a:spcAft>
                <a:spcPts val="300"/>
              </a:spcAft>
            </a:pPr>
            <a:r>
              <a:rPr sz="2000" b="1" i="0">
                <a:solidFill>
                  <a:schemeClr val="accent6"/>
                </a:solidFill>
              </a:rPr>
              <a:t>Half the top 120 is ambient-flagged or a curated ambient anchor</a:t>
            </a:r>
          </a:p>
        </p:txBody>
      </p:sp>
      <p:sp>
        <p:nvSpPr>
          <p:cNvPr id="3" name="TextBox 2"/>
          <p:cNvSpPr txBox="1"/>
          <p:nvPr/>
        </p:nvSpPr>
        <p:spPr>
          <a:xfrm>
            <a:off x="721420" y="690370"/>
            <a:ext cx="10749160" cy="143251"/>
          </a:xfrm>
          <a:prstGeom prst="rect">
            <a:avLst/>
          </a:prstGeom>
          <a:noFill/>
        </p:spPr>
        <p:txBody>
          <a:bodyPr wrap="none" anchor="t" lIns="0" rIns="0" tIns="0" bIns="0">
            <a:noAutofit/>
          </a:bodyPr>
          <a:lstStyle/>
          <a:p>
            <a:pPr algn="l"/>
            <a:r>
              <a:rPr sz="900" b="1" i="0">
                <a:solidFill>
                  <a:schemeClr val="accent3"/>
                </a:solidFill>
                <a:latin typeface="Courier New"/>
              </a:rPr>
              <a:t>RESULTS · SCREEN-LEVEL AMBIENT AUDIT</a:t>
            </a:r>
          </a:p>
        </p:txBody>
      </p:sp>
      <p:pic>
        <p:nvPicPr>
          <p:cNvPr id="4" name="Picture 3" descr="fig_ambient_breakdown.png"/>
          <p:cNvPicPr>
            <a:picLocks noChangeAspect="1"/>
          </p:cNvPicPr>
          <p:nvPr/>
        </p:nvPicPr>
        <p:blipFill>
          <a:blip r:embed="rId2"/>
          <a:stretch>
            <a:fillRect/>
          </a:stretch>
        </p:blipFill>
        <p:spPr>
          <a:xfrm>
            <a:off x="1222450" y="2598821"/>
            <a:ext cx="4408591" cy="2815389"/>
          </a:xfrm>
          <a:prstGeom prst="rect">
            <a:avLst/>
          </a:prstGeom>
        </p:spPr>
      </p:pic>
      <p:sp>
        <p:nvSpPr>
          <p:cNvPr id="5" name="Rounded Rectangle 4"/>
          <p:cNvSpPr/>
          <p:nvPr/>
        </p:nvSpPr>
        <p:spPr>
          <a:xfrm>
            <a:off x="6420639" y="1660358"/>
            <a:ext cx="5049941" cy="1082842"/>
          </a:xfrm>
          <a:prstGeom prst="roundRect">
            <a:avLst>
              <a:gd name="adj" fmla="val 13333"/>
            </a:avLst>
          </a:prstGeom>
          <a:solidFill>
            <a:srgbClr val="2A201B"/>
          </a:solidFill>
          <a:ln w="7620">
            <a:solidFill>
              <a:srgbClr val="2A201B"/>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 name="TextBox 5"/>
          <p:cNvSpPr txBox="1"/>
          <p:nvPr/>
        </p:nvSpPr>
        <p:spPr>
          <a:xfrm>
            <a:off x="6637065" y="1804737"/>
            <a:ext cx="4617089" cy="794084"/>
          </a:xfrm>
          <a:prstGeom prst="rect">
            <a:avLst/>
          </a:prstGeom>
          <a:noFill/>
        </p:spPr>
        <p:txBody>
          <a:bodyPr wrap="square" anchor="t" lIns="0" rIns="0" tIns="0" bIns="0">
            <a:noAutofit/>
          </a:bodyPr>
          <a:lstStyle/>
          <a:p>
            <a:pPr algn="l">
              <a:lnSpc>
                <a:spcPts val="2300"/>
              </a:lnSpc>
              <a:spcBef>
                <a:spcPts val="0"/>
              </a:spcBef>
              <a:spcAft>
                <a:spcPts val="300"/>
              </a:spcAft>
            </a:pPr>
            <a:r>
              <a:rPr sz="1900" b="1" i="0">
                <a:solidFill>
                  <a:schemeClr val="accent3"/>
                </a:solidFill>
                <a:latin typeface="Courier New"/>
              </a:rPr>
              <a:t>60/120</a:t>
            </a:r>
          </a:p>
          <a:p>
            <a:pPr algn="l">
              <a:lnSpc>
                <a:spcPts val="1090"/>
              </a:lnSpc>
              <a:spcBef>
                <a:spcPts val="0"/>
              </a:spcBef>
              <a:spcAft>
                <a:spcPts val="300"/>
              </a:spcAft>
            </a:pPr>
            <a:r>
              <a:rPr sz="810" b="0" i="0">
                <a:solidFill>
                  <a:srgbClr val="D6C7BE"/>
                </a:solidFill>
              </a:rPr>
              <a:t>rows are ambient-flagged, a curated ambient anchor, or both: 31 flagged-only, 5 anchor-only, 24 both — a real partition of the 120, not two overlapping counts added together</a:t>
            </a:r>
          </a:p>
        </p:txBody>
      </p:sp>
      <p:sp>
        <p:nvSpPr>
          <p:cNvPr id="7" name="Rounded Rectangle 6"/>
          <p:cNvSpPr/>
          <p:nvPr/>
        </p:nvSpPr>
        <p:spPr>
          <a:xfrm>
            <a:off x="6420639" y="2959768"/>
            <a:ext cx="5049941" cy="1082842"/>
          </a:xfrm>
          <a:prstGeom prst="roundRect">
            <a:avLst>
              <a:gd name="adj" fmla="val 13333"/>
            </a:avLst>
          </a:prstGeom>
          <a:solidFill>
            <a:srgbClr val="2A201B"/>
          </a:solidFill>
          <a:ln w="7620">
            <a:solidFill>
              <a:srgbClr val="2A201B"/>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8" name="TextBox 7"/>
          <p:cNvSpPr txBox="1"/>
          <p:nvPr/>
        </p:nvSpPr>
        <p:spPr>
          <a:xfrm>
            <a:off x="6637065" y="3104147"/>
            <a:ext cx="4617089" cy="794084"/>
          </a:xfrm>
          <a:prstGeom prst="rect">
            <a:avLst/>
          </a:prstGeom>
          <a:noFill/>
        </p:spPr>
        <p:txBody>
          <a:bodyPr wrap="square" anchor="t" lIns="0" rIns="0" tIns="0" bIns="0">
            <a:noAutofit/>
          </a:bodyPr>
          <a:lstStyle/>
          <a:p>
            <a:pPr algn="l">
              <a:lnSpc>
                <a:spcPts val="2300"/>
              </a:lnSpc>
              <a:spcBef>
                <a:spcPts val="0"/>
              </a:spcBef>
              <a:spcAft>
                <a:spcPts val="300"/>
              </a:spcAft>
            </a:pPr>
            <a:r>
              <a:rPr sz="1900" b="1" i="0">
                <a:solidFill>
                  <a:schemeClr val="accent3"/>
                </a:solidFill>
                <a:latin typeface="Courier New"/>
              </a:rPr>
              <a:t>5/120</a:t>
            </a:r>
          </a:p>
          <a:p>
            <a:pPr algn="l">
              <a:lnSpc>
                <a:spcPts val="1090"/>
              </a:lnSpc>
              <a:spcBef>
                <a:spcPts val="0"/>
              </a:spcBef>
              <a:spcAft>
                <a:spcPts val="300"/>
              </a:spcAft>
            </a:pPr>
            <a:r>
              <a:rPr sz="810" b="0" i="0">
                <a:solidFill>
                  <a:srgbClr val="D6C7BE"/>
                </a:solidFill>
              </a:rPr>
              <a:t>rows are anchors below the flag threshold — mechanical, not a miss: the threshold is the anchors' own 25th percentile of risk, so some anchors falling under it is built in.</a:t>
            </a:r>
          </a:p>
        </p:txBody>
      </p:sp>
      <p:sp>
        <p:nvSpPr>
          <p:cNvPr id="9" name="Rounded Rectangle 8"/>
          <p:cNvSpPr/>
          <p:nvPr/>
        </p:nvSpPr>
        <p:spPr>
          <a:xfrm>
            <a:off x="6420639" y="4259179"/>
            <a:ext cx="5049941" cy="1082842"/>
          </a:xfrm>
          <a:prstGeom prst="roundRect">
            <a:avLst>
              <a:gd name="adj" fmla="val 13333"/>
            </a:avLst>
          </a:prstGeom>
          <a:solidFill>
            <a:srgbClr val="2A201B"/>
          </a:solidFill>
          <a:ln w="7620">
            <a:solidFill>
              <a:srgbClr val="2A201B"/>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0" name="TextBox 9"/>
          <p:cNvSpPr txBox="1"/>
          <p:nvPr/>
        </p:nvSpPr>
        <p:spPr>
          <a:xfrm>
            <a:off x="6637065" y="4403558"/>
            <a:ext cx="4617089" cy="794084"/>
          </a:xfrm>
          <a:prstGeom prst="rect">
            <a:avLst/>
          </a:prstGeom>
          <a:noFill/>
        </p:spPr>
        <p:txBody>
          <a:bodyPr wrap="square" anchor="t" lIns="0" rIns="0" tIns="0" bIns="0">
            <a:noAutofit/>
          </a:bodyPr>
          <a:lstStyle/>
          <a:p>
            <a:pPr algn="l">
              <a:lnSpc>
                <a:spcPts val="2300"/>
              </a:lnSpc>
              <a:spcBef>
                <a:spcPts val="0"/>
              </a:spcBef>
              <a:spcAft>
                <a:spcPts val="300"/>
              </a:spcAft>
            </a:pPr>
            <a:r>
              <a:rPr sz="1900" b="1" i="0">
                <a:solidFill>
                  <a:schemeClr val="accent3"/>
                </a:solidFill>
                <a:latin typeface="Courier New"/>
              </a:rPr>
              <a:t>0/36</a:t>
            </a:r>
          </a:p>
          <a:p>
            <a:pPr algn="l">
              <a:lnSpc>
                <a:spcPts val="1090"/>
              </a:lnSpc>
              <a:spcBef>
                <a:spcPts val="0"/>
              </a:spcBef>
              <a:spcAft>
                <a:spcPts val="300"/>
              </a:spcAft>
            </a:pPr>
            <a:r>
              <a:rPr sz="810" b="0" i="0">
                <a:solidFill>
                  <a:srgbClr val="D6C7BE"/>
                </a:solidFill>
              </a:rPr>
              <a:t>of the 36 curated T-cell-intrinsic anchor genes (a different denominator: the full curated list, not a row count) appear anywhere in the 120.</a:t>
            </a:r>
          </a:p>
        </p:txBody>
      </p:sp>
      <p:sp>
        <p:nvSpPr>
          <p:cNvPr id="11" name="TextBox 10"/>
          <p:cNvSpPr txBox="1"/>
          <p:nvPr/>
        </p:nvSpPr>
        <p:spPr>
          <a:xfrm>
            <a:off x="721420" y="6363006"/>
            <a:ext cx="10749160" cy="135293"/>
          </a:xfrm>
          <a:prstGeom prst="rect">
            <a:avLst/>
          </a:prstGeom>
          <a:noFill/>
        </p:spPr>
        <p:txBody>
          <a:bodyPr wrap="none" anchor="t" lIns="0" rIns="0" tIns="0" bIns="0">
            <a:noAutofit/>
          </a:bodyPr>
          <a:lstStyle/>
          <a:p>
            <a:pPr algn="l"/>
            <a:r>
              <a:rPr sz="850" b="0" i="0">
                <a:solidFill>
                  <a:srgbClr val="9A877C"/>
                </a:solidFill>
                <a:latin typeface="Courier New"/>
              </a:rPr>
              <a:t>16 / 26</a:t>
            </a:r>
          </a:p>
        </p:txBody>
      </p:sp>
      <p:sp>
        <p:nvSpPr>
          <p:cNvPr id="12" name="TextBox 11"/>
          <p:cNvSpPr txBox="1"/>
          <p:nvPr/>
        </p:nvSpPr>
        <p:spPr>
          <a:xfrm>
            <a:off x="721420" y="6363006"/>
            <a:ext cx="10749160" cy="135293"/>
          </a:xfrm>
          <a:prstGeom prst="rect">
            <a:avLst/>
          </a:prstGeom>
          <a:noFill/>
        </p:spPr>
        <p:txBody>
          <a:bodyPr wrap="none" anchor="t" lIns="0" rIns="0" tIns="0" bIns="0">
            <a:noAutofit/>
          </a:bodyPr>
          <a:lstStyle/>
          <a:p>
            <a:pPr algn="r"/>
            <a:r>
              <a:rPr sz="850" b="0" i="0">
                <a:solidFill>
                  <a:srgbClr val="9A877C"/>
                </a:solidFill>
              </a:rPr>
              <a:t>top_n_by_effect rows, ambient_risk_manifest.json @ b99365b</a:t>
            </a:r>
          </a:p>
        </p:txBody>
      </p:sp>
      <p:sp>
        <p:nvSpPr>
          <p:cNvPr id="13" name="TextBox 12"/>
          <p:cNvSpPr txBox="1"/>
          <p:nvPr/>
        </p:nvSpPr>
        <p:spPr>
          <a:xfrm>
            <a:off x="721420" y="5919537"/>
            <a:ext cx="10749160" cy="397042"/>
          </a:xfrm>
          <a:prstGeom prst="rect">
            <a:avLst/>
          </a:prstGeom>
          <a:noFill/>
        </p:spPr>
        <p:txBody>
          <a:bodyPr wrap="square" anchor="t" lIns="0" rIns="0" tIns="0" bIns="0">
            <a:noAutofit/>
          </a:bodyPr>
          <a:lstStyle/>
          <a:p>
            <a:pPr algn="l">
              <a:lnSpc>
                <a:spcPts val="1250"/>
              </a:lnSpc>
              <a:spcBef>
                <a:spcPts val="0"/>
              </a:spcBef>
              <a:spcAft>
                <a:spcPts val="0"/>
              </a:spcAft>
            </a:pPr>
            <a:r>
              <a:rPr sz="950" b="0" i="1">
                <a:solidFill>
                  <a:schemeClr val="accent3"/>
                </a:solidFill>
              </a:rPr>
              <a:t>In plain words: half of the 120 strongest hits carry a flag for possible contamination by RNA from other cells, or are known contaminant marker genes, so they need caution before being called T-cell biology.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chemeClr val="bg2"/>
        </a:solidFill>
        <a:effectLst/>
      </p:bgPr>
    </p:bg>
    <p:spTree>
      <p:nvGrpSpPr>
        <p:cNvPr id="1" name=""/>
        <p:cNvGrpSpPr/>
        <p:nvPr/>
      </p:nvGrpSpPr>
      <p:grpSpPr/>
      <p:sp>
        <p:nvSpPr>
          <p:cNvPr id="2" name="Title 1"/>
          <p:cNvSpPr>
            <a:spLocks noGrp="1"/>
          </p:cNvSpPr>
          <p:nvPr>
            <p:ph type="title"/>
          </p:nvPr>
        </p:nvSpPr>
        <p:spPr>
          <a:xfrm>
            <a:off x="721420" y="1371600"/>
            <a:ext cx="10749160" cy="794565"/>
          </a:xfrm>
        </p:spPr>
        <p:txBody>
          <a:bodyPr wrap="square" anchor="t" lIns="0" rIns="0" tIns="0" bIns="0">
            <a:noAutofit/>
          </a:bodyPr>
          <a:lstStyle/>
          <a:p>
            <a:pPr algn="l">
              <a:lnSpc>
                <a:spcPts val="2783"/>
              </a:lnSpc>
              <a:spcBef>
                <a:spcPts val="0"/>
              </a:spcBef>
              <a:spcAft>
                <a:spcPts val="300"/>
              </a:spcAft>
            </a:pPr>
            <a:r>
              <a:rPr sz="2400" b="1" i="0">
                <a:solidFill>
                  <a:schemeClr val="tx1"/>
                </a:solidFill>
              </a:rPr>
              <a:t>One candidate survives every check</a:t>
            </a:r>
          </a:p>
        </p:txBody>
      </p:sp>
      <p:sp>
        <p:nvSpPr>
          <p:cNvPr id="3" name="TextBox 2"/>
          <p:cNvSpPr txBox="1"/>
          <p:nvPr/>
        </p:nvSpPr>
        <p:spPr>
          <a:xfrm>
            <a:off x="721420" y="762560"/>
            <a:ext cx="10749160" cy="143251"/>
          </a:xfrm>
          <a:prstGeom prst="rect">
            <a:avLst/>
          </a:prstGeom>
          <a:noFill/>
        </p:spPr>
        <p:txBody>
          <a:bodyPr wrap="none" anchor="t" lIns="0" rIns="0" tIns="0" bIns="0">
            <a:noAutofit/>
          </a:bodyPr>
          <a:lstStyle/>
          <a:p>
            <a:pPr algn="l"/>
            <a:r>
              <a:rPr sz="900" b="1" i="0">
                <a:solidFill>
                  <a:schemeClr val="accent1"/>
                </a:solidFill>
                <a:latin typeface="Courier New"/>
              </a:rPr>
              <a:t>RESULTS · NOT A NULL STUDY</a:t>
            </a:r>
          </a:p>
        </p:txBody>
      </p:sp>
      <p:sp>
        <p:nvSpPr>
          <p:cNvPr id="4" name="Rounded Rectangle 3"/>
          <p:cNvSpPr/>
          <p:nvPr/>
        </p:nvSpPr>
        <p:spPr>
          <a:xfrm>
            <a:off x="721420" y="2237874"/>
            <a:ext cx="10749160" cy="2021305"/>
          </a:xfrm>
          <a:prstGeom prst="roundRect">
            <a:avLst>
              <a:gd name="adj" fmla="val 7142"/>
            </a:avLst>
          </a:prstGeom>
          <a:solidFill>
            <a:schemeClr val="bg1"/>
          </a:solidFill>
          <a:ln w="7620">
            <a:solidFill>
              <a:srgbClr val="DCE3DF"/>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 name="Rounded Rectangle 4"/>
          <p:cNvSpPr/>
          <p:nvPr/>
        </p:nvSpPr>
        <p:spPr>
          <a:xfrm>
            <a:off x="721420" y="2237874"/>
            <a:ext cx="86570" cy="2021305"/>
          </a:xfrm>
          <a:prstGeom prst="roundRect">
            <a:avLst>
              <a:gd name="adj" fmla="val 50000"/>
            </a:avLst>
          </a:prstGeom>
          <a:solidFill>
            <a:schemeClr val="accent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 name="TextBox 5"/>
          <p:cNvSpPr txBox="1"/>
          <p:nvPr/>
        </p:nvSpPr>
        <p:spPr>
          <a:xfrm>
            <a:off x="1154272" y="2382253"/>
            <a:ext cx="9883456" cy="1588168"/>
          </a:xfrm>
          <a:prstGeom prst="rect">
            <a:avLst/>
          </a:prstGeom>
          <a:noFill/>
        </p:spPr>
        <p:txBody>
          <a:bodyPr wrap="square" anchor="t" lIns="0" rIns="0" tIns="0" bIns="0">
            <a:noAutofit/>
          </a:bodyPr>
          <a:lstStyle/>
          <a:p>
            <a:pPr algn="l">
              <a:lnSpc>
                <a:spcPts val="3000"/>
              </a:lnSpc>
              <a:spcBef>
                <a:spcPts val="0"/>
              </a:spcBef>
              <a:spcAft>
                <a:spcPts val="300"/>
              </a:spcAft>
            </a:pPr>
            <a:r>
              <a:rPr sz="2600" b="1" i="0">
                <a:solidFill>
                  <a:schemeClr val="accent1"/>
                </a:solidFill>
              </a:rPr>
              <a:t>NBEAL1</a:t>
            </a:r>
          </a:p>
          <a:p>
            <a:pPr algn="l">
              <a:lnSpc>
                <a:spcPts val="1800"/>
              </a:lnSpc>
              <a:spcBef>
                <a:spcPts val="0"/>
              </a:spcBef>
              <a:spcAft>
                <a:spcPts val="300"/>
              </a:spcAft>
            </a:pPr>
            <a:r>
              <a:rPr sz="1300" b="0" i="0">
                <a:solidFill>
                  <a:schemeClr val="tx1"/>
                </a:solidFill>
              </a:rPr>
              <a:t>5 of 5 comparisons concordant — every one it appears in — detected in 75.0% of cells.</a:t>
            </a:r>
          </a:p>
          <a:p>
            <a:pPr algn="l">
              <a:lnSpc>
                <a:spcPts val="1450"/>
              </a:lnSpc>
              <a:spcBef>
                <a:spcPts val="0"/>
              </a:spcBef>
              <a:spcAft>
                <a:spcPts val="300"/>
              </a:spcAft>
            </a:pPr>
            <a:r>
              <a:rPr sz="1050" b="0" i="0">
                <a:solidFill>
                  <a:srgbClr val="4A5A55"/>
                </a:solidFill>
              </a:rPr>
              <a:t>Passes the same concordance test that eliminates S100A8/S100A9, at a detection rate well above the ambient range flagged for those two. Does not make it a validated driver on its own — makes it the one candidate this screen has not been able to eliminate.</a:t>
            </a:r>
          </a:p>
        </p:txBody>
      </p:sp>
      <p:sp>
        <p:nvSpPr>
          <p:cNvPr id="7" name="TextBox 6"/>
          <p:cNvSpPr txBox="1"/>
          <p:nvPr/>
        </p:nvSpPr>
        <p:spPr>
          <a:xfrm>
            <a:off x="721420" y="5269832"/>
            <a:ext cx="10749160" cy="794084"/>
          </a:xfrm>
          <a:prstGeom prst="rect">
            <a:avLst/>
          </a:prstGeom>
          <a:noFill/>
        </p:spPr>
        <p:txBody>
          <a:bodyPr wrap="square" anchor="t" lIns="0" rIns="0" tIns="0" bIns="0">
            <a:noAutofit/>
          </a:bodyPr>
          <a:lstStyle/>
          <a:p>
            <a:pPr algn="l">
              <a:lnSpc>
                <a:spcPts val="1550"/>
              </a:lnSpc>
              <a:spcBef>
                <a:spcPts val="0"/>
              </a:spcBef>
              <a:spcAft>
                <a:spcPts val="300"/>
              </a:spcAft>
            </a:pPr>
            <a:r>
              <a:rPr sz="1150" b="0" i="0">
                <a:solidFill>
                  <a:srgbClr val="4A5A55"/>
                </a:solidFill>
              </a:rPr>
              <a:t>Not everything restored from the original screen fails, and the one thing that doesn't fail is more informative for having survived a real test.</a:t>
            </a:r>
          </a:p>
        </p:txBody>
      </p:sp>
      <p:sp>
        <p:nvSpPr>
          <p:cNvPr id="8" name="TextBox 7"/>
          <p:cNvSpPr txBox="1"/>
          <p:nvPr/>
        </p:nvSpPr>
        <p:spPr>
          <a:xfrm>
            <a:off x="721420" y="6363006"/>
            <a:ext cx="10749160" cy="135293"/>
          </a:xfrm>
          <a:prstGeom prst="rect">
            <a:avLst/>
          </a:prstGeom>
          <a:noFill/>
        </p:spPr>
        <p:txBody>
          <a:bodyPr wrap="none" anchor="t" lIns="0" rIns="0" tIns="0" bIns="0">
            <a:noAutofit/>
          </a:bodyPr>
          <a:lstStyle/>
          <a:p>
            <a:pPr algn="l"/>
            <a:r>
              <a:rPr sz="850" b="0" i="0">
                <a:solidFill>
                  <a:srgbClr val="7A8A85"/>
                </a:solidFill>
                <a:latin typeface="Courier New"/>
              </a:rPr>
              <a:t>17 / 26</a:t>
            </a:r>
          </a:p>
        </p:txBody>
      </p:sp>
      <p:sp>
        <p:nvSpPr>
          <p:cNvPr id="9" name="TextBox 8"/>
          <p:cNvSpPr txBox="1"/>
          <p:nvPr/>
        </p:nvSpPr>
        <p:spPr>
          <a:xfrm>
            <a:off x="721420" y="6363006"/>
            <a:ext cx="10749160" cy="135293"/>
          </a:xfrm>
          <a:prstGeom prst="rect">
            <a:avLst/>
          </a:prstGeom>
          <a:noFill/>
        </p:spPr>
        <p:txBody>
          <a:bodyPr wrap="none" anchor="t" lIns="0" rIns="0" tIns="0" bIns="0">
            <a:noAutofit/>
          </a:bodyPr>
          <a:lstStyle/>
          <a:p>
            <a:pPr algn="r"/>
            <a:r>
              <a:rPr sz="850" b="0" i="0">
                <a:solidFill>
                  <a:srgbClr val="7A8A85"/>
                </a:solidFill>
              </a:rPr>
              <a:t>isp_plausibility_top_candidates.csv @ b99365b</a:t>
            </a:r>
          </a:p>
        </p:txBody>
      </p:sp>
      <p:sp>
        <p:nvSpPr>
          <p:cNvPr id="10" name="TextBox 9"/>
          <p:cNvSpPr txBox="1"/>
          <p:nvPr/>
        </p:nvSpPr>
        <p:spPr>
          <a:xfrm>
            <a:off x="721420" y="5919537"/>
            <a:ext cx="10749160" cy="397042"/>
          </a:xfrm>
          <a:prstGeom prst="rect">
            <a:avLst/>
          </a:prstGeom>
          <a:noFill/>
        </p:spPr>
        <p:txBody>
          <a:bodyPr wrap="square" anchor="t" lIns="0" rIns="0" tIns="0" bIns="0">
            <a:noAutofit/>
          </a:bodyPr>
          <a:lstStyle/>
          <a:p>
            <a:pPr algn="l">
              <a:lnSpc>
                <a:spcPts val="1250"/>
              </a:lnSpc>
              <a:spcBef>
                <a:spcPts val="0"/>
              </a:spcBef>
              <a:spcAft>
                <a:spcPts val="0"/>
              </a:spcAft>
            </a:pPr>
            <a:r>
              <a:rPr sz="950" b="0" i="1">
                <a:solidFill>
                  <a:schemeClr val="accent1"/>
                </a:solidFill>
              </a:rPr>
              <a:t>In plain words: NBEAL1 passed the both-directions test in all 5 comparisons it appears in and is seen in 3 of every 4 cells, so it is not a rare-gene artefact; it is a candidate, not a proven driver.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chemeClr val="bg2"/>
        </a:solidFill>
        <a:effectLst/>
      </p:bgPr>
    </p:bg>
    <p:spTree>
      <p:nvGrpSpPr>
        <p:cNvPr id="1" name=""/>
        <p:cNvGrpSpPr/>
        <p:nvPr/>
      </p:nvGrpSpPr>
      <p:grpSpPr/>
      <p:sp>
        <p:nvSpPr>
          <p:cNvPr id="2" name="Title 1"/>
          <p:cNvSpPr>
            <a:spLocks noGrp="1"/>
          </p:cNvSpPr>
          <p:nvPr>
            <p:ph type="title"/>
          </p:nvPr>
        </p:nvSpPr>
        <p:spPr>
          <a:xfrm>
            <a:off x="721420" y="1515979"/>
            <a:ext cx="10460592" cy="695245"/>
          </a:xfrm>
        </p:spPr>
        <p:txBody>
          <a:bodyPr wrap="square" anchor="t" lIns="0" rIns="0" tIns="0" bIns="0">
            <a:noAutofit/>
          </a:bodyPr>
          <a:lstStyle/>
          <a:p>
            <a:pPr algn="l">
              <a:lnSpc>
                <a:spcPts val="2436"/>
              </a:lnSpc>
            </a:pPr>
            <a:r>
              <a:rPr sz="2100" b="1" i="0">
                <a:solidFill>
                  <a:schemeClr val="tx1"/>
                </a:solidFill>
              </a:rPr>
              <a:t>S100 genes did not beat their matched control genes</a:t>
            </a:r>
          </a:p>
        </p:txBody>
      </p:sp>
      <p:sp>
        <p:nvSpPr>
          <p:cNvPr id="3" name="TextBox 2"/>
          <p:cNvSpPr txBox="1"/>
          <p:nvPr/>
        </p:nvSpPr>
        <p:spPr>
          <a:xfrm>
            <a:off x="721420" y="762560"/>
            <a:ext cx="10749160" cy="143251"/>
          </a:xfrm>
          <a:prstGeom prst="rect">
            <a:avLst/>
          </a:prstGeom>
          <a:noFill/>
        </p:spPr>
        <p:txBody>
          <a:bodyPr wrap="none" anchor="t" lIns="0" rIns="0" tIns="0" bIns="0">
            <a:noAutofit/>
          </a:bodyPr>
          <a:lstStyle/>
          <a:p>
            <a:pPr algn="l">
              <a:lnSpc>
                <a:spcPts val="1125"/>
              </a:lnSpc>
              <a:spcBef>
                <a:spcPts val="0"/>
              </a:spcBef>
              <a:spcAft>
                <a:spcPts val="0"/>
              </a:spcAft>
            </a:pPr>
            <a:r>
              <a:rPr sz="900" b="1" i="0">
                <a:solidFill>
                  <a:schemeClr val="accent1"/>
                </a:solidFill>
                <a:latin typeface="Courier New"/>
              </a:rPr>
              <a:t>RESULTS · NEW SINCE 25 SEP · PRE-REGISTERED, RUN 2026-09-28</a:t>
            </a:r>
          </a:p>
        </p:txBody>
      </p:sp>
      <p:sp>
        <p:nvSpPr>
          <p:cNvPr id="4" name="Rounded Rectangle 3"/>
          <p:cNvSpPr/>
          <p:nvPr/>
        </p:nvSpPr>
        <p:spPr>
          <a:xfrm>
            <a:off x="721420" y="2382253"/>
            <a:ext cx="3438769" cy="3392905"/>
          </a:xfrm>
          <a:prstGeom prst="roundRect">
            <a:avLst>
              <a:gd name="adj" fmla="val 4255"/>
            </a:avLst>
          </a:prstGeom>
          <a:solidFill>
            <a:schemeClr val="bg1"/>
          </a:solidFill>
          <a:ln w="7620">
            <a:solidFill>
              <a:srgbClr val="DCE3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37846" y="2562726"/>
            <a:ext cx="3005917" cy="3068053"/>
          </a:xfrm>
          <a:prstGeom prst="rect">
            <a:avLst/>
          </a:prstGeom>
          <a:noFill/>
        </p:spPr>
        <p:txBody>
          <a:bodyPr wrap="square" anchor="t" lIns="0" rIns="0" tIns="0" bIns="0">
            <a:noAutofit/>
          </a:bodyPr>
          <a:lstStyle/>
          <a:p>
            <a:pPr algn="l">
              <a:lnSpc>
                <a:spcPts val="1800"/>
              </a:lnSpc>
              <a:spcBef>
                <a:spcPts val="0"/>
              </a:spcBef>
              <a:spcAft>
                <a:spcPts val="600"/>
              </a:spcAft>
            </a:pPr>
            <a:r>
              <a:rPr sz="1400" b="1" i="0">
                <a:solidFill>
                  <a:schemeClr val="tx1"/>
                </a:solidFill>
              </a:rPr>
              <a:t>Question and design</a:t>
            </a:r>
          </a:p>
          <a:p>
            <a:pPr algn="l">
              <a:lnSpc>
                <a:spcPts val="1550"/>
              </a:lnSpc>
              <a:spcBef>
                <a:spcPts val="0"/>
              </a:spcBef>
              <a:spcAft>
                <a:spcPts val="600"/>
              </a:spcAft>
            </a:pPr>
            <a:r>
              <a:rPr sz="1150" b="0" i="0">
                <a:solidFill>
                  <a:schemeClr val="tx2"/>
                </a:solidFill>
              </a:rPr>
              <a:t>Do simulated deletion and overexpression of S100 genes push LUAD T cells toward normal or SCLC </a:t>
            </a:r>
            <a:r>
              <a:rPr sz="1150" b="1" i="0">
                <a:solidFill>
                  <a:schemeClr val="tx2"/>
                </a:solidFill>
              </a:rPr>
              <a:t>more than matched control genes</a:t>
            </a:r>
            <a:r>
              <a:rPr sz="1150" b="0" i="0">
                <a:solidFill>
                  <a:schemeClr val="tx2"/>
                </a:solidFill>
              </a:rPr>
              <a:t> do, and more so for the 4 S100 genes at high ambient-RNA risk (S100A2, S100B, S100A13, S100PBP) than for 4 at low risk (S100A4, S100A6, S100A10, S100A11)?</a:t>
            </a:r>
          </a:p>
          <a:p>
            <a:pPr algn="l">
              <a:lnSpc>
                <a:spcPts val="1550"/>
              </a:lnSpc>
              <a:spcBef>
                <a:spcPts val="0"/>
              </a:spcBef>
              <a:spcAft>
                <a:spcPts val="600"/>
              </a:spcAft>
            </a:pPr>
            <a:r>
              <a:rPr sz="1150" b="0" i="0">
                <a:solidFill>
                  <a:schemeClr val="tx2"/>
                </a:solidFill>
              </a:rPr>
              <a:t>Each gene vs its own 20 detection-matched controls; the two groups of 4 compared with an exact Mann-Whitney test; all registered in advance.</a:t>
            </a:r>
          </a:p>
        </p:txBody>
      </p:sp>
      <p:sp>
        <p:nvSpPr>
          <p:cNvPr id="6" name="Rounded Rectangle 5"/>
          <p:cNvSpPr/>
          <p:nvPr/>
        </p:nvSpPr>
        <p:spPr>
          <a:xfrm>
            <a:off x="4376615" y="2382253"/>
            <a:ext cx="3438769" cy="3392905"/>
          </a:xfrm>
          <a:prstGeom prst="roundRect">
            <a:avLst>
              <a:gd name="adj" fmla="val 4255"/>
            </a:avLst>
          </a:prstGeom>
          <a:solidFill>
            <a:schemeClr val="bg1"/>
          </a:solidFill>
          <a:ln w="7620">
            <a:solidFill>
              <a:srgbClr val="DCE3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593041" y="2562726"/>
            <a:ext cx="3005917" cy="3068053"/>
          </a:xfrm>
          <a:prstGeom prst="rect">
            <a:avLst/>
          </a:prstGeom>
          <a:noFill/>
        </p:spPr>
        <p:txBody>
          <a:bodyPr wrap="square" anchor="t" lIns="0" rIns="0" tIns="0" bIns="0">
            <a:noAutofit/>
          </a:bodyPr>
          <a:lstStyle/>
          <a:p>
            <a:pPr algn="l">
              <a:lnSpc>
                <a:spcPts val="1800"/>
              </a:lnSpc>
              <a:spcBef>
                <a:spcPts val="0"/>
              </a:spcBef>
              <a:spcAft>
                <a:spcPts val="600"/>
              </a:spcAft>
            </a:pPr>
            <a:r>
              <a:rPr sz="1400" b="1" i="0">
                <a:solidFill>
                  <a:schemeClr val="tx1"/>
                </a:solidFill>
              </a:rPr>
              <a:t>Result: negative in both comparisons</a:t>
            </a:r>
          </a:p>
          <a:p>
            <a:pPr algn="l">
              <a:lnSpc>
                <a:spcPts val="1550"/>
              </a:lnSpc>
              <a:spcBef>
                <a:spcPts val="0"/>
              </a:spcBef>
              <a:spcAft>
                <a:spcPts val="600"/>
              </a:spcAft>
            </a:pPr>
            <a:r>
              <a:rPr sz="1150" b="0" i="0">
                <a:solidFill>
                  <a:schemeClr val="tx2"/>
                </a:solidFill>
              </a:rPr>
              <a:t>LUAD → normal: U = 1.5, p = 6/70 (0.086).</a:t>
            </a:r>
          </a:p>
          <a:p>
            <a:pPr algn="l">
              <a:lnSpc>
                <a:spcPts val="1550"/>
              </a:lnSpc>
              <a:spcBef>
                <a:spcPts val="0"/>
              </a:spcBef>
              <a:spcAft>
                <a:spcPts val="600"/>
              </a:spcAft>
            </a:pPr>
            <a:r>
              <a:rPr sz="1150" b="0" i="0">
                <a:solidFill>
                  <a:schemeClr val="tx2"/>
                </a:solidFill>
              </a:rPr>
              <a:t>LUAD → SCLC: U = 5.5, p = 34/70 (0.49).</a:t>
            </a:r>
          </a:p>
          <a:p>
            <a:pPr algn="l">
              <a:lnSpc>
                <a:spcPts val="1550"/>
              </a:lnSpc>
              <a:spcBef>
                <a:spcPts val="0"/>
              </a:spcBef>
              <a:spcAft>
                <a:spcPts val="600"/>
              </a:spcAft>
            </a:pPr>
            <a:r>
              <a:rPr sz="1150" b="0" i="0">
                <a:solidFill>
                  <a:schemeClr val="tx2"/>
                </a:solidFill>
              </a:rPr>
              <a:t>Stability gate not positive (0/160 leave-one-control-out). No-op check passed. S100P and S100A16 not estimable (40 and 48 cells, below the 50-cell gate). S100A8/S100A9 excluded by design (classifier anchors).</a:t>
            </a:r>
          </a:p>
        </p:txBody>
      </p:sp>
      <p:sp>
        <p:nvSpPr>
          <p:cNvPr id="8" name="Rounded Rectangle 7"/>
          <p:cNvSpPr/>
          <p:nvPr/>
        </p:nvSpPr>
        <p:spPr>
          <a:xfrm>
            <a:off x="8031811" y="2382253"/>
            <a:ext cx="3438769" cy="3392905"/>
          </a:xfrm>
          <a:prstGeom prst="roundRect">
            <a:avLst>
              <a:gd name="adj" fmla="val 4255"/>
            </a:avLst>
          </a:prstGeom>
          <a:solidFill>
            <a:schemeClr val="bg1"/>
          </a:solidFill>
          <a:ln w="7620">
            <a:solidFill>
              <a:srgbClr val="DCE3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248237" y="2562726"/>
            <a:ext cx="3005917" cy="3068053"/>
          </a:xfrm>
          <a:prstGeom prst="rect">
            <a:avLst/>
          </a:prstGeom>
          <a:noFill/>
        </p:spPr>
        <p:txBody>
          <a:bodyPr wrap="square" anchor="t" lIns="0" rIns="0" tIns="0" bIns="0">
            <a:noAutofit/>
          </a:bodyPr>
          <a:lstStyle/>
          <a:p>
            <a:pPr algn="l">
              <a:lnSpc>
                <a:spcPts val="1800"/>
              </a:lnSpc>
              <a:spcBef>
                <a:spcPts val="0"/>
              </a:spcBef>
              <a:spcAft>
                <a:spcPts val="600"/>
              </a:spcAft>
            </a:pPr>
            <a:r>
              <a:rPr sz="1400" b="1" i="0">
                <a:solidFill>
                  <a:schemeClr val="tx1"/>
                </a:solidFill>
              </a:rPr>
              <a:t>How to read it</a:t>
            </a:r>
          </a:p>
          <a:p>
            <a:pPr algn="l">
              <a:lnSpc>
                <a:spcPts val="1550"/>
              </a:lnSpc>
              <a:spcBef>
                <a:spcPts val="0"/>
              </a:spcBef>
              <a:spcAft>
                <a:spcPts val="600"/>
              </a:spcAft>
            </a:pPr>
            <a:r>
              <a:rPr sz="1150" b="1" i="0">
                <a:solidFill>
                  <a:schemeClr val="tx2"/>
                </a:solidFill>
              </a:rPr>
              <a:t>The test was small</a:t>
            </a:r>
            <a:r>
              <a:rPr sz="1150" b="0" i="0">
                <a:solidFill>
                  <a:schemeClr val="tx2"/>
                </a:solidFill>
              </a:rPr>
              <a:t>: with 4 v 4 the smallest possible p is 2/70 (0.029), reached only by complete separation.</a:t>
            </a:r>
          </a:p>
          <a:p>
            <a:pPr algn="l">
              <a:lnSpc>
                <a:spcPts val="1550"/>
              </a:lnSpc>
              <a:spcBef>
                <a:spcPts val="0"/>
              </a:spcBef>
              <a:spcAft>
                <a:spcPts val="600"/>
              </a:spcAft>
            </a:pPr>
            <a:r>
              <a:rPr sz="1150" b="0" i="0">
                <a:solidFill>
                  <a:schemeClr val="tx2"/>
                </a:solidFill>
              </a:rPr>
              <a:t>The ambient-high genes did not beat matched controls more than the ambient-low genes. No claim is made from the ambient-low genes' high scores.</a:t>
            </a:r>
          </a:p>
          <a:p>
            <a:pPr algn="l">
              <a:lnSpc>
                <a:spcPts val="1550"/>
              </a:lnSpc>
              <a:spcBef>
                <a:spcPts val="0"/>
              </a:spcBef>
              <a:spcAft>
                <a:spcPts val="600"/>
              </a:spcAft>
            </a:pPr>
            <a:r>
              <a:rPr sz="1150" b="0" i="0">
                <a:solidFill>
                  <a:schemeClr val="tx2"/>
                </a:solidFill>
              </a:rPr>
              <a:t>This </a:t>
            </a:r>
            <a:r>
              <a:rPr sz="1150" b="1" i="0">
                <a:solidFill>
                  <a:schemeClr val="tx2"/>
                </a:solidFill>
              </a:rPr>
              <a:t>neither confirms nor contradicts</a:t>
            </a:r>
            <a:r>
              <a:rPr sz="1150" b="0" i="0">
                <a:solidFill>
                  <a:schemeClr val="tx2"/>
                </a:solidFill>
              </a:rPr>
              <a:t> the S100A8/S100A9 slides.</a:t>
            </a:r>
          </a:p>
        </p:txBody>
      </p:sp>
      <p:sp>
        <p:nvSpPr>
          <p:cNvPr id="10" name="TextBox 9"/>
          <p:cNvSpPr txBox="1"/>
          <p:nvPr/>
        </p:nvSpPr>
        <p:spPr>
          <a:xfrm>
            <a:off x="721420" y="5883442"/>
            <a:ext cx="10749160" cy="433137"/>
          </a:xfrm>
          <a:prstGeom prst="rect">
            <a:avLst/>
          </a:prstGeom>
          <a:noFill/>
        </p:spPr>
        <p:txBody>
          <a:bodyPr wrap="square" anchor="t" lIns="0" rIns="0" tIns="0" bIns="0">
            <a:noAutofit/>
          </a:bodyPr>
          <a:lstStyle/>
          <a:p>
            <a:pPr algn="l">
              <a:lnSpc>
                <a:spcPts val="1250"/>
              </a:lnSpc>
              <a:spcBef>
                <a:spcPts val="0"/>
              </a:spcBef>
              <a:spcAft>
                <a:spcPts val="0"/>
              </a:spcAft>
            </a:pPr>
            <a:r>
              <a:rPr sz="950" b="0" i="1">
                <a:solidFill>
                  <a:schemeClr val="accent1"/>
                </a:solidFill>
              </a:rPr>
              <a:t>In plain words: in a small, pre-registered test, S100 genes flagged for possible contamination did not stand out against look-alike control genes.</a:t>
            </a:r>
          </a:p>
        </p:txBody>
      </p:sp>
      <p:sp>
        <p:nvSpPr>
          <p:cNvPr id="11" name="TextBox 10"/>
          <p:cNvSpPr txBox="1"/>
          <p:nvPr/>
        </p:nvSpPr>
        <p:spPr>
          <a:xfrm>
            <a:off x="721420" y="6363006"/>
            <a:ext cx="2164260" cy="135293"/>
          </a:xfrm>
          <a:prstGeom prst="rect">
            <a:avLst/>
          </a:prstGeom>
          <a:noFill/>
        </p:spPr>
        <p:txBody>
          <a:bodyPr wrap="none" anchor="t" lIns="0" rIns="0" tIns="0" bIns="0">
            <a:noAutofit/>
          </a:bodyPr>
          <a:lstStyle/>
          <a:p>
            <a:pPr algn="l">
              <a:lnSpc>
                <a:spcPts val="1062"/>
              </a:lnSpc>
              <a:spcBef>
                <a:spcPts val="0"/>
              </a:spcBef>
              <a:spcAft>
                <a:spcPts val="0"/>
              </a:spcAft>
            </a:pPr>
            <a:r>
              <a:rPr sz="850" b="0" i="0">
                <a:solidFill>
                  <a:srgbClr val="7A8A85"/>
                </a:solidFill>
                <a:latin typeface="Courier New"/>
              </a:rPr>
              <a:t>18 / 26</a:t>
            </a:r>
          </a:p>
        </p:txBody>
      </p:sp>
      <p:sp>
        <p:nvSpPr>
          <p:cNvPr id="12" name="TextBox 11"/>
          <p:cNvSpPr txBox="1"/>
          <p:nvPr/>
        </p:nvSpPr>
        <p:spPr>
          <a:xfrm>
            <a:off x="721420" y="6363006"/>
            <a:ext cx="10749160" cy="135293"/>
          </a:xfrm>
          <a:prstGeom prst="rect">
            <a:avLst/>
          </a:prstGeom>
          <a:noFill/>
        </p:spPr>
        <p:txBody>
          <a:bodyPr wrap="none" anchor="t" lIns="0" rIns="0" tIns="0" bIns="0">
            <a:noAutofit/>
          </a:bodyPr>
          <a:lstStyle/>
          <a:p>
            <a:pPr algn="r">
              <a:lnSpc>
                <a:spcPts val="1062"/>
              </a:lnSpc>
              <a:spcBef>
                <a:spcPts val="0"/>
              </a:spcBef>
              <a:spcAft>
                <a:spcPts val="0"/>
              </a:spcAft>
            </a:pPr>
            <a:r>
              <a:rPr sz="850" b="0" i="0">
                <a:solidFill>
                  <a:srgbClr val="7A8A85"/>
                </a:solidFill>
              </a:rPr>
              <a:t>RESULT.md, primary_results.json @ 53adee2 (main via PR #37, 4455914)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chemeClr val="bg2"/>
        </a:solidFill>
        <a:effectLst/>
      </p:bgPr>
    </p:bg>
    <p:spTree>
      <p:nvGrpSpPr>
        <p:cNvPr id="1" name=""/>
        <p:cNvGrpSpPr/>
        <p:nvPr/>
      </p:nvGrpSpPr>
      <p:grpSpPr/>
      <p:sp>
        <p:nvSpPr>
          <p:cNvPr id="2" name="Title 1"/>
          <p:cNvSpPr>
            <a:spLocks noGrp="1"/>
          </p:cNvSpPr>
          <p:nvPr>
            <p:ph type="title"/>
          </p:nvPr>
        </p:nvSpPr>
        <p:spPr>
          <a:xfrm>
            <a:off x="721420" y="1515979"/>
            <a:ext cx="10749160" cy="728352"/>
          </a:xfrm>
        </p:spPr>
        <p:txBody>
          <a:bodyPr wrap="square" anchor="t" lIns="0" rIns="0" tIns="0" bIns="0">
            <a:noAutofit/>
          </a:bodyPr>
          <a:lstStyle/>
          <a:p>
            <a:pPr algn="l">
              <a:lnSpc>
                <a:spcPts val="2552"/>
              </a:lnSpc>
              <a:spcBef>
                <a:spcPts val="0"/>
              </a:spcBef>
              <a:spcAft>
                <a:spcPts val="300"/>
              </a:spcAft>
            </a:pPr>
            <a:r>
              <a:rPr sz="2200" b="1" i="0">
                <a:solidFill>
                  <a:schemeClr val="tx1"/>
                </a:solidFill>
              </a:rPr>
              <a:t>What this establishes, and what it rules out</a:t>
            </a:r>
          </a:p>
        </p:txBody>
      </p:sp>
      <p:sp>
        <p:nvSpPr>
          <p:cNvPr id="3" name="TextBox 2"/>
          <p:cNvSpPr txBox="1"/>
          <p:nvPr/>
        </p:nvSpPr>
        <p:spPr>
          <a:xfrm>
            <a:off x="721420" y="762560"/>
            <a:ext cx="10749160" cy="143251"/>
          </a:xfrm>
          <a:prstGeom prst="rect">
            <a:avLst/>
          </a:prstGeom>
          <a:noFill/>
        </p:spPr>
        <p:txBody>
          <a:bodyPr wrap="none" anchor="t" lIns="0" rIns="0" tIns="0" bIns="0">
            <a:noAutofit/>
          </a:bodyPr>
          <a:lstStyle/>
          <a:p>
            <a:pPr algn="l"/>
            <a:r>
              <a:rPr sz="900" b="1" i="0">
                <a:solidFill>
                  <a:schemeClr val="accent1"/>
                </a:solidFill>
                <a:latin typeface="Courier New"/>
              </a:rPr>
              <a:t>DISCUSSION · SYNTHESIS</a:t>
            </a:r>
          </a:p>
        </p:txBody>
      </p:sp>
      <p:sp>
        <p:nvSpPr>
          <p:cNvPr id="4" name="Rounded Rectangle 3"/>
          <p:cNvSpPr/>
          <p:nvPr/>
        </p:nvSpPr>
        <p:spPr>
          <a:xfrm>
            <a:off x="721420" y="1876926"/>
            <a:ext cx="3438769" cy="2021305"/>
          </a:xfrm>
          <a:prstGeom prst="roundRect">
            <a:avLst>
              <a:gd name="adj" fmla="val 7142"/>
            </a:avLst>
          </a:prstGeom>
          <a:solidFill>
            <a:schemeClr val="bg1"/>
          </a:solidFill>
          <a:ln w="7620">
            <a:solidFill>
              <a:srgbClr val="DCE3DF"/>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 name="TextBox 4"/>
          <p:cNvSpPr txBox="1"/>
          <p:nvPr/>
        </p:nvSpPr>
        <p:spPr>
          <a:xfrm>
            <a:off x="973917" y="2021305"/>
            <a:ext cx="2933775" cy="1732547"/>
          </a:xfrm>
          <a:prstGeom prst="rect">
            <a:avLst/>
          </a:prstGeom>
          <a:noFill/>
        </p:spPr>
        <p:txBody>
          <a:bodyPr wrap="square" anchor="t" lIns="0" rIns="0" tIns="0" bIns="0">
            <a:noAutofit/>
          </a:bodyPr>
          <a:lstStyle/>
          <a:p>
            <a:pPr algn="l">
              <a:lnSpc>
                <a:spcPts val="1600"/>
              </a:lnSpc>
              <a:spcBef>
                <a:spcPts val="0"/>
              </a:spcBef>
              <a:spcAft>
                <a:spcPts val="300"/>
              </a:spcAft>
            </a:pPr>
            <a:r>
              <a:rPr sz="1250" b="1" i="0">
                <a:solidFill>
                  <a:schemeClr val="tx1"/>
                </a:solidFill>
              </a:rPr>
              <a:t>Establishes</a:t>
            </a:r>
          </a:p>
          <a:p>
            <a:pPr algn="l">
              <a:lnSpc>
                <a:spcPts val="1340"/>
              </a:lnSpc>
              <a:spcBef>
                <a:spcPts val="0"/>
              </a:spcBef>
              <a:spcAft>
                <a:spcPts val="300"/>
              </a:spcAft>
            </a:pPr>
            <a:r>
              <a:rPr sz="960" b="0" i="0">
                <a:solidFill>
                  <a:srgbClr val="4A5A55"/>
                </a:solidFill>
              </a:rPr>
              <a:t>Four checkpoint/persistence hits (TIGIT, TIM-3, CTLA-4, IL7R) replicate and validate independently in spatial tissue data. A concordance test and a screen-level ambient audit are necessary companions to significance for any further perturbation-based driver claim. One further candidate (NBEAL1) clears every check applied.</a:t>
            </a:r>
          </a:p>
        </p:txBody>
      </p:sp>
      <p:sp>
        <p:nvSpPr>
          <p:cNvPr id="6" name="Rounded Rectangle 5"/>
          <p:cNvSpPr/>
          <p:nvPr/>
        </p:nvSpPr>
        <p:spPr>
          <a:xfrm>
            <a:off x="4376615" y="1876926"/>
            <a:ext cx="3438769" cy="2021305"/>
          </a:xfrm>
          <a:prstGeom prst="roundRect">
            <a:avLst>
              <a:gd name="adj" fmla="val 7142"/>
            </a:avLst>
          </a:prstGeom>
          <a:solidFill>
            <a:schemeClr val="bg1"/>
          </a:solidFill>
          <a:ln w="7620">
            <a:solidFill>
              <a:srgbClr val="DCE3DF"/>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 name="TextBox 6"/>
          <p:cNvSpPr txBox="1"/>
          <p:nvPr/>
        </p:nvSpPr>
        <p:spPr>
          <a:xfrm>
            <a:off x="4629112" y="2021305"/>
            <a:ext cx="2933775" cy="1732547"/>
          </a:xfrm>
          <a:prstGeom prst="rect">
            <a:avLst/>
          </a:prstGeom>
          <a:noFill/>
        </p:spPr>
        <p:txBody>
          <a:bodyPr wrap="square" anchor="t" lIns="0" rIns="0" tIns="0" bIns="0">
            <a:noAutofit/>
          </a:bodyPr>
          <a:lstStyle/>
          <a:p>
            <a:pPr algn="l">
              <a:lnSpc>
                <a:spcPts val="1600"/>
              </a:lnSpc>
              <a:spcBef>
                <a:spcPts val="0"/>
              </a:spcBef>
              <a:spcAft>
                <a:spcPts val="300"/>
              </a:spcAft>
            </a:pPr>
            <a:r>
              <a:rPr sz="1250" b="1" i="0">
                <a:solidFill>
                  <a:schemeClr val="tx1"/>
                </a:solidFill>
              </a:rPr>
              <a:t>Resolves</a:t>
            </a:r>
          </a:p>
          <a:p>
            <a:pPr algn="l">
              <a:lnSpc>
                <a:spcPts val="1340"/>
              </a:lnSpc>
              <a:spcBef>
                <a:spcPts val="0"/>
              </a:spcBef>
              <a:spcAft>
                <a:spcPts val="300"/>
              </a:spcAft>
            </a:pPr>
            <a:r>
              <a:rPr sz="960" b="0" i="0">
                <a:solidFill>
                  <a:srgbClr val="4A5A55"/>
                </a:solidFill>
              </a:rPr>
              <a:t>The checkpoint-axis ordering the original team flagged as open (“pending T2 and T3”) is closed: donor-level SCLC-vs-LUAD shows no significant difference in either direction, once a single donor's cell-count share is accounted for.</a:t>
            </a:r>
          </a:p>
        </p:txBody>
      </p:sp>
      <p:sp>
        <p:nvSpPr>
          <p:cNvPr id="8" name="Rounded Rectangle 7"/>
          <p:cNvSpPr/>
          <p:nvPr/>
        </p:nvSpPr>
        <p:spPr>
          <a:xfrm>
            <a:off x="8031811" y="1876926"/>
            <a:ext cx="3438769" cy="2021305"/>
          </a:xfrm>
          <a:prstGeom prst="roundRect">
            <a:avLst>
              <a:gd name="adj" fmla="val 7142"/>
            </a:avLst>
          </a:prstGeom>
          <a:solidFill>
            <a:schemeClr val="bg1"/>
          </a:solidFill>
          <a:ln w="7620">
            <a:solidFill>
              <a:srgbClr val="DCE3DF"/>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9" name="TextBox 8"/>
          <p:cNvSpPr txBox="1"/>
          <p:nvPr/>
        </p:nvSpPr>
        <p:spPr>
          <a:xfrm>
            <a:off x="8284308" y="2021305"/>
            <a:ext cx="2933775" cy="1732547"/>
          </a:xfrm>
          <a:prstGeom prst="rect">
            <a:avLst/>
          </a:prstGeom>
          <a:noFill/>
        </p:spPr>
        <p:txBody>
          <a:bodyPr wrap="square" anchor="t" lIns="0" rIns="0" tIns="0" bIns="0">
            <a:noAutofit/>
          </a:bodyPr>
          <a:lstStyle/>
          <a:p>
            <a:pPr algn="l">
              <a:lnSpc>
                <a:spcPts val="1600"/>
              </a:lnSpc>
              <a:spcBef>
                <a:spcPts val="0"/>
              </a:spcBef>
              <a:spcAft>
                <a:spcPts val="300"/>
              </a:spcAft>
            </a:pPr>
            <a:r>
              <a:rPr sz="1250" b="1" i="0">
                <a:solidFill>
                  <a:schemeClr val="tx1"/>
                </a:solidFill>
              </a:rPr>
              <a:t>Rules out</a:t>
            </a:r>
          </a:p>
          <a:p>
            <a:pPr algn="l">
              <a:lnSpc>
                <a:spcPts val="1340"/>
              </a:lnSpc>
              <a:spcBef>
                <a:spcPts val="0"/>
              </a:spcBef>
              <a:spcAft>
                <a:spcPts val="300"/>
              </a:spcAft>
            </a:pPr>
            <a:r>
              <a:rPr sz="960" b="0" i="0">
                <a:solidFill>
                  <a:srgbClr val="4A5A55"/>
                </a:solidFill>
              </a:rPr>
              <a:t>S100A8/S100A9 as T-cell-intrinsic dysfunction drivers, at high confidence, independent of model precision. Model precision (bf16) as an explanation for any finding in this deck.</a:t>
            </a:r>
          </a:p>
        </p:txBody>
      </p:sp>
      <p:sp>
        <p:nvSpPr>
          <p:cNvPr id="10" name="TextBox 9"/>
          <p:cNvSpPr txBox="1"/>
          <p:nvPr/>
        </p:nvSpPr>
        <p:spPr>
          <a:xfrm>
            <a:off x="721420" y="6363006"/>
            <a:ext cx="10749160" cy="135293"/>
          </a:xfrm>
          <a:prstGeom prst="rect">
            <a:avLst/>
          </a:prstGeom>
          <a:noFill/>
        </p:spPr>
        <p:txBody>
          <a:bodyPr wrap="none" anchor="t" lIns="0" rIns="0" tIns="0" bIns="0">
            <a:noAutofit/>
          </a:bodyPr>
          <a:lstStyle/>
          <a:p>
            <a:pPr algn="l"/>
            <a:r>
              <a:rPr sz="850" b="0" i="0">
                <a:solidFill>
                  <a:srgbClr val="7A8A85"/>
                </a:solidFill>
                <a:latin typeface="Courier New"/>
              </a:rPr>
              <a:t>19 / 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chemeClr val="bg2"/>
        </a:solidFill>
        <a:effectLst/>
      </p:bgPr>
    </p:bg>
    <p:spTree>
      <p:nvGrpSpPr>
        <p:cNvPr id="1" name=""/>
        <p:cNvGrpSpPr/>
        <p:nvPr/>
      </p:nvGrpSpPr>
      <p:grpSpPr/>
      <p:sp>
        <p:nvSpPr>
          <p:cNvPr id="2" name="Title 1"/>
          <p:cNvSpPr>
            <a:spLocks noGrp="1"/>
          </p:cNvSpPr>
          <p:nvPr>
            <p:ph type="title"/>
          </p:nvPr>
        </p:nvSpPr>
        <p:spPr>
          <a:xfrm>
            <a:off x="721420" y="1443789"/>
            <a:ext cx="10749160" cy="629031"/>
          </a:xfrm>
        </p:spPr>
        <p:txBody>
          <a:bodyPr wrap="square" anchor="t" lIns="0" rIns="0" tIns="0" bIns="0">
            <a:noAutofit/>
          </a:bodyPr>
          <a:lstStyle/>
          <a:p>
            <a:pPr algn="l">
              <a:lnSpc>
                <a:spcPts val="2204"/>
              </a:lnSpc>
              <a:spcBef>
                <a:spcPts val="0"/>
              </a:spcBef>
              <a:spcAft>
                <a:spcPts val="300"/>
              </a:spcAft>
            </a:pPr>
            <a:r>
              <a:rPr sz="1900" b="1" i="0">
                <a:solidFill>
                  <a:schemeClr val="tx1"/>
                </a:solidFill>
              </a:rPr>
              <a:t>What this study does not establish</a:t>
            </a:r>
          </a:p>
        </p:txBody>
      </p:sp>
      <p:sp>
        <p:nvSpPr>
          <p:cNvPr id="3" name="TextBox 2"/>
          <p:cNvSpPr txBox="1"/>
          <p:nvPr/>
        </p:nvSpPr>
        <p:spPr>
          <a:xfrm>
            <a:off x="721420" y="762560"/>
            <a:ext cx="10749160" cy="143251"/>
          </a:xfrm>
          <a:prstGeom prst="rect">
            <a:avLst/>
          </a:prstGeom>
          <a:noFill/>
        </p:spPr>
        <p:txBody>
          <a:bodyPr wrap="none" anchor="t" lIns="0" rIns="0" tIns="0" bIns="0">
            <a:noAutofit/>
          </a:bodyPr>
          <a:lstStyle/>
          <a:p>
            <a:pPr algn="l"/>
            <a:r>
              <a:rPr sz="900" b="1" i="0">
                <a:solidFill>
                  <a:schemeClr val="accent1"/>
                </a:solidFill>
                <a:latin typeface="Courier New"/>
              </a:rPr>
              <a:t>DISCUSSION · LIMITATIONS, THEN WHERE THIS LEAVES US</a:t>
            </a:r>
          </a:p>
        </p:txBody>
      </p:sp>
      <p:sp>
        <p:nvSpPr>
          <p:cNvPr id="4" name="Rounded Rectangle 3"/>
          <p:cNvSpPr/>
          <p:nvPr/>
        </p:nvSpPr>
        <p:spPr>
          <a:xfrm>
            <a:off x="721420" y="2165684"/>
            <a:ext cx="2524970" cy="2165684"/>
          </a:xfrm>
          <a:prstGeom prst="roundRect">
            <a:avLst>
              <a:gd name="adj" fmla="val 6666"/>
            </a:avLst>
          </a:prstGeom>
          <a:solidFill>
            <a:schemeClr val="bg1"/>
          </a:solidFill>
          <a:ln w="7620">
            <a:solidFill>
              <a:srgbClr val="DCE3DF"/>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 name="TextBox 4"/>
          <p:cNvSpPr txBox="1"/>
          <p:nvPr/>
        </p:nvSpPr>
        <p:spPr>
          <a:xfrm>
            <a:off x="937846" y="2310063"/>
            <a:ext cx="2092118" cy="1876926"/>
          </a:xfrm>
          <a:prstGeom prst="rect">
            <a:avLst/>
          </a:prstGeom>
          <a:noFill/>
        </p:spPr>
        <p:txBody>
          <a:bodyPr wrap="square" anchor="t" lIns="0" rIns="0" tIns="0" bIns="0">
            <a:noAutofit/>
          </a:bodyPr>
          <a:lstStyle/>
          <a:p>
            <a:pPr algn="l">
              <a:lnSpc>
                <a:spcPts val="1360"/>
              </a:lnSpc>
              <a:spcBef>
                <a:spcPts val="0"/>
              </a:spcBef>
              <a:spcAft>
                <a:spcPts val="300"/>
              </a:spcAft>
            </a:pPr>
            <a:r>
              <a:rPr sz="1080" b="1" i="0">
                <a:solidFill>
                  <a:schemeClr val="tx1"/>
                </a:solidFill>
              </a:rPr>
              <a:t>Detection-confound axis is an imperfect proxy</a:t>
            </a:r>
          </a:p>
          <a:p>
            <a:pPr algn="l">
              <a:lnSpc>
                <a:spcPts val="1180"/>
              </a:lnSpc>
              <a:spcBef>
                <a:spcPts val="0"/>
              </a:spcBef>
              <a:spcAft>
                <a:spcPts val="300"/>
              </a:spcAft>
            </a:pPr>
            <a:r>
              <a:rPr sz="860" b="0" i="0">
                <a:solidFill>
                  <a:srgbClr val="4A5A55"/>
                </a:solidFill>
              </a:rPr>
              <a:t>Ambient risk is scored partly against the classifier being audited — evidence of resemblance to known contaminants, not a direct contamination measurement.</a:t>
            </a:r>
          </a:p>
        </p:txBody>
      </p:sp>
      <p:sp>
        <p:nvSpPr>
          <p:cNvPr id="6" name="Rounded Rectangle 5"/>
          <p:cNvSpPr/>
          <p:nvPr/>
        </p:nvSpPr>
        <p:spPr>
          <a:xfrm>
            <a:off x="3462817" y="2165684"/>
            <a:ext cx="2524970" cy="2165684"/>
          </a:xfrm>
          <a:prstGeom prst="roundRect">
            <a:avLst>
              <a:gd name="adj" fmla="val 6666"/>
            </a:avLst>
          </a:prstGeom>
          <a:solidFill>
            <a:schemeClr val="bg1"/>
          </a:solidFill>
          <a:ln w="7620">
            <a:solidFill>
              <a:srgbClr val="DCE3DF"/>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 name="TextBox 6"/>
          <p:cNvSpPr txBox="1"/>
          <p:nvPr/>
        </p:nvSpPr>
        <p:spPr>
          <a:xfrm>
            <a:off x="3679243" y="2310063"/>
            <a:ext cx="2092118" cy="1876926"/>
          </a:xfrm>
          <a:prstGeom prst="rect">
            <a:avLst/>
          </a:prstGeom>
          <a:noFill/>
        </p:spPr>
        <p:txBody>
          <a:bodyPr wrap="square" anchor="t" lIns="0" rIns="0" tIns="0" bIns="0">
            <a:noAutofit/>
          </a:bodyPr>
          <a:lstStyle/>
          <a:p>
            <a:pPr algn="l">
              <a:lnSpc>
                <a:spcPts val="1360"/>
              </a:lnSpc>
              <a:spcBef>
                <a:spcPts val="0"/>
              </a:spcBef>
              <a:spcAft>
                <a:spcPts val="300"/>
              </a:spcAft>
            </a:pPr>
            <a:r>
              <a:rPr sz="1080" b="1" i="0">
                <a:solidFill>
                  <a:schemeClr val="tx1"/>
                </a:solidFill>
              </a:rPr>
              <a:t>Single cohort; curated lists</a:t>
            </a:r>
          </a:p>
          <a:p>
            <a:pPr algn="l">
              <a:lnSpc>
                <a:spcPts val="1180"/>
              </a:lnSpc>
              <a:spcBef>
                <a:spcPts val="0"/>
              </a:spcBef>
              <a:spcAft>
                <a:spcPts val="300"/>
              </a:spcAft>
            </a:pPr>
            <a:r>
              <a:rPr sz="860" b="0" i="0">
                <a:solidFill>
                  <a:srgbClr val="4A5A55"/>
                </a:solidFill>
              </a:rPr>
              <a:t>One HTAN/CELLxGENE cohort; the ambient-anchor and T-cell-anchor gene lists are curated, not ground truth. A different cohort or anchor set could shift specific gene calls.</a:t>
            </a:r>
          </a:p>
        </p:txBody>
      </p:sp>
      <p:sp>
        <p:nvSpPr>
          <p:cNvPr id="8" name="Rounded Rectangle 7"/>
          <p:cNvSpPr/>
          <p:nvPr/>
        </p:nvSpPr>
        <p:spPr>
          <a:xfrm>
            <a:off x="6204213" y="2165684"/>
            <a:ext cx="2524970" cy="2165684"/>
          </a:xfrm>
          <a:prstGeom prst="roundRect">
            <a:avLst>
              <a:gd name="adj" fmla="val 6666"/>
            </a:avLst>
          </a:prstGeom>
          <a:solidFill>
            <a:schemeClr val="bg1"/>
          </a:solidFill>
          <a:ln w="7620">
            <a:solidFill>
              <a:srgbClr val="DCE3DF"/>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9" name="TextBox 8"/>
          <p:cNvSpPr txBox="1"/>
          <p:nvPr/>
        </p:nvSpPr>
        <p:spPr>
          <a:xfrm>
            <a:off x="6420639" y="2310063"/>
            <a:ext cx="2092118" cy="1876926"/>
          </a:xfrm>
          <a:prstGeom prst="rect">
            <a:avLst/>
          </a:prstGeom>
          <a:noFill/>
        </p:spPr>
        <p:txBody>
          <a:bodyPr wrap="square" anchor="t" lIns="0" rIns="0" tIns="0" bIns="0">
            <a:noAutofit/>
          </a:bodyPr>
          <a:lstStyle/>
          <a:p>
            <a:pPr algn="l">
              <a:lnSpc>
                <a:spcPts val="1360"/>
              </a:lnSpc>
              <a:spcBef>
                <a:spcPts val="0"/>
              </a:spcBef>
              <a:spcAft>
                <a:spcPts val="300"/>
              </a:spcAft>
            </a:pPr>
            <a:r>
              <a:rPr sz="1080" b="1" i="0">
                <a:solidFill>
                  <a:schemeClr val="tx1"/>
                </a:solidFill>
              </a:rPr>
              <a:t>Thin normal class, both counts</a:t>
            </a:r>
          </a:p>
          <a:p>
            <a:pPr algn="l">
              <a:lnSpc>
                <a:spcPts val="1180"/>
              </a:lnSpc>
              <a:spcBef>
                <a:spcPts val="0"/>
              </a:spcBef>
              <a:spcAft>
                <a:spcPts val="300"/>
              </a:spcAft>
            </a:pPr>
            <a:r>
              <a:rPr sz="860" b="0" i="0">
                <a:solidFill>
                  <a:srgbClr val="4A5A55"/>
                </a:solidFill>
              </a:rPr>
              <a:t>1 held-out test donor AND 4 cohort donors overall — already a named limitation in the repo's own methods (METHODS.md, lines 24-25), carried forward here, not newly flagged.</a:t>
            </a:r>
          </a:p>
        </p:txBody>
      </p:sp>
      <p:sp>
        <p:nvSpPr>
          <p:cNvPr id="10" name="Rounded Rectangle 9"/>
          <p:cNvSpPr/>
          <p:nvPr/>
        </p:nvSpPr>
        <p:spPr>
          <a:xfrm>
            <a:off x="8945609" y="2165684"/>
            <a:ext cx="2524970" cy="2165684"/>
          </a:xfrm>
          <a:prstGeom prst="roundRect">
            <a:avLst>
              <a:gd name="adj" fmla="val 6666"/>
            </a:avLst>
          </a:prstGeom>
          <a:solidFill>
            <a:schemeClr val="bg1"/>
          </a:solidFill>
          <a:ln w="7620">
            <a:solidFill>
              <a:srgbClr val="DCE3DF"/>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1" name="TextBox 10"/>
          <p:cNvSpPr txBox="1"/>
          <p:nvPr/>
        </p:nvSpPr>
        <p:spPr>
          <a:xfrm>
            <a:off x="9162036" y="2310063"/>
            <a:ext cx="2092118" cy="1876926"/>
          </a:xfrm>
          <a:prstGeom prst="rect">
            <a:avLst/>
          </a:prstGeom>
          <a:noFill/>
        </p:spPr>
        <p:txBody>
          <a:bodyPr wrap="square" anchor="t" lIns="0" rIns="0" tIns="0" bIns="0">
            <a:noAutofit/>
          </a:bodyPr>
          <a:lstStyle/>
          <a:p>
            <a:pPr algn="l">
              <a:lnSpc>
                <a:spcPts val="1360"/>
              </a:lnSpc>
              <a:spcBef>
                <a:spcPts val="0"/>
              </a:spcBef>
              <a:spcAft>
                <a:spcPts val="300"/>
              </a:spcAft>
            </a:pPr>
            <a:r>
              <a:rPr sz="1080" b="1" i="0">
                <a:solidFill>
                  <a:schemeClr val="tx1"/>
                </a:solidFill>
              </a:rPr>
              <a:t>Tissue-of-origin skew, per contrast</a:t>
            </a:r>
          </a:p>
          <a:p>
            <a:pPr algn="l">
              <a:lnSpc>
                <a:spcPts val="1180"/>
              </a:lnSpc>
              <a:spcBef>
                <a:spcPts val="0"/>
              </a:spcBef>
              <a:spcAft>
                <a:spcPts val="300"/>
              </a:spcAft>
            </a:pPr>
            <a:r>
              <a:rPr sz="860" b="0" i="0">
                <a:solidFill>
                  <a:srgbClr val="4A5A55"/>
                </a:solidFill>
              </a:rPr>
              <a:t>SCLC: 7/19 (37%) lung, 12/19 metastatic. LUAD: 16/22 (73%) lung. Normal: 4/4 (100%) lung. Skews sclc_to_normal/normal_to_sclc, not luad_to_normal/normal_to_luad (which benefits from the 3-of-4 shared-patient pairing above).</a:t>
            </a:r>
          </a:p>
        </p:txBody>
      </p:sp>
      <p:sp>
        <p:nvSpPr>
          <p:cNvPr id="12" name="TextBox 11"/>
          <p:cNvSpPr txBox="1"/>
          <p:nvPr/>
        </p:nvSpPr>
        <p:spPr>
          <a:xfrm>
            <a:off x="721420" y="4620126"/>
            <a:ext cx="10749160" cy="1155032"/>
          </a:xfrm>
          <a:prstGeom prst="rect">
            <a:avLst/>
          </a:prstGeom>
          <a:noFill/>
        </p:spPr>
        <p:txBody>
          <a:bodyPr wrap="square" anchor="t" lIns="0" rIns="0" tIns="0" bIns="0">
            <a:noAutofit/>
          </a:bodyPr>
          <a:lstStyle/>
          <a:p>
            <a:pPr algn="l">
              <a:lnSpc>
                <a:spcPts val="1500"/>
              </a:lnSpc>
              <a:spcBef>
                <a:spcPts val="0"/>
              </a:spcBef>
              <a:spcAft>
                <a:spcPts val="300"/>
              </a:spcAft>
            </a:pPr>
            <a:r>
              <a:rPr sz="1080" b="0" i="0">
                <a:solidFill>
                  <a:schemeClr val="tx2"/>
                </a:solidFill>
              </a:rPr>
              <a:t>Open questions: the original talk's CRISPR TIGIT/HAVCR2 knockout proposal; does NBEAL1 replicate independently; the talk's own still-open question — “if SCLC T cells are not exhausted, what are they, and why does ICI still fail?” A clean negative, honestly obtained, is a contribution.</a:t>
            </a:r>
          </a:p>
        </p:txBody>
      </p:sp>
      <p:pic>
        <p:nvPicPr>
          <p:cNvPr id="13" name="Picture 12" descr="qr.png"/>
          <p:cNvPicPr>
            <a:picLocks noChangeAspect="1"/>
          </p:cNvPicPr>
          <p:nvPr/>
        </p:nvPicPr>
        <p:blipFill>
          <a:blip r:embed="rId2"/>
          <a:stretch>
            <a:fillRect/>
          </a:stretch>
        </p:blipFill>
        <p:spPr>
          <a:xfrm>
            <a:off x="10677018" y="5125453"/>
            <a:ext cx="649278" cy="649705"/>
          </a:xfrm>
          <a:prstGeom prst="rect">
            <a:avLst/>
          </a:prstGeom>
        </p:spPr>
      </p:pic>
      <p:sp>
        <p:nvSpPr>
          <p:cNvPr id="14" name="TextBox 13"/>
          <p:cNvSpPr txBox="1"/>
          <p:nvPr/>
        </p:nvSpPr>
        <p:spPr>
          <a:xfrm>
            <a:off x="721420" y="6363006"/>
            <a:ext cx="10749160" cy="135293"/>
          </a:xfrm>
          <a:prstGeom prst="rect">
            <a:avLst/>
          </a:prstGeom>
          <a:noFill/>
        </p:spPr>
        <p:txBody>
          <a:bodyPr wrap="none" anchor="t" lIns="0" rIns="0" tIns="0" bIns="0">
            <a:noAutofit/>
          </a:bodyPr>
          <a:lstStyle/>
          <a:p>
            <a:pPr algn="l"/>
            <a:r>
              <a:rPr sz="850" b="0" i="0">
                <a:solidFill>
                  <a:srgbClr val="7A8A85"/>
                </a:solidFill>
                <a:latin typeface="Courier New"/>
              </a:rPr>
              <a:t>20 / 26</a:t>
            </a:r>
          </a:p>
        </p:txBody>
      </p:sp>
      <p:sp>
        <p:nvSpPr>
          <p:cNvPr id="15" name="TextBox 14"/>
          <p:cNvSpPr txBox="1"/>
          <p:nvPr/>
        </p:nvSpPr>
        <p:spPr>
          <a:xfrm>
            <a:off x="721420" y="6363006"/>
            <a:ext cx="10749160" cy="135293"/>
          </a:xfrm>
          <a:prstGeom prst="rect">
            <a:avLst/>
          </a:prstGeom>
          <a:noFill/>
        </p:spPr>
        <p:txBody>
          <a:bodyPr wrap="none" anchor="t" lIns="0" rIns="0" tIns="0" bIns="0">
            <a:noAutofit/>
          </a:bodyPr>
          <a:lstStyle/>
          <a:p>
            <a:pPr algn="r"/>
            <a:r>
              <a:rPr sz="850" b="0" i="0">
                <a:solidFill>
                  <a:srgbClr val="7A8A85"/>
                </a:solidFill>
              </a:rPr>
              <a:t>perturbation_workflow/METHODS.md lines 24-25; talk/JSDP_P25_talk.pdf, slide 11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chemeClr val="bg2"/>
        </a:solidFill>
        <a:effectLst/>
      </p:bgPr>
    </p:bg>
    <p:spTree>
      <p:nvGrpSpPr>
        <p:cNvPr id="1" name=""/>
        <p:cNvGrpSpPr/>
        <p:nvPr/>
      </p:nvGrpSpPr>
      <p:grpSpPr/>
      <p:sp>
        <p:nvSpPr>
          <p:cNvPr id="2" name="Title 1"/>
          <p:cNvSpPr>
            <a:spLocks noGrp="1"/>
          </p:cNvSpPr>
          <p:nvPr>
            <p:ph type="title"/>
          </p:nvPr>
        </p:nvSpPr>
        <p:spPr>
          <a:xfrm>
            <a:off x="721420" y="1515979"/>
            <a:ext cx="10460592" cy="695245"/>
          </a:xfrm>
        </p:spPr>
        <p:txBody>
          <a:bodyPr wrap="square" anchor="t" lIns="0" rIns="0" tIns="0" bIns="0">
            <a:noAutofit/>
          </a:bodyPr>
          <a:lstStyle/>
          <a:p>
            <a:pPr algn="l">
              <a:lnSpc>
                <a:spcPts val="2436"/>
              </a:lnSpc>
            </a:pPr>
            <a:r>
              <a:rPr sz="2100" b="1" i="0">
                <a:solidFill>
                  <a:schemeClr val="tx1"/>
                </a:solidFill>
              </a:rPr>
              <a:t>Terms used in this talk</a:t>
            </a:r>
          </a:p>
        </p:txBody>
      </p:sp>
      <p:sp>
        <p:nvSpPr>
          <p:cNvPr id="3" name="TextBox 2"/>
          <p:cNvSpPr txBox="1"/>
          <p:nvPr/>
        </p:nvSpPr>
        <p:spPr>
          <a:xfrm>
            <a:off x="721420" y="762560"/>
            <a:ext cx="10749160" cy="143251"/>
          </a:xfrm>
          <a:prstGeom prst="rect">
            <a:avLst/>
          </a:prstGeom>
          <a:noFill/>
        </p:spPr>
        <p:txBody>
          <a:bodyPr wrap="none" anchor="t" lIns="0" rIns="0" tIns="0" bIns="0">
            <a:noAutofit/>
          </a:bodyPr>
          <a:lstStyle/>
          <a:p>
            <a:pPr algn="l">
              <a:lnSpc>
                <a:spcPts val="1125"/>
              </a:lnSpc>
              <a:spcBef>
                <a:spcPts val="0"/>
              </a:spcBef>
              <a:spcAft>
                <a:spcPts val="0"/>
              </a:spcAft>
            </a:pPr>
            <a:r>
              <a:rPr sz="900" b="1" i="0">
                <a:solidFill>
                  <a:schemeClr val="accent1"/>
                </a:solidFill>
                <a:latin typeface="Courier New"/>
              </a:rPr>
              <a:t>GLOSSARY</a:t>
            </a:r>
          </a:p>
        </p:txBody>
      </p:sp>
      <p:graphicFrame>
        <p:nvGraphicFramePr>
          <p:cNvPr id="4" name="Table 3"/>
          <p:cNvGraphicFramePr>
            <a:graphicFrameLocks noGrp="1"/>
          </p:cNvGraphicFramePr>
          <p:nvPr/>
        </p:nvGraphicFramePr>
        <p:xfrm>
          <a:off x="721420" y="2382253"/>
          <a:ext cx="10749159" cy="3789945"/>
        </p:xfrm>
        <a:graphic>
          <a:graphicData uri="http://schemas.openxmlformats.org/drawingml/2006/table">
            <a:tbl>
              <a:tblPr firstRow="1" bandRow="1">
                <a:tableStyleId>{5C22544A-7EE6-4342-B048-85BDC9FD1C3A}</a:tableStyleId>
              </a:tblPr>
              <a:tblGrid>
                <a:gridCol w="2524970"/>
                <a:gridCol w="8224189"/>
              </a:tblGrid>
              <a:tr h="252663">
                <a:tc>
                  <a:txBody>
                    <a:bodyPr wrap="square"/>
                    <a:lstStyle/>
                    <a:p>
                      <a:r>
                        <a:rPr sz="880" b="1" i="0">
                          <a:solidFill>
                            <a:schemeClr val="bg1"/>
                          </a:solidFill>
                        </a:rPr>
                        <a:t>Term</a:t>
                      </a:r>
                    </a:p>
                  </a:txBody>
                  <a:tcPr marL="72142" marR="72142" marT="36095" marB="36095" anchor="ctr">
                    <a:solidFill>
                      <a:schemeClr val="accent1"/>
                    </a:solidFill>
                  </a:tcPr>
                </a:tc>
                <a:tc>
                  <a:txBody>
                    <a:bodyPr wrap="square"/>
                    <a:lstStyle/>
                    <a:p>
                      <a:r>
                        <a:rPr sz="880" b="1" i="0">
                          <a:solidFill>
                            <a:schemeClr val="bg1"/>
                          </a:solidFill>
                        </a:rPr>
                        <a:t>Meaning here</a:t>
                      </a:r>
                    </a:p>
                  </a:txBody>
                  <a:tcPr marL="72142" marR="72142" marT="36095" marB="36095" anchor="ctr">
                    <a:solidFill>
                      <a:schemeClr val="accent1"/>
                    </a:solidFill>
                  </a:tcPr>
                </a:tc>
              </a:tr>
              <a:tr h="252663">
                <a:tc>
                  <a:txBody>
                    <a:bodyPr wrap="square"/>
                    <a:lstStyle/>
                    <a:p>
                      <a:r>
                        <a:rPr sz="880" b="0" i="0">
                          <a:solidFill>
                            <a:schemeClr val="tx1"/>
                          </a:solidFill>
                        </a:rPr>
                        <a:t>Single-cell RNA-seq</a:t>
                      </a:r>
                    </a:p>
                  </a:txBody>
                  <a:tcPr marL="72142" marR="72142" marT="36095" marB="36095" anchor="ctr">
                    <a:solidFill>
                      <a:schemeClr val="bg1"/>
                    </a:solidFill>
                  </a:tcPr>
                </a:tc>
                <a:tc>
                  <a:txBody>
                    <a:bodyPr wrap="square"/>
                    <a:lstStyle/>
                    <a:p>
                      <a:r>
                        <a:rPr sz="880" b="0" i="0">
                          <a:solidFill>
                            <a:schemeClr val="tx1"/>
                          </a:solidFill>
                        </a:rPr>
                        <a:t>Measures which genes are active in each individual cell.</a:t>
                      </a:r>
                    </a:p>
                  </a:txBody>
                  <a:tcPr marL="72142" marR="72142" marT="36095" marB="36095" anchor="ctr">
                    <a:solidFill>
                      <a:schemeClr val="bg1"/>
                    </a:solidFill>
                  </a:tcPr>
                </a:tc>
              </a:tr>
              <a:tr h="252663">
                <a:tc>
                  <a:txBody>
                    <a:bodyPr wrap="square"/>
                    <a:lstStyle/>
                    <a:p>
                      <a:r>
                        <a:rPr sz="880" b="0" i="0">
                          <a:solidFill>
                            <a:schemeClr val="tx1"/>
                          </a:solidFill>
                        </a:rPr>
                        <a:t>T-cell dysfunction / exhaustion</a:t>
                      </a:r>
                    </a:p>
                  </a:txBody>
                  <a:tcPr marL="72142" marR="72142" marT="36095" marB="36095" anchor="ctr">
                    <a:solidFill>
                      <a:schemeClr val="accent5"/>
                    </a:solidFill>
                  </a:tcPr>
                </a:tc>
                <a:tc>
                  <a:txBody>
                    <a:bodyPr wrap="square"/>
                    <a:lstStyle/>
                    <a:p>
                      <a:r>
                        <a:rPr sz="880" b="0" i="0">
                          <a:solidFill>
                            <a:schemeClr val="tx1"/>
                          </a:solidFill>
                        </a:rPr>
                        <a:t>A worn-out T-cell state after chronic stimulation, with inhibitory receptors (PD-1, TIM-3, CTLA-4) (Wherry 2015).</a:t>
                      </a:r>
                    </a:p>
                  </a:txBody>
                  <a:tcPr marL="72142" marR="72142" marT="36095" marB="36095" anchor="ctr">
                    <a:solidFill>
                      <a:schemeClr val="accent5"/>
                    </a:solidFill>
                  </a:tcPr>
                </a:tc>
              </a:tr>
              <a:tr h="252663">
                <a:tc>
                  <a:txBody>
                    <a:bodyPr wrap="square"/>
                    <a:lstStyle/>
                    <a:p>
                      <a:r>
                        <a:rPr sz="880" b="0" i="0">
                          <a:solidFill>
                            <a:schemeClr val="tx1"/>
                          </a:solidFill>
                        </a:rPr>
                        <a:t>Immune checkpoint</a:t>
                      </a:r>
                    </a:p>
                  </a:txBody>
                  <a:tcPr marL="72142" marR="72142" marT="36095" marB="36095" anchor="ctr">
                    <a:solidFill>
                      <a:schemeClr val="bg1"/>
                    </a:solidFill>
                  </a:tcPr>
                </a:tc>
                <a:tc>
                  <a:txBody>
                    <a:bodyPr wrap="square"/>
                    <a:lstStyle/>
                    <a:p>
                      <a:r>
                        <a:rPr sz="880" b="0" i="0">
                          <a:solidFill>
                            <a:schemeClr val="tx1"/>
                          </a:solidFill>
                        </a:rPr>
                        <a:t>An inhibitory receptor that brakes T cells; checkpoint-inhibitor drugs block it.</a:t>
                      </a:r>
                    </a:p>
                  </a:txBody>
                  <a:tcPr marL="72142" marR="72142" marT="36095" marB="36095" anchor="ctr">
                    <a:solidFill>
                      <a:schemeClr val="bg1"/>
                    </a:solidFill>
                  </a:tcPr>
                </a:tc>
              </a:tr>
              <a:tr h="252663">
                <a:tc>
                  <a:txBody>
                    <a:bodyPr wrap="square"/>
                    <a:lstStyle/>
                    <a:p>
                      <a:r>
                        <a:rPr sz="880" b="0" i="0">
                          <a:solidFill>
                            <a:schemeClr val="tx1"/>
                          </a:solidFill>
                        </a:rPr>
                        <a:t>Foundation model (Geneformer)</a:t>
                      </a:r>
                    </a:p>
                  </a:txBody>
                  <a:tcPr marL="72142" marR="72142" marT="36095" marB="36095" anchor="ctr">
                    <a:solidFill>
                      <a:schemeClr val="accent5"/>
                    </a:solidFill>
                  </a:tcPr>
                </a:tc>
                <a:tc>
                  <a:txBody>
                    <a:bodyPr wrap="square"/>
                    <a:lstStyle/>
                    <a:p>
                      <a:r>
                        <a:rPr sz="880" b="0" i="0">
                          <a:solidFill>
                            <a:schemeClr val="tx1"/>
                          </a:solidFill>
                        </a:rPr>
                        <a:t>A model pre-trained on many cells, then fine-tuned for one task (Theodoris 2023).</a:t>
                      </a:r>
                    </a:p>
                  </a:txBody>
                  <a:tcPr marL="72142" marR="72142" marT="36095" marB="36095" anchor="ctr">
                    <a:solidFill>
                      <a:schemeClr val="accent5"/>
                    </a:solidFill>
                  </a:tcPr>
                </a:tc>
              </a:tr>
              <a:tr h="252663">
                <a:tc>
                  <a:txBody>
                    <a:bodyPr wrap="square"/>
                    <a:lstStyle/>
                    <a:p>
                      <a:r>
                        <a:rPr sz="880" b="0" i="0">
                          <a:solidFill>
                            <a:schemeClr val="tx1"/>
                          </a:solidFill>
                        </a:rPr>
                        <a:t>Embedding</a:t>
                      </a:r>
                    </a:p>
                  </a:txBody>
                  <a:tcPr marL="72142" marR="72142" marT="36095" marB="36095" anchor="ctr">
                    <a:solidFill>
                      <a:schemeClr val="bg1"/>
                    </a:solidFill>
                  </a:tcPr>
                </a:tc>
                <a:tc>
                  <a:txBody>
                    <a:bodyPr wrap="square"/>
                    <a:lstStyle/>
                    <a:p>
                      <a:r>
                        <a:rPr sz="880" b="0" i="0">
                          <a:solidFill>
                            <a:schemeClr val="tx1"/>
                          </a:solidFill>
                        </a:rPr>
                        <a:t>The list of numbers the model uses to place a cell; similar cells sit close together.</a:t>
                      </a:r>
                    </a:p>
                  </a:txBody>
                  <a:tcPr marL="72142" marR="72142" marT="36095" marB="36095" anchor="ctr">
                    <a:solidFill>
                      <a:schemeClr val="bg1"/>
                    </a:solidFill>
                  </a:tcPr>
                </a:tc>
              </a:tr>
              <a:tr h="252663">
                <a:tc>
                  <a:txBody>
                    <a:bodyPr wrap="square"/>
                    <a:lstStyle/>
                    <a:p>
                      <a:r>
                        <a:rPr sz="880" b="0" i="0">
                          <a:solidFill>
                            <a:schemeClr val="tx1"/>
                          </a:solidFill>
                        </a:rPr>
                        <a:t>In silico perturbation</a:t>
                      </a:r>
                    </a:p>
                  </a:txBody>
                  <a:tcPr marL="72142" marR="72142" marT="36095" marB="36095" anchor="ctr">
                    <a:solidFill>
                      <a:schemeClr val="accent5"/>
                    </a:solidFill>
                  </a:tcPr>
                </a:tc>
                <a:tc>
                  <a:txBody>
                    <a:bodyPr wrap="square"/>
                    <a:lstStyle/>
                    <a:p>
                      <a:r>
                        <a:rPr sz="880" b="0" i="0">
                          <a:solidFill>
                            <a:schemeClr val="tx1"/>
                          </a:solidFill>
                        </a:rPr>
                        <a:t>Deleting or boosting a gene in the model's input and measuring the shift.</a:t>
                      </a:r>
                    </a:p>
                  </a:txBody>
                  <a:tcPr marL="72142" marR="72142" marT="36095" marB="36095" anchor="ctr">
                    <a:solidFill>
                      <a:schemeClr val="accent5"/>
                    </a:solidFill>
                  </a:tcPr>
                </a:tc>
              </a:tr>
              <a:tr h="252663">
                <a:tc>
                  <a:txBody>
                    <a:bodyPr wrap="square"/>
                    <a:lstStyle/>
                    <a:p>
                      <a:r>
                        <a:rPr sz="880" b="0" i="0">
                          <a:solidFill>
                            <a:schemeClr val="tx1"/>
                          </a:solidFill>
                        </a:rPr>
                        <a:t>Concordant</a:t>
                      </a:r>
                    </a:p>
                  </a:txBody>
                  <a:tcPr marL="72142" marR="72142" marT="36095" marB="36095" anchor="ctr">
                    <a:solidFill>
                      <a:schemeClr val="bg1"/>
                    </a:solidFill>
                  </a:tcPr>
                </a:tc>
                <a:tc>
                  <a:txBody>
                    <a:bodyPr wrap="square"/>
                    <a:lstStyle/>
                    <a:p>
                      <a:r>
                        <a:rPr sz="880" b="0" i="0">
                          <a:solidFill>
                            <a:schemeClr val="tx1"/>
                          </a:solidFill>
                        </a:rPr>
                        <a:t>Deletion and overexpression move the cell in opposite directions, both significant.</a:t>
                      </a:r>
                    </a:p>
                  </a:txBody>
                  <a:tcPr marL="72142" marR="72142" marT="36095" marB="36095" anchor="ctr">
                    <a:solidFill>
                      <a:schemeClr val="bg1"/>
                    </a:solidFill>
                  </a:tcPr>
                </a:tc>
              </a:tr>
              <a:tr h="252663">
                <a:tc>
                  <a:txBody>
                    <a:bodyPr wrap="square"/>
                    <a:lstStyle/>
                    <a:p>
                      <a:r>
                        <a:rPr sz="880" b="0" i="0">
                          <a:solidFill>
                            <a:schemeClr val="tx1"/>
                          </a:solidFill>
                        </a:rPr>
                        <a:t>FDR</a:t>
                      </a:r>
                    </a:p>
                  </a:txBody>
                  <a:tcPr marL="72142" marR="72142" marT="36095" marB="36095" anchor="ctr">
                    <a:solidFill>
                      <a:schemeClr val="accent5"/>
                    </a:solidFill>
                  </a:tcPr>
                </a:tc>
                <a:tc>
                  <a:txBody>
                    <a:bodyPr wrap="square"/>
                    <a:lstStyle/>
                    <a:p>
                      <a:r>
                        <a:rPr sz="880" b="0" i="0">
                          <a:solidFill>
                            <a:schemeClr val="tx1"/>
                          </a:solidFill>
                        </a:rPr>
                        <a:t>False discovery rate: the expected share of false calls among all calls (Benjamini 1995).</a:t>
                      </a:r>
                    </a:p>
                  </a:txBody>
                  <a:tcPr marL="72142" marR="72142" marT="36095" marB="36095" anchor="ctr">
                    <a:solidFill>
                      <a:schemeClr val="accent5"/>
                    </a:solidFill>
                  </a:tcPr>
                </a:tc>
              </a:tr>
              <a:tr h="252663">
                <a:tc>
                  <a:txBody>
                    <a:bodyPr wrap="square"/>
                    <a:lstStyle/>
                    <a:p>
                      <a:r>
                        <a:rPr sz="880" b="0" i="0">
                          <a:solidFill>
                            <a:schemeClr val="tx1"/>
                          </a:solidFill>
                        </a:rPr>
                        <a:t>Donor-level analysis</a:t>
                      </a:r>
                    </a:p>
                  </a:txBody>
                  <a:tcPr marL="72142" marR="72142" marT="36095" marB="36095" anchor="ctr">
                    <a:solidFill>
                      <a:schemeClr val="bg1"/>
                    </a:solidFill>
                  </a:tcPr>
                </a:tc>
                <a:tc>
                  <a:txBody>
                    <a:bodyPr wrap="square"/>
                    <a:lstStyle/>
                    <a:p>
                      <a:r>
                        <a:rPr sz="880" b="0" i="0">
                          <a:solidFill>
                            <a:schemeClr val="tx1"/>
                          </a:solidFill>
                        </a:rPr>
                        <a:t>Each person counted once, so one person's many cells cannot dominate.</a:t>
                      </a:r>
                    </a:p>
                  </a:txBody>
                  <a:tcPr marL="72142" marR="72142" marT="36095" marB="36095" anchor="ctr">
                    <a:solidFill>
                      <a:schemeClr val="bg1"/>
                    </a:solidFill>
                  </a:tcPr>
                </a:tc>
              </a:tr>
              <a:tr h="252663">
                <a:tc>
                  <a:txBody>
                    <a:bodyPr wrap="square"/>
                    <a:lstStyle/>
                    <a:p>
                      <a:r>
                        <a:rPr sz="880" b="0" i="0">
                          <a:solidFill>
                            <a:schemeClr val="tx1"/>
                          </a:solidFill>
                        </a:rPr>
                        <a:t>Ambient RNA</a:t>
                      </a:r>
                    </a:p>
                  </a:txBody>
                  <a:tcPr marL="72142" marR="72142" marT="36095" marB="36095" anchor="ctr">
                    <a:solidFill>
                      <a:schemeClr val="accent5"/>
                    </a:solidFill>
                  </a:tcPr>
                </a:tc>
                <a:tc>
                  <a:txBody>
                    <a:bodyPr wrap="square"/>
                    <a:lstStyle/>
                    <a:p>
                      <a:r>
                        <a:rPr sz="880" b="0" i="0">
                          <a:solidFill>
                            <a:schemeClr val="tx1"/>
                          </a:solidFill>
                        </a:rPr>
                        <a:t>Free-floating RNA from other cells that contaminates a cell's reads (Young 2020).</a:t>
                      </a:r>
                    </a:p>
                  </a:txBody>
                  <a:tcPr marL="72142" marR="72142" marT="36095" marB="36095" anchor="ctr">
                    <a:solidFill>
                      <a:schemeClr val="accent5"/>
                    </a:solidFill>
                  </a:tcPr>
                </a:tc>
              </a:tr>
              <a:tr h="252663">
                <a:tc>
                  <a:txBody>
                    <a:bodyPr wrap="square"/>
                    <a:lstStyle/>
                    <a:p>
                      <a:r>
                        <a:rPr sz="880" b="0" i="0">
                          <a:solidFill>
                            <a:schemeClr val="tx1"/>
                          </a:solidFill>
                        </a:rPr>
                        <a:t>Matched controls</a:t>
                      </a:r>
                    </a:p>
                  </a:txBody>
                  <a:tcPr marL="72142" marR="72142" marT="36095" marB="36095" anchor="ctr">
                    <a:solidFill>
                      <a:schemeClr val="bg1"/>
                    </a:solidFill>
                  </a:tcPr>
                </a:tc>
                <a:tc>
                  <a:txBody>
                    <a:bodyPr wrap="square"/>
                    <a:lstStyle/>
                    <a:p>
                      <a:r>
                        <a:rPr sz="880" b="0" i="0">
                          <a:solidFill>
                            <a:schemeClr val="tx1"/>
                          </a:solidFill>
                        </a:rPr>
                        <a:t>Non-S100 genes chosen to be detected about as often as the gene tested.</a:t>
                      </a:r>
                    </a:p>
                  </a:txBody>
                  <a:tcPr marL="72142" marR="72142" marT="36095" marB="36095" anchor="ctr">
                    <a:solidFill>
                      <a:schemeClr val="bg1"/>
                    </a:solidFill>
                  </a:tcPr>
                </a:tc>
              </a:tr>
              <a:tr h="252663">
                <a:tc>
                  <a:txBody>
                    <a:bodyPr wrap="square"/>
                    <a:lstStyle/>
                    <a:p>
                      <a:r>
                        <a:rPr sz="880" b="0" i="0">
                          <a:solidFill>
                            <a:schemeClr val="tx1"/>
                          </a:solidFill>
                        </a:rPr>
                        <a:t>Mann-Whitney U</a:t>
                      </a:r>
                    </a:p>
                  </a:txBody>
                  <a:tcPr marL="72142" marR="72142" marT="36095" marB="36095" anchor="ctr">
                    <a:solidFill>
                      <a:schemeClr val="accent5"/>
                    </a:solidFill>
                  </a:tcPr>
                </a:tc>
                <a:tc>
                  <a:txBody>
                    <a:bodyPr wrap="square"/>
                    <a:lstStyle/>
                    <a:p>
                      <a:r>
                        <a:rPr sz="880" b="0" i="0">
                          <a:solidFill>
                            <a:schemeClr val="tx1"/>
                          </a:solidFill>
                        </a:rPr>
                        <a:t>A rank test of whether one group tends to score higher than another (Mann 1947).</a:t>
                      </a:r>
                    </a:p>
                  </a:txBody>
                  <a:tcPr marL="72142" marR="72142" marT="36095" marB="36095" anchor="ctr">
                    <a:solidFill>
                      <a:schemeClr val="accent5"/>
                    </a:solidFill>
                  </a:tcPr>
                </a:tc>
              </a:tr>
              <a:tr h="252663">
                <a:tc>
                  <a:txBody>
                    <a:bodyPr wrap="square"/>
                    <a:lstStyle/>
                    <a:p>
                      <a:r>
                        <a:rPr sz="880" b="0" i="0">
                          <a:solidFill>
                            <a:schemeClr val="tx1"/>
                          </a:solidFill>
                        </a:rPr>
                        <a:t>Pre-registration</a:t>
                      </a:r>
                    </a:p>
                  </a:txBody>
                  <a:tcPr marL="72142" marR="72142" marT="36095" marB="36095" anchor="ctr">
                    <a:solidFill>
                      <a:schemeClr val="bg1"/>
                    </a:solidFill>
                  </a:tcPr>
                </a:tc>
                <a:tc>
                  <a:txBody>
                    <a:bodyPr wrap="square"/>
                    <a:lstStyle/>
                    <a:p>
                      <a:r>
                        <a:rPr sz="880" b="0" i="0">
                          <a:solidFill>
                            <a:schemeClr val="tx1"/>
                          </a:solidFill>
                        </a:rPr>
                        <a:t>Fixing the test and its pass/fail rule in writing before seeing the result.</a:t>
                      </a:r>
                    </a:p>
                  </a:txBody>
                  <a:tcPr marL="72142" marR="72142" marT="36095" marB="36095" anchor="ctr">
                    <a:solidFill>
                      <a:schemeClr val="bg1"/>
                    </a:solidFill>
                  </a:tcPr>
                </a:tc>
              </a:tr>
              <a:tr h="252663">
                <a:tc>
                  <a:txBody>
                    <a:bodyPr wrap="square"/>
                    <a:lstStyle/>
                    <a:p>
                      <a:r>
                        <a:rPr sz="880" b="0" i="0">
                          <a:solidFill>
                            <a:schemeClr val="tx1"/>
                          </a:solidFill>
                        </a:rPr>
                        <a:t>bf16</a:t>
                      </a:r>
                    </a:p>
                  </a:txBody>
                  <a:tcPr marL="72142" marR="72142" marT="36095" marB="36095" anchor="ctr">
                    <a:solidFill>
                      <a:schemeClr val="accent5"/>
                    </a:solidFill>
                  </a:tcPr>
                </a:tc>
                <a:tc>
                  <a:txBody>
                    <a:bodyPr wrap="square"/>
                    <a:lstStyle/>
                    <a:p>
                      <a:r>
                        <a:rPr sz="880" b="0" i="0">
                          <a:solidFill>
                            <a:schemeClr val="tx1"/>
                          </a:solidFill>
                        </a:rPr>
                        <a:t>A lower-precision number format; used to check that rounding does not drive results.</a:t>
                      </a:r>
                    </a:p>
                  </a:txBody>
                  <a:tcPr marL="72142" marR="72142" marT="36095" marB="36095" anchor="ctr">
                    <a:solidFill>
                      <a:schemeClr val="accent5"/>
                    </a:solidFill>
                  </a:tcPr>
                </a:tc>
              </a:tr>
            </a:tbl>
          </a:graphicData>
        </a:graphic>
      </p:graphicFrame>
      <p:sp>
        <p:nvSpPr>
          <p:cNvPr id="5" name="TextBox 4"/>
          <p:cNvSpPr txBox="1"/>
          <p:nvPr/>
        </p:nvSpPr>
        <p:spPr>
          <a:xfrm>
            <a:off x="721420" y="6363006"/>
            <a:ext cx="2164260" cy="135293"/>
          </a:xfrm>
          <a:prstGeom prst="rect">
            <a:avLst/>
          </a:prstGeom>
          <a:noFill/>
        </p:spPr>
        <p:txBody>
          <a:bodyPr wrap="none" anchor="t" lIns="0" rIns="0" tIns="0" bIns="0">
            <a:noAutofit/>
          </a:bodyPr>
          <a:lstStyle/>
          <a:p>
            <a:pPr algn="l">
              <a:lnSpc>
                <a:spcPts val="1062"/>
              </a:lnSpc>
              <a:spcBef>
                <a:spcPts val="0"/>
              </a:spcBef>
              <a:spcAft>
                <a:spcPts val="0"/>
              </a:spcAft>
            </a:pPr>
            <a:r>
              <a:rPr sz="850" b="0" i="0">
                <a:solidFill>
                  <a:srgbClr val="7A8A85"/>
                </a:solidFill>
                <a:latin typeface="Courier New"/>
              </a:rPr>
              <a:t>21 / 26</a:t>
            </a:r>
          </a:p>
        </p:txBody>
      </p:sp>
      <p:sp>
        <p:nvSpPr>
          <p:cNvPr id="6" name="TextBox 5"/>
          <p:cNvSpPr txBox="1"/>
          <p:nvPr/>
        </p:nvSpPr>
        <p:spPr>
          <a:xfrm>
            <a:off x="721420" y="6363006"/>
            <a:ext cx="10749160" cy="135293"/>
          </a:xfrm>
          <a:prstGeom prst="rect">
            <a:avLst/>
          </a:prstGeom>
          <a:noFill/>
        </p:spPr>
        <p:txBody>
          <a:bodyPr wrap="none" anchor="t" lIns="0" rIns="0" tIns="0" bIns="0">
            <a:noAutofit/>
          </a:bodyPr>
          <a:lstStyle/>
          <a:p>
            <a:pPr algn="r">
              <a:lnSpc>
                <a:spcPts val="1062"/>
              </a:lnSpc>
              <a:spcBef>
                <a:spcPts val="0"/>
              </a:spcBef>
              <a:spcAft>
                <a:spcPts val="0"/>
              </a:spcAft>
            </a:pPr>
            <a:r>
              <a:rPr sz="850" b="0" i="0">
                <a:solidFill>
                  <a:srgbClr val="7A8A85"/>
                </a:solidFill>
              </a:rPr>
              <a:t>definitions: this talk; Wherry 2015; Theodoris 2023; Benjamini 1995; Young 2020; Mann 1947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chemeClr val="bg2"/>
        </a:solidFill>
        <a:effectLst/>
      </p:bgPr>
    </p:bg>
    <p:spTree>
      <p:nvGrpSpPr>
        <p:cNvPr id="1" name=""/>
        <p:cNvGrpSpPr/>
        <p:nvPr/>
      </p:nvGrpSpPr>
      <p:grpSpPr/>
      <p:sp>
        <p:nvSpPr>
          <p:cNvPr id="2" name="Title 1"/>
          <p:cNvSpPr>
            <a:spLocks noGrp="1"/>
          </p:cNvSpPr>
          <p:nvPr>
            <p:ph type="title"/>
          </p:nvPr>
        </p:nvSpPr>
        <p:spPr>
          <a:xfrm>
            <a:off x="721420" y="1515979"/>
            <a:ext cx="10460592" cy="695245"/>
          </a:xfrm>
        </p:spPr>
        <p:txBody>
          <a:bodyPr wrap="square" anchor="t" lIns="0" rIns="0" tIns="0" bIns="0">
            <a:noAutofit/>
          </a:bodyPr>
          <a:lstStyle/>
          <a:p>
            <a:pPr algn="l">
              <a:lnSpc>
                <a:spcPts val="2436"/>
              </a:lnSpc>
            </a:pPr>
            <a:r>
              <a:rPr sz="2100" b="1" i="0">
                <a:solidFill>
                  <a:schemeClr val="tx1"/>
                </a:solidFill>
              </a:rPr>
              <a:t>Backup slides</a:t>
            </a:r>
          </a:p>
        </p:txBody>
      </p:sp>
      <p:sp>
        <p:nvSpPr>
          <p:cNvPr id="3" name="TextBox 2"/>
          <p:cNvSpPr txBox="1"/>
          <p:nvPr/>
        </p:nvSpPr>
        <p:spPr>
          <a:xfrm>
            <a:off x="721420" y="762560"/>
            <a:ext cx="10749160" cy="143251"/>
          </a:xfrm>
          <a:prstGeom prst="rect">
            <a:avLst/>
          </a:prstGeom>
          <a:noFill/>
        </p:spPr>
        <p:txBody>
          <a:bodyPr wrap="none" anchor="t" lIns="0" rIns="0" tIns="0" bIns="0">
            <a:noAutofit/>
          </a:bodyPr>
          <a:lstStyle/>
          <a:p>
            <a:pPr algn="l">
              <a:lnSpc>
                <a:spcPts val="1125"/>
              </a:lnSpc>
              <a:spcBef>
                <a:spcPts val="0"/>
              </a:spcBef>
              <a:spcAft>
                <a:spcPts val="0"/>
              </a:spcAft>
            </a:pPr>
            <a:r>
              <a:rPr sz="900" b="1" i="0">
                <a:solidFill>
                  <a:schemeClr val="accent1"/>
                </a:solidFill>
                <a:latin typeface="Courier New"/>
              </a:rPr>
              <a:t>APPENDIX</a:t>
            </a:r>
          </a:p>
        </p:txBody>
      </p:sp>
      <p:sp>
        <p:nvSpPr>
          <p:cNvPr id="4" name="TextBox 3"/>
          <p:cNvSpPr txBox="1"/>
          <p:nvPr/>
        </p:nvSpPr>
        <p:spPr>
          <a:xfrm>
            <a:off x="721420" y="2382253"/>
            <a:ext cx="10749160" cy="1209675"/>
          </a:xfrm>
          <a:prstGeom prst="rect">
            <a:avLst/>
          </a:prstGeom>
          <a:noFill/>
        </p:spPr>
        <p:txBody>
          <a:bodyPr wrap="square" anchor="t" lIns="0" rIns="0" tIns="0" bIns="0">
            <a:noAutofit/>
          </a:bodyPr>
          <a:lstStyle/>
          <a:p>
            <a:pPr algn="l">
              <a:lnSpc>
                <a:spcPts val="1500"/>
              </a:lnSpc>
              <a:spcBef>
                <a:spcPts val="0"/>
              </a:spcBef>
              <a:spcAft>
                <a:spcPts val="400"/>
              </a:spcAft>
            </a:pPr>
            <a:r>
              <a:rPr sz="1100" b="0" i="0">
                <a:solidFill>
                  <a:schemeClr val="tx2"/>
                </a:solidFill>
              </a:rPr>
              <a:t>Deep-dive technical slides, kept for questions:</a:t>
            </a:r>
          </a:p>
          <a:p>
            <a:pPr algn="l">
              <a:lnSpc>
                <a:spcPts val="1500"/>
              </a:lnSpc>
              <a:spcBef>
                <a:spcPts val="0"/>
              </a:spcBef>
              <a:spcAft>
                <a:spcPts val="400"/>
              </a:spcAft>
            </a:pPr>
            <a:r>
              <a:rPr sz="1100" b="0" i="0">
                <a:solidFill>
                  <a:schemeClr val="tx2"/>
                </a:solidFill>
              </a:rPr>
              <a:t>A1 · Precision control: is any of this a bf16 artefact? (was slide 15 of the 25 Sep deck)</a:t>
            </a:r>
          </a:p>
          <a:p>
            <a:pPr algn="l">
              <a:lnSpc>
                <a:spcPts val="1500"/>
              </a:lnSpc>
              <a:spcBef>
                <a:spcPts val="0"/>
              </a:spcBef>
              <a:spcAft>
                <a:spcPts val="400"/>
              </a:spcAft>
            </a:pPr>
            <a:r>
              <a:rPr sz="1100" b="0" i="0">
                <a:solidFill>
                  <a:schemeClr val="tx2"/>
                </a:solidFill>
              </a:rPr>
              <a:t>A2 · Mechanism: the four hits in one interaction neighbourhood (was slide 16; the designated cut for a shorter slot)</a:t>
            </a:r>
          </a:p>
          <a:p>
            <a:pPr algn="l">
              <a:lnSpc>
                <a:spcPts val="1500"/>
              </a:lnSpc>
              <a:spcBef>
                <a:spcPts val="0"/>
              </a:spcBef>
              <a:spcAft>
                <a:spcPts val="400"/>
              </a:spcAft>
            </a:pPr>
            <a:r>
              <a:rPr sz="1100" b="0" i="0">
                <a:solidFill>
                  <a:schemeClr val="tx2"/>
                </a:solidFill>
              </a:rPr>
              <a:t>A3 · S100 ISP per-gene scores (new, 2026-09-28)</a:t>
            </a:r>
          </a:p>
          <a:p>
            <a:pPr algn="l">
              <a:lnSpc>
                <a:spcPts val="1500"/>
              </a:lnSpc>
              <a:spcBef>
                <a:spcPts val="0"/>
              </a:spcBef>
              <a:spcAft>
                <a:spcPts val="400"/>
              </a:spcAft>
            </a:pPr>
            <a:r>
              <a:rPr sz="1100" b="0" i="0">
                <a:solidFill>
                  <a:schemeClr val="tx2"/>
                </a:solidFill>
              </a:rPr>
              <a:t>A4 · All 31 immune / lineage genes ranked by deletion shift (panel b of the detection figure, moved here so it can be read at 14 pt)</a:t>
            </a:r>
          </a:p>
        </p:txBody>
      </p:sp>
      <p:sp>
        <p:nvSpPr>
          <p:cNvPr id="5" name="TextBox 4"/>
          <p:cNvSpPr txBox="1"/>
          <p:nvPr/>
        </p:nvSpPr>
        <p:spPr>
          <a:xfrm>
            <a:off x="721420" y="6363006"/>
            <a:ext cx="2164260" cy="135293"/>
          </a:xfrm>
          <a:prstGeom prst="rect">
            <a:avLst/>
          </a:prstGeom>
          <a:noFill/>
        </p:spPr>
        <p:txBody>
          <a:bodyPr wrap="none" anchor="t" lIns="0" rIns="0" tIns="0" bIns="0">
            <a:noAutofit/>
          </a:bodyPr>
          <a:lstStyle/>
          <a:p>
            <a:pPr algn="l">
              <a:lnSpc>
                <a:spcPts val="1062"/>
              </a:lnSpc>
              <a:spcBef>
                <a:spcPts val="0"/>
              </a:spcBef>
              <a:spcAft>
                <a:spcPts val="0"/>
              </a:spcAft>
            </a:pPr>
            <a:r>
              <a:rPr sz="850" b="0" i="0">
                <a:solidFill>
                  <a:srgbClr val="7A8A85"/>
                </a:solidFill>
                <a:latin typeface="Courier New"/>
              </a:rPr>
              <a:t>22 / 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chemeClr val="tx1"/>
        </a:solidFill>
        <a:effectLst/>
      </p:bgPr>
    </p:bg>
    <p:spTree>
      <p:nvGrpSpPr>
        <p:cNvPr id="1" name=""/>
        <p:cNvGrpSpPr/>
        <p:nvPr/>
      </p:nvGrpSpPr>
      <p:grpSpPr/>
      <p:sp>
        <p:nvSpPr>
          <p:cNvPr id="2" name="Title 1"/>
          <p:cNvSpPr>
            <a:spLocks noGrp="1"/>
          </p:cNvSpPr>
          <p:nvPr>
            <p:ph type="title"/>
          </p:nvPr>
        </p:nvSpPr>
        <p:spPr>
          <a:xfrm>
            <a:off x="721420" y="1443789"/>
            <a:ext cx="10749160" cy="562817"/>
          </a:xfrm>
        </p:spPr>
        <p:txBody>
          <a:bodyPr wrap="square" anchor="t" lIns="0" rIns="0" tIns="0" bIns="0">
            <a:noAutofit/>
          </a:bodyPr>
          <a:lstStyle/>
          <a:p>
            <a:pPr algn="l">
              <a:lnSpc>
                <a:spcPts val="1972"/>
              </a:lnSpc>
              <a:spcBef>
                <a:spcPts val="0"/>
              </a:spcBef>
              <a:spcAft>
                <a:spcPts val="300"/>
              </a:spcAft>
            </a:pPr>
            <a:r>
              <a:rPr sz="1700" b="1" i="0">
                <a:solidFill>
                  <a:schemeClr val="accent6"/>
                </a:solidFill>
              </a:rPr>
              <a:t>No: precision replicates cleanly; model size is the axis that moves things</a:t>
            </a:r>
          </a:p>
        </p:txBody>
      </p:sp>
      <p:sp>
        <p:nvSpPr>
          <p:cNvPr id="3" name="TextBox 2"/>
          <p:cNvSpPr txBox="1"/>
          <p:nvPr/>
        </p:nvSpPr>
        <p:spPr>
          <a:xfrm>
            <a:off x="721420" y="762560"/>
            <a:ext cx="10749160" cy="143251"/>
          </a:xfrm>
          <a:prstGeom prst="rect">
            <a:avLst/>
          </a:prstGeom>
          <a:noFill/>
        </p:spPr>
        <p:txBody>
          <a:bodyPr wrap="none" anchor="t" lIns="0" rIns="0" tIns="0" bIns="0">
            <a:noAutofit/>
          </a:bodyPr>
          <a:lstStyle/>
          <a:p>
            <a:pPr algn="l"/>
            <a:r>
              <a:rPr sz="900" b="1" i="0">
                <a:solidFill>
                  <a:schemeClr val="accent3"/>
                </a:solidFill>
                <a:latin typeface="Courier New"/>
              </a:rPr>
              <a:t>RESULTS · CONTROL, IS ANY OF THIS A PRECISION ARTIFACT?</a:t>
            </a:r>
          </a:p>
        </p:txBody>
      </p:sp>
      <p:pic>
        <p:nvPicPr>
          <p:cNvPr id="4" name="Picture 3" descr="fig_bf16_canary.png"/>
          <p:cNvPicPr>
            <a:picLocks noChangeAspect="1"/>
          </p:cNvPicPr>
          <p:nvPr/>
        </p:nvPicPr>
        <p:blipFill>
          <a:blip r:embed="rId2"/>
          <a:stretch>
            <a:fillRect/>
          </a:stretch>
        </p:blipFill>
        <p:spPr>
          <a:xfrm>
            <a:off x="1142249" y="2598821"/>
            <a:ext cx="3126154" cy="2815389"/>
          </a:xfrm>
          <a:prstGeom prst="rect">
            <a:avLst/>
          </a:prstGeom>
        </p:spPr>
      </p:pic>
      <p:sp>
        <p:nvSpPr>
          <p:cNvPr id="5" name="TextBox 4"/>
          <p:cNvSpPr txBox="1"/>
          <p:nvPr/>
        </p:nvSpPr>
        <p:spPr>
          <a:xfrm>
            <a:off x="4977799" y="2598821"/>
            <a:ext cx="6492781" cy="1515979"/>
          </a:xfrm>
          <a:prstGeom prst="rect">
            <a:avLst/>
          </a:prstGeom>
          <a:noFill/>
        </p:spPr>
        <p:txBody>
          <a:bodyPr wrap="square" anchor="t" lIns="0" rIns="0" tIns="0" bIns="0">
            <a:noAutofit/>
          </a:bodyPr>
          <a:lstStyle/>
          <a:p>
            <a:pPr algn="l">
              <a:lnSpc>
                <a:spcPts val="1600"/>
              </a:lnSpc>
              <a:spcBef>
                <a:spcPts val="0"/>
              </a:spcBef>
              <a:spcAft>
                <a:spcPts val="300"/>
              </a:spcAft>
            </a:pPr>
            <a:r>
              <a:rPr sz="1250" b="1" i="0">
                <a:solidFill>
                  <a:schemeClr val="accent3"/>
                </a:solidFill>
              </a:rPr>
              <a:t>Same model, fp32 vs. bf16 (half precision)</a:t>
            </a:r>
          </a:p>
          <a:p>
            <a:pPr algn="l">
              <a:lnSpc>
                <a:spcPts val="1340"/>
              </a:lnSpc>
              <a:spcBef>
                <a:spcPts val="0"/>
              </a:spcBef>
              <a:spcAft>
                <a:spcPts val="300"/>
              </a:spcAft>
            </a:pPr>
            <a:r>
              <a:rPr sz="960" b="0" i="0">
                <a:solidFill>
                  <a:srgbClr val="CFE0DA"/>
                </a:solidFill>
              </a:rPr>
              <a:t>104M panel (300 rows): rho = 0.9998, sign agreement 298/300. 316M canary (60 rows): rho = 0.9987, sign agreement 60/60.</a:t>
            </a:r>
          </a:p>
          <a:p>
            <a:pPr algn="l">
              <a:lnSpc>
                <a:spcPts val="1280"/>
              </a:lnSpc>
              <a:spcBef>
                <a:spcPts val="0"/>
              </a:spcBef>
              <a:spcAft>
                <a:spcPts val="300"/>
              </a:spcAft>
            </a:pPr>
            <a:r>
              <a:rPr sz="919" b="0" i="0">
                <a:solidFill>
                  <a:srgbClr val="CFE0DA"/>
                </a:solidFill>
              </a:rPr>
              <a:t>The pre-registered 104M sign-agreement gate is still recorded </a:t>
            </a:r>
            <a:r>
              <a:rPr sz="919" b="1" i="0">
                <a:solidFill>
                  <a:srgbClr val="CFE0DA"/>
                </a:solidFill>
              </a:rPr>
              <a:t>FAIL</a:t>
            </a:r>
            <a:r>
              <a:rPr sz="919" b="0" i="0">
                <a:solidFill>
                  <a:srgbClr val="CFE0DA"/>
                </a:solidFill>
              </a:rPr>
              <a:t> — a bitwise-deterministic fp32-vs-fp32 rerun made the noise floor zero, not a usable sign threshold; the domain reviewer's ruling was that the frozen gate stands unamended, not that bf16 disagrees with fp32. Both are true at once.</a:t>
            </a:r>
          </a:p>
        </p:txBody>
      </p:sp>
      <p:sp>
        <p:nvSpPr>
          <p:cNvPr id="6" name="TextBox 5"/>
          <p:cNvSpPr txBox="1"/>
          <p:nvPr/>
        </p:nvSpPr>
        <p:spPr>
          <a:xfrm>
            <a:off x="4977799" y="4259179"/>
            <a:ext cx="6492781" cy="1155032"/>
          </a:xfrm>
          <a:prstGeom prst="rect">
            <a:avLst/>
          </a:prstGeom>
          <a:noFill/>
        </p:spPr>
        <p:txBody>
          <a:bodyPr wrap="square" anchor="t" lIns="0" rIns="0" tIns="0" bIns="0">
            <a:noAutofit/>
          </a:bodyPr>
          <a:lstStyle/>
          <a:p>
            <a:pPr algn="l">
              <a:lnSpc>
                <a:spcPts val="1600"/>
              </a:lnSpc>
              <a:spcBef>
                <a:spcPts val="0"/>
              </a:spcBef>
              <a:spcAft>
                <a:spcPts val="300"/>
              </a:spcAft>
            </a:pPr>
            <a:r>
              <a:rPr sz="1250" b="1" i="0">
                <a:solidFill>
                  <a:schemeClr val="accent3"/>
                </a:solidFill>
              </a:rPr>
              <a:t>Same model, changed precision vs. changed size</a:t>
            </a:r>
          </a:p>
          <a:p>
            <a:pPr algn="l">
              <a:lnSpc>
                <a:spcPts val="1320"/>
              </a:lnSpc>
              <a:spcBef>
                <a:spcPts val="0"/>
              </a:spcBef>
              <a:spcAft>
                <a:spcPts val="300"/>
              </a:spcAft>
            </a:pPr>
            <a:r>
              <a:rPr sz="940" b="0" i="0">
                <a:solidFill>
                  <a:srgbClr val="CFE0DA"/>
                </a:solidFill>
              </a:rPr>
              <a:t>Precision (104M fp32→bf16): rho = 0.9998. Size (104M→316M, both bf16): rho = 0.489. Using (1−rho) as the divergence measure, size moves results ~2,500x (~3.4 orders of magnitude) more than precision. None of this deck's findings are precision artifacts.</a:t>
            </a:r>
          </a:p>
        </p:txBody>
      </p:sp>
      <p:sp>
        <p:nvSpPr>
          <p:cNvPr id="7" name="TextBox 6"/>
          <p:cNvSpPr txBox="1"/>
          <p:nvPr/>
        </p:nvSpPr>
        <p:spPr>
          <a:xfrm>
            <a:off x="721420" y="6363006"/>
            <a:ext cx="10749160" cy="135293"/>
          </a:xfrm>
          <a:prstGeom prst="rect">
            <a:avLst/>
          </a:prstGeom>
          <a:noFill/>
        </p:spPr>
        <p:txBody>
          <a:bodyPr wrap="none" anchor="t" lIns="0" rIns="0" tIns="0" bIns="0">
            <a:noAutofit/>
          </a:bodyPr>
          <a:lstStyle/>
          <a:p>
            <a:pPr algn="l"/>
            <a:r>
              <a:rPr sz="850" b="0" i="0">
                <a:solidFill>
                  <a:srgbClr val="9A877C"/>
                </a:solidFill>
                <a:latin typeface="Courier New"/>
              </a:rPr>
              <a:t>23 / 26</a:t>
            </a:r>
          </a:p>
        </p:txBody>
      </p:sp>
      <p:sp>
        <p:nvSpPr>
          <p:cNvPr id="8" name="TextBox 7"/>
          <p:cNvSpPr txBox="1"/>
          <p:nvPr/>
        </p:nvSpPr>
        <p:spPr>
          <a:xfrm>
            <a:off x="721420" y="6363006"/>
            <a:ext cx="10749160" cy="135293"/>
          </a:xfrm>
          <a:prstGeom prst="rect">
            <a:avLst/>
          </a:prstGeom>
          <a:noFill/>
        </p:spPr>
        <p:txBody>
          <a:bodyPr wrap="none" anchor="t" lIns="0" rIns="0" tIns="0" bIns="0">
            <a:noAutofit/>
          </a:bodyPr>
          <a:lstStyle/>
          <a:p>
            <a:pPr algn="r"/>
            <a:r>
              <a:rPr sz="850" b="0" i="0">
                <a:solidFill>
                  <a:srgbClr val="9A877C"/>
                </a:solidFill>
              </a:rPr>
              <a:t>committed_run_stats/{bf16,316m_bf16,...} @ origin/main; RESULTS_BF16.md @ afa0564</a:t>
            </a:r>
          </a:p>
        </p:txBody>
      </p:sp>
      <p:sp>
        <p:nvSpPr>
          <p:cNvPr id="9" name="TextBox 8"/>
          <p:cNvSpPr txBox="1"/>
          <p:nvPr/>
        </p:nvSpPr>
        <p:spPr>
          <a:xfrm>
            <a:off x="721420" y="5919537"/>
            <a:ext cx="10749160" cy="397042"/>
          </a:xfrm>
          <a:prstGeom prst="rect">
            <a:avLst/>
          </a:prstGeom>
          <a:noFill/>
        </p:spPr>
        <p:txBody>
          <a:bodyPr wrap="square" anchor="t" lIns="0" rIns="0" tIns="0" bIns="0">
            <a:noAutofit/>
          </a:bodyPr>
          <a:lstStyle/>
          <a:p>
            <a:pPr algn="l">
              <a:lnSpc>
                <a:spcPts val="1250"/>
              </a:lnSpc>
              <a:spcBef>
                <a:spcPts val="0"/>
              </a:spcBef>
              <a:spcAft>
                <a:spcPts val="0"/>
              </a:spcAft>
            </a:pPr>
            <a:r>
              <a:rPr sz="950" b="0" i="1">
                <a:solidFill>
                  <a:schemeClr val="accent3"/>
                </a:solidFill>
              </a:rPr>
              <a:t>In plain words: rerunning the model at lower numerical precision gave essentially the same answers (rho 0.9998), so rounding does not explain any result in this talk.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chemeClr val="bg2"/>
        </a:solidFill>
        <a:effectLst/>
      </p:bgPr>
    </p:bg>
    <p:spTree>
      <p:nvGrpSpPr>
        <p:cNvPr id="1" name=""/>
        <p:cNvGrpSpPr/>
        <p:nvPr/>
      </p:nvGrpSpPr>
      <p:grpSpPr/>
      <p:sp>
        <p:nvSpPr>
          <p:cNvPr id="2" name="Title 1"/>
          <p:cNvSpPr>
            <a:spLocks noGrp="1"/>
          </p:cNvSpPr>
          <p:nvPr>
            <p:ph type="title"/>
          </p:nvPr>
        </p:nvSpPr>
        <p:spPr>
          <a:xfrm>
            <a:off x="721420" y="1515979"/>
            <a:ext cx="9739172" cy="595924"/>
          </a:xfrm>
        </p:spPr>
        <p:txBody>
          <a:bodyPr wrap="square" anchor="t" lIns="0" rIns="0" tIns="0" bIns="0">
            <a:noAutofit/>
          </a:bodyPr>
          <a:lstStyle/>
          <a:p>
            <a:pPr algn="l">
              <a:lnSpc>
                <a:spcPts val="2088"/>
              </a:lnSpc>
              <a:spcBef>
                <a:spcPts val="0"/>
              </a:spcBef>
              <a:spcAft>
                <a:spcPts val="300"/>
              </a:spcAft>
            </a:pPr>
            <a:r>
              <a:rPr sz="1800" b="1" i="0">
                <a:solidFill>
                  <a:schemeClr val="tx1"/>
                </a:solidFill>
              </a:rPr>
              <a:t>The four original hits sit in one connected interaction neighbourhood</a:t>
            </a:r>
          </a:p>
        </p:txBody>
      </p:sp>
      <p:sp>
        <p:nvSpPr>
          <p:cNvPr id="3" name="TextBox 2"/>
          <p:cNvSpPr txBox="1"/>
          <p:nvPr/>
        </p:nvSpPr>
        <p:spPr>
          <a:xfrm>
            <a:off x="721420" y="762560"/>
            <a:ext cx="10749160" cy="143251"/>
          </a:xfrm>
          <a:prstGeom prst="rect">
            <a:avLst/>
          </a:prstGeom>
          <a:noFill/>
        </p:spPr>
        <p:txBody>
          <a:bodyPr wrap="none" anchor="t" lIns="0" rIns="0" tIns="0" bIns="0">
            <a:noAutofit/>
          </a:bodyPr>
          <a:lstStyle/>
          <a:p>
            <a:pPr algn="l"/>
            <a:r>
              <a:rPr sz="900" b="1" i="0">
                <a:solidFill>
                  <a:schemeClr val="accent1"/>
                </a:solidFill>
                <a:latin typeface="Courier New"/>
              </a:rPr>
              <a:t>RESULTS · MECHANISM (DESIGNATED CUT FOR A SHORTER SLOT)</a:t>
            </a:r>
          </a:p>
        </p:txBody>
      </p:sp>
      <p:pic>
        <p:nvPicPr>
          <p:cNvPr id="4" name="Picture 3" descr="network_c.png"/>
          <p:cNvPicPr>
            <a:picLocks noChangeAspect="1"/>
          </p:cNvPicPr>
          <p:nvPr/>
        </p:nvPicPr>
        <p:blipFill>
          <a:blip r:embed="rId2"/>
          <a:stretch>
            <a:fillRect/>
          </a:stretch>
        </p:blipFill>
        <p:spPr>
          <a:xfrm>
            <a:off x="796568" y="2310063"/>
            <a:ext cx="5260355" cy="3609474"/>
          </a:xfrm>
          <a:prstGeom prst="rect">
            <a:avLst/>
          </a:prstGeom>
        </p:spPr>
      </p:pic>
      <p:sp>
        <p:nvSpPr>
          <p:cNvPr id="5" name="TextBox 4"/>
          <p:cNvSpPr txBox="1"/>
          <p:nvPr/>
        </p:nvSpPr>
        <p:spPr>
          <a:xfrm>
            <a:off x="6420639" y="2310063"/>
            <a:ext cx="5049941" cy="2382253"/>
          </a:xfrm>
          <a:prstGeom prst="rect">
            <a:avLst/>
          </a:prstGeom>
          <a:noFill/>
        </p:spPr>
        <p:txBody>
          <a:bodyPr wrap="square" anchor="t" lIns="0" rIns="0" tIns="0" bIns="0">
            <a:noAutofit/>
          </a:bodyPr>
          <a:lstStyle/>
          <a:p>
            <a:pPr algn="l">
              <a:lnSpc>
                <a:spcPts val="1600"/>
              </a:lnSpc>
              <a:spcBef>
                <a:spcPts val="0"/>
              </a:spcBef>
              <a:spcAft>
                <a:spcPts val="300"/>
              </a:spcAft>
            </a:pPr>
            <a:r>
              <a:rPr sz="1200" b="1" i="0">
                <a:solidFill>
                  <a:schemeClr val="accent1"/>
                </a:solidFill>
              </a:rPr>
              <a:t>From prior literature, not inferred from these cells</a:t>
            </a:r>
          </a:p>
          <a:p>
            <a:pPr algn="l">
              <a:lnSpc>
                <a:spcPts val="1450"/>
              </a:lnSpc>
              <a:spcBef>
                <a:spcPts val="0"/>
              </a:spcBef>
              <a:spcAft>
                <a:spcPts val="300"/>
              </a:spcAft>
            </a:pPr>
            <a:r>
              <a:rPr sz="1000" b="0" i="0">
                <a:solidFill>
                  <a:schemeClr val="tx2"/>
                </a:solidFill>
              </a:rPr>
              <a:t>TIGIT: CAR-T support. TIM-3: solid-tumour knockout precedent. CTLA-4: real signal, less CAR-T-specific. IL7R: persistence, not exhaustion. 54 STRING edges among 16 context genes; TOX and LAYN have no edge above threshold; PD-L1 is absent from the T-cell atlas.</a:t>
            </a:r>
          </a:p>
        </p:txBody>
      </p:sp>
      <p:sp>
        <p:nvSpPr>
          <p:cNvPr id="6" name="Rounded Rectangle 5"/>
          <p:cNvSpPr/>
          <p:nvPr/>
        </p:nvSpPr>
        <p:spPr>
          <a:xfrm>
            <a:off x="6420639" y="4836695"/>
            <a:ext cx="5049941" cy="1082842"/>
          </a:xfrm>
          <a:prstGeom prst="roundRect">
            <a:avLst>
              <a:gd name="adj" fmla="val 13333"/>
            </a:avLst>
          </a:prstGeom>
          <a:solidFill>
            <a:schemeClr val="accent5"/>
          </a:solidFill>
          <a:ln w="7620">
            <a:solidFill>
              <a:schemeClr val="accent5"/>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 name="TextBox 6"/>
          <p:cNvSpPr txBox="1"/>
          <p:nvPr/>
        </p:nvSpPr>
        <p:spPr>
          <a:xfrm>
            <a:off x="6709207" y="4944979"/>
            <a:ext cx="4472805" cy="866274"/>
          </a:xfrm>
          <a:prstGeom prst="rect">
            <a:avLst/>
          </a:prstGeom>
          <a:noFill/>
        </p:spPr>
        <p:txBody>
          <a:bodyPr wrap="square" anchor="t" lIns="0" rIns="0" tIns="0" bIns="0">
            <a:noAutofit/>
          </a:bodyPr>
          <a:lstStyle/>
          <a:p>
            <a:pPr algn="l">
              <a:lnSpc>
                <a:spcPts val="1300"/>
              </a:lnSpc>
              <a:spcBef>
                <a:spcPts val="0"/>
              </a:spcBef>
              <a:spcAft>
                <a:spcPts val="300"/>
              </a:spcAft>
            </a:pPr>
            <a:r>
              <a:rPr sz="940" b="1" i="0">
                <a:solidFill>
                  <a:schemeClr val="tx2"/>
                </a:solidFill>
              </a:rPr>
              <a:t>No caveat — these four hits are unaffected by anything in this deck's audit.</a:t>
            </a:r>
          </a:p>
        </p:txBody>
      </p:sp>
      <p:sp>
        <p:nvSpPr>
          <p:cNvPr id="8" name="TextBox 7"/>
          <p:cNvSpPr txBox="1"/>
          <p:nvPr/>
        </p:nvSpPr>
        <p:spPr>
          <a:xfrm>
            <a:off x="721420" y="6363006"/>
            <a:ext cx="10749160" cy="135293"/>
          </a:xfrm>
          <a:prstGeom prst="rect">
            <a:avLst/>
          </a:prstGeom>
          <a:noFill/>
        </p:spPr>
        <p:txBody>
          <a:bodyPr wrap="none" anchor="t" lIns="0" rIns="0" tIns="0" bIns="0">
            <a:noAutofit/>
          </a:bodyPr>
          <a:lstStyle/>
          <a:p>
            <a:pPr algn="l"/>
            <a:r>
              <a:rPr sz="850" b="0" i="0">
                <a:solidFill>
                  <a:srgbClr val="7A8A85"/>
                </a:solidFill>
                <a:latin typeface="Courier New"/>
              </a:rPr>
              <a:t>24 / 26</a:t>
            </a:r>
          </a:p>
        </p:txBody>
      </p:sp>
      <p:sp>
        <p:nvSpPr>
          <p:cNvPr id="9" name="TextBox 8"/>
          <p:cNvSpPr txBox="1"/>
          <p:nvPr/>
        </p:nvSpPr>
        <p:spPr>
          <a:xfrm>
            <a:off x="721420" y="6363006"/>
            <a:ext cx="10749160" cy="135293"/>
          </a:xfrm>
          <a:prstGeom prst="rect">
            <a:avLst/>
          </a:prstGeom>
          <a:noFill/>
        </p:spPr>
        <p:txBody>
          <a:bodyPr wrap="none" anchor="t" lIns="0" rIns="0" tIns="0" bIns="0">
            <a:noAutofit/>
          </a:bodyPr>
          <a:lstStyle/>
          <a:p>
            <a:pPr algn="r"/>
            <a:r>
              <a:rPr sz="850" b="0" i="0">
                <a:solidFill>
                  <a:srgbClr val="7A8A85"/>
                </a:solidFill>
              </a:rPr>
              <a:t>talk/JSDP_P25_talk.pdf, slide 10 (STRING literature overlay)</a:t>
            </a:r>
          </a:p>
        </p:txBody>
      </p:sp>
      <p:sp>
        <p:nvSpPr>
          <p:cNvPr id="10" name="TextBox 9"/>
          <p:cNvSpPr txBox="1"/>
          <p:nvPr/>
        </p:nvSpPr>
        <p:spPr>
          <a:xfrm>
            <a:off x="721420" y="5955632"/>
            <a:ext cx="10749160" cy="360947"/>
          </a:xfrm>
          <a:prstGeom prst="rect">
            <a:avLst/>
          </a:prstGeom>
          <a:noFill/>
        </p:spPr>
        <p:txBody>
          <a:bodyPr wrap="square" anchor="t" lIns="0" rIns="0" tIns="0" bIns="0">
            <a:noAutofit/>
          </a:bodyPr>
          <a:lstStyle/>
          <a:p>
            <a:pPr algn="l">
              <a:lnSpc>
                <a:spcPts val="1250"/>
              </a:lnSpc>
              <a:spcBef>
                <a:spcPts val="0"/>
              </a:spcBef>
              <a:spcAft>
                <a:spcPts val="0"/>
              </a:spcAft>
            </a:pPr>
            <a:r>
              <a:rPr sz="950" b="0" i="1">
                <a:solidFill>
                  <a:schemeClr val="accent1"/>
                </a:solidFill>
              </a:rPr>
              <a:t>In plain words: the links between these genes come from STRING, a public database of known and predicted protein interactions (Szklarczyk 2023), i.e. from prior literature, not from these cells.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chemeClr val="bg2"/>
        </a:solidFill>
        <a:effectLst/>
      </p:bgPr>
    </p:bg>
    <p:spTree>
      <p:nvGrpSpPr>
        <p:cNvPr id="1" name=""/>
        <p:cNvGrpSpPr/>
        <p:nvPr/>
      </p:nvGrpSpPr>
      <p:grpSpPr/>
      <p:sp>
        <p:nvSpPr>
          <p:cNvPr id="2" name="Title 1"/>
          <p:cNvSpPr>
            <a:spLocks noGrp="1"/>
          </p:cNvSpPr>
          <p:nvPr>
            <p:ph type="title"/>
          </p:nvPr>
        </p:nvSpPr>
        <p:spPr>
          <a:xfrm>
            <a:off x="721420" y="1515979"/>
            <a:ext cx="10460592" cy="695245"/>
          </a:xfrm>
        </p:spPr>
        <p:txBody>
          <a:bodyPr wrap="square" anchor="t" lIns="0" rIns="0" tIns="0" bIns="0">
            <a:noAutofit/>
          </a:bodyPr>
          <a:lstStyle/>
          <a:p>
            <a:pPr algn="l">
              <a:lnSpc>
                <a:spcPts val="2436"/>
              </a:lnSpc>
            </a:pPr>
            <a:r>
              <a:rPr sz="2100" b="1" i="0">
                <a:solidFill>
                  <a:schemeClr val="tx1"/>
                </a:solidFill>
              </a:rPr>
              <a:t>Each S100 gene's percentile against its own 20 matched controls (Q)</a:t>
            </a:r>
          </a:p>
        </p:txBody>
      </p:sp>
      <p:sp>
        <p:nvSpPr>
          <p:cNvPr id="3" name="TextBox 2"/>
          <p:cNvSpPr txBox="1"/>
          <p:nvPr/>
        </p:nvSpPr>
        <p:spPr>
          <a:xfrm>
            <a:off x="721420" y="762560"/>
            <a:ext cx="10749160" cy="143251"/>
          </a:xfrm>
          <a:prstGeom prst="rect">
            <a:avLst/>
          </a:prstGeom>
          <a:noFill/>
        </p:spPr>
        <p:txBody>
          <a:bodyPr wrap="none" anchor="t" lIns="0" rIns="0" tIns="0" bIns="0">
            <a:noAutofit/>
          </a:bodyPr>
          <a:lstStyle/>
          <a:p>
            <a:pPr algn="l">
              <a:lnSpc>
                <a:spcPts val="1125"/>
              </a:lnSpc>
              <a:spcBef>
                <a:spcPts val="0"/>
              </a:spcBef>
              <a:spcAft>
                <a:spcPts val="0"/>
              </a:spcAft>
            </a:pPr>
            <a:r>
              <a:rPr sz="900" b="1" i="0">
                <a:solidFill>
                  <a:schemeClr val="accent1"/>
                </a:solidFill>
                <a:latin typeface="Courier New"/>
              </a:rPr>
              <a:t>APPENDIX · S100 ISP PER-GENE SCORES (NEW, 2026-09-28)</a:t>
            </a:r>
          </a:p>
        </p:txBody>
      </p:sp>
      <p:graphicFrame>
        <p:nvGraphicFramePr>
          <p:cNvPr id="4" name="Table 3"/>
          <p:cNvGraphicFramePr>
            <a:graphicFrameLocks noGrp="1"/>
          </p:cNvGraphicFramePr>
          <p:nvPr/>
        </p:nvGraphicFramePr>
        <p:xfrm>
          <a:off x="721420" y="2382253"/>
          <a:ext cx="10749158" cy="2923677"/>
        </p:xfrm>
        <a:graphic>
          <a:graphicData uri="http://schemas.openxmlformats.org/drawingml/2006/table">
            <a:tbl>
              <a:tblPr firstRow="1" bandRow="1">
                <a:tableStyleId>{5C22544A-7EE6-4342-B048-85BDC9FD1C3A}</a:tableStyleId>
              </a:tblPr>
              <a:tblGrid>
                <a:gridCol w="1226414"/>
                <a:gridCol w="2236402"/>
                <a:gridCol w="1659266"/>
                <a:gridCol w="1514982"/>
                <a:gridCol w="2056047"/>
                <a:gridCol w="2056047"/>
              </a:tblGrid>
              <a:tr h="324853">
                <a:tc>
                  <a:txBody>
                    <a:bodyPr wrap="square"/>
                    <a:lstStyle/>
                    <a:p>
                      <a:r>
                        <a:rPr sz="950" b="1" i="0">
                          <a:solidFill>
                            <a:schemeClr val="bg1"/>
                          </a:solidFill>
                        </a:rPr>
                        <a:t>Gene</a:t>
                      </a:r>
                    </a:p>
                  </a:txBody>
                  <a:tcPr marL="72142" marR="72142" marT="36095" marB="36095" anchor="ctr">
                    <a:solidFill>
                      <a:schemeClr val="accent1"/>
                    </a:solidFill>
                  </a:tcPr>
                </a:tc>
                <a:tc>
                  <a:txBody>
                    <a:bodyPr wrap="square"/>
                    <a:lstStyle/>
                    <a:p>
                      <a:r>
                        <a:rPr sz="950" b="1" i="0">
                          <a:solidFill>
                            <a:schemeClr val="bg1"/>
                          </a:solidFill>
                        </a:rPr>
                        <a:t>Ensembl ID</a:t>
                      </a:r>
                    </a:p>
                  </a:txBody>
                  <a:tcPr marL="72142" marR="72142" marT="36095" marB="36095" anchor="ctr">
                    <a:solidFill>
                      <a:schemeClr val="accent1"/>
                    </a:solidFill>
                  </a:tcPr>
                </a:tc>
                <a:tc>
                  <a:txBody>
                    <a:bodyPr wrap="square"/>
                    <a:lstStyle/>
                    <a:p>
                      <a:r>
                        <a:rPr sz="950" b="1" i="0">
                          <a:solidFill>
                            <a:schemeClr val="bg1"/>
                          </a:solidFill>
                        </a:rPr>
                        <a:t>Group</a:t>
                      </a:r>
                    </a:p>
                  </a:txBody>
                  <a:tcPr marL="72142" marR="72142" marT="36095" marB="36095" anchor="ctr">
                    <a:solidFill>
                      <a:schemeClr val="accent1"/>
                    </a:solidFill>
                  </a:tcPr>
                </a:tc>
                <a:tc>
                  <a:txBody>
                    <a:bodyPr wrap="square"/>
                    <a:lstStyle/>
                    <a:p>
                      <a:r>
                        <a:rPr sz="950" b="1" i="0">
                          <a:solidFill>
                            <a:schemeClr val="bg1"/>
                          </a:solidFill>
                        </a:rPr>
                        <a:t>Ambient risk</a:t>
                      </a:r>
                    </a:p>
                  </a:txBody>
                  <a:tcPr marL="72142" marR="72142" marT="36095" marB="36095" anchor="ctr">
                    <a:solidFill>
                      <a:schemeClr val="accent1"/>
                    </a:solidFill>
                  </a:tcPr>
                </a:tc>
                <a:tc>
                  <a:txBody>
                    <a:bodyPr wrap="square"/>
                    <a:lstStyle/>
                    <a:p>
                      <a:r>
                        <a:rPr sz="950" b="1" i="0">
                          <a:solidFill>
                            <a:schemeClr val="bg1"/>
                          </a:solidFill>
                        </a:rPr>
                        <a:t>Q, LUAD→normal</a:t>
                      </a:r>
                    </a:p>
                  </a:txBody>
                  <a:tcPr marL="72142" marR="72142" marT="36095" marB="36095" anchor="ctr">
                    <a:solidFill>
                      <a:schemeClr val="accent1"/>
                    </a:solidFill>
                  </a:tcPr>
                </a:tc>
                <a:tc>
                  <a:txBody>
                    <a:bodyPr wrap="square"/>
                    <a:lstStyle/>
                    <a:p>
                      <a:r>
                        <a:rPr sz="950" b="1" i="0">
                          <a:solidFill>
                            <a:schemeClr val="bg1"/>
                          </a:solidFill>
                        </a:rPr>
                        <a:t>Q, LUAD→SCLC</a:t>
                      </a:r>
                    </a:p>
                  </a:txBody>
                  <a:tcPr marL="72142" marR="72142" marT="36095" marB="36095" anchor="ctr">
                    <a:solidFill>
                      <a:schemeClr val="accent1"/>
                    </a:solidFill>
                  </a:tcPr>
                </a:tc>
              </a:tr>
              <a:tr h="324853">
                <a:tc>
                  <a:txBody>
                    <a:bodyPr wrap="square"/>
                    <a:lstStyle/>
                    <a:p>
                      <a:r>
                        <a:rPr sz="950" b="0" i="0">
                          <a:solidFill>
                            <a:schemeClr val="tx1"/>
                          </a:solidFill>
                        </a:rPr>
                        <a:t>S100A2</a:t>
                      </a:r>
                    </a:p>
                  </a:txBody>
                  <a:tcPr marL="72142" marR="72142" marT="36095" marB="36095" anchor="ctr">
                    <a:solidFill>
                      <a:schemeClr val="bg1"/>
                    </a:solidFill>
                  </a:tcPr>
                </a:tc>
                <a:tc>
                  <a:txBody>
                    <a:bodyPr wrap="square"/>
                    <a:lstStyle/>
                    <a:p>
                      <a:r>
                        <a:rPr sz="950" b="0" i="0">
                          <a:solidFill>
                            <a:schemeClr val="tx1"/>
                          </a:solidFill>
                        </a:rPr>
                        <a:t>ENSG00000196754</a:t>
                      </a:r>
                    </a:p>
                  </a:txBody>
                  <a:tcPr marL="72142" marR="72142" marT="36095" marB="36095" anchor="ctr">
                    <a:solidFill>
                      <a:schemeClr val="bg1"/>
                    </a:solidFill>
                  </a:tcPr>
                </a:tc>
                <a:tc>
                  <a:txBody>
                    <a:bodyPr wrap="square"/>
                    <a:lstStyle/>
                    <a:p>
                      <a:r>
                        <a:rPr sz="950" b="0" i="0">
                          <a:solidFill>
                            <a:schemeClr val="tx1"/>
                          </a:solidFill>
                        </a:rPr>
                        <a:t>ambient-high</a:t>
                      </a:r>
                    </a:p>
                  </a:txBody>
                  <a:tcPr marL="72142" marR="72142" marT="36095" marB="36095" anchor="ctr">
                    <a:solidFill>
                      <a:schemeClr val="bg1"/>
                    </a:solidFill>
                  </a:tcPr>
                </a:tc>
                <a:tc>
                  <a:txBody>
                    <a:bodyPr wrap="square"/>
                    <a:lstStyle/>
                    <a:p>
                      <a:r>
                        <a:rPr sz="950" b="0" i="0">
                          <a:solidFill>
                            <a:schemeClr val="tx1"/>
                          </a:solidFill>
                        </a:rPr>
                        <a:t>0.955</a:t>
                      </a:r>
                    </a:p>
                  </a:txBody>
                  <a:tcPr marL="72142" marR="72142" marT="36095" marB="36095" anchor="ctr">
                    <a:solidFill>
                      <a:schemeClr val="bg1"/>
                    </a:solidFill>
                  </a:tcPr>
                </a:tc>
                <a:tc>
                  <a:txBody>
                    <a:bodyPr wrap="square"/>
                    <a:lstStyle/>
                    <a:p>
                      <a:r>
                        <a:rPr sz="950" b="0" i="0">
                          <a:solidFill>
                            <a:schemeClr val="tx1"/>
                          </a:solidFill>
                        </a:rPr>
                        <a:t>88.1</a:t>
                      </a:r>
                    </a:p>
                  </a:txBody>
                  <a:tcPr marL="72142" marR="72142" marT="36095" marB="36095" anchor="ctr">
                    <a:solidFill>
                      <a:schemeClr val="bg1"/>
                    </a:solidFill>
                  </a:tcPr>
                </a:tc>
                <a:tc>
                  <a:txBody>
                    <a:bodyPr wrap="square"/>
                    <a:lstStyle/>
                    <a:p>
                      <a:r>
                        <a:rPr sz="950" b="0" i="0">
                          <a:solidFill>
                            <a:schemeClr val="tx1"/>
                          </a:solidFill>
                        </a:rPr>
                        <a:t>97.6</a:t>
                      </a:r>
                    </a:p>
                  </a:txBody>
                  <a:tcPr marL="72142" marR="72142" marT="36095" marB="36095" anchor="ctr">
                    <a:solidFill>
                      <a:schemeClr val="bg1"/>
                    </a:solidFill>
                  </a:tcPr>
                </a:tc>
              </a:tr>
              <a:tr h="324853">
                <a:tc>
                  <a:txBody>
                    <a:bodyPr wrap="square"/>
                    <a:lstStyle/>
                    <a:p>
                      <a:r>
                        <a:rPr sz="950" b="0" i="0">
                          <a:solidFill>
                            <a:schemeClr val="tx1"/>
                          </a:solidFill>
                        </a:rPr>
                        <a:t>S100B</a:t>
                      </a:r>
                    </a:p>
                  </a:txBody>
                  <a:tcPr marL="72142" marR="72142" marT="36095" marB="36095" anchor="ctr">
                    <a:solidFill>
                      <a:schemeClr val="accent5"/>
                    </a:solidFill>
                  </a:tcPr>
                </a:tc>
                <a:tc>
                  <a:txBody>
                    <a:bodyPr wrap="square"/>
                    <a:lstStyle/>
                    <a:p>
                      <a:r>
                        <a:rPr sz="950" b="0" i="0">
                          <a:solidFill>
                            <a:schemeClr val="tx1"/>
                          </a:solidFill>
                        </a:rPr>
                        <a:t>ENSG00000160307</a:t>
                      </a:r>
                    </a:p>
                  </a:txBody>
                  <a:tcPr marL="72142" marR="72142" marT="36095" marB="36095" anchor="ctr">
                    <a:solidFill>
                      <a:schemeClr val="accent5"/>
                    </a:solidFill>
                  </a:tcPr>
                </a:tc>
                <a:tc>
                  <a:txBody>
                    <a:bodyPr wrap="square"/>
                    <a:lstStyle/>
                    <a:p>
                      <a:r>
                        <a:rPr sz="950" b="0" i="0">
                          <a:solidFill>
                            <a:schemeClr val="tx1"/>
                          </a:solidFill>
                        </a:rPr>
                        <a:t>ambient-high</a:t>
                      </a:r>
                    </a:p>
                  </a:txBody>
                  <a:tcPr marL="72142" marR="72142" marT="36095" marB="36095" anchor="ctr">
                    <a:solidFill>
                      <a:schemeClr val="accent5"/>
                    </a:solidFill>
                  </a:tcPr>
                </a:tc>
                <a:tc>
                  <a:txBody>
                    <a:bodyPr wrap="square"/>
                    <a:lstStyle/>
                    <a:p>
                      <a:r>
                        <a:rPr sz="950" b="0" i="0">
                          <a:solidFill>
                            <a:schemeClr val="tx1"/>
                          </a:solidFill>
                        </a:rPr>
                        <a:t>0.859</a:t>
                      </a:r>
                    </a:p>
                  </a:txBody>
                  <a:tcPr marL="72142" marR="72142" marT="36095" marB="36095" anchor="ctr">
                    <a:solidFill>
                      <a:schemeClr val="accent5"/>
                    </a:solidFill>
                  </a:tcPr>
                </a:tc>
                <a:tc>
                  <a:txBody>
                    <a:bodyPr wrap="square"/>
                    <a:lstStyle/>
                    <a:p>
                      <a:r>
                        <a:rPr sz="950" b="0" i="0">
                          <a:solidFill>
                            <a:schemeClr val="tx1"/>
                          </a:solidFill>
                        </a:rPr>
                        <a:t>21.4</a:t>
                      </a:r>
                    </a:p>
                  </a:txBody>
                  <a:tcPr marL="72142" marR="72142" marT="36095" marB="36095" anchor="ctr">
                    <a:solidFill>
                      <a:schemeClr val="accent5"/>
                    </a:solidFill>
                  </a:tcPr>
                </a:tc>
                <a:tc>
                  <a:txBody>
                    <a:bodyPr wrap="square"/>
                    <a:lstStyle/>
                    <a:p>
                      <a:r>
                        <a:rPr sz="950" b="0" i="0">
                          <a:solidFill>
                            <a:schemeClr val="tx1"/>
                          </a:solidFill>
                        </a:rPr>
                        <a:t>16.7</a:t>
                      </a:r>
                    </a:p>
                  </a:txBody>
                  <a:tcPr marL="72142" marR="72142" marT="36095" marB="36095" anchor="ctr">
                    <a:solidFill>
                      <a:schemeClr val="accent5"/>
                    </a:solidFill>
                  </a:tcPr>
                </a:tc>
              </a:tr>
              <a:tr h="324853">
                <a:tc>
                  <a:txBody>
                    <a:bodyPr wrap="square"/>
                    <a:lstStyle/>
                    <a:p>
                      <a:r>
                        <a:rPr sz="950" b="0" i="0">
                          <a:solidFill>
                            <a:schemeClr val="tx1"/>
                          </a:solidFill>
                        </a:rPr>
                        <a:t>S100A13</a:t>
                      </a:r>
                    </a:p>
                  </a:txBody>
                  <a:tcPr marL="72142" marR="72142" marT="36095" marB="36095" anchor="ctr">
                    <a:solidFill>
                      <a:schemeClr val="bg1"/>
                    </a:solidFill>
                  </a:tcPr>
                </a:tc>
                <a:tc>
                  <a:txBody>
                    <a:bodyPr wrap="square"/>
                    <a:lstStyle/>
                    <a:p>
                      <a:r>
                        <a:rPr sz="950" b="0" i="0">
                          <a:solidFill>
                            <a:schemeClr val="tx1"/>
                          </a:solidFill>
                        </a:rPr>
                        <a:t>ENSG00000189171</a:t>
                      </a:r>
                    </a:p>
                  </a:txBody>
                  <a:tcPr marL="72142" marR="72142" marT="36095" marB="36095" anchor="ctr">
                    <a:solidFill>
                      <a:schemeClr val="bg1"/>
                    </a:solidFill>
                  </a:tcPr>
                </a:tc>
                <a:tc>
                  <a:txBody>
                    <a:bodyPr wrap="square"/>
                    <a:lstStyle/>
                    <a:p>
                      <a:r>
                        <a:rPr sz="950" b="0" i="0">
                          <a:solidFill>
                            <a:schemeClr val="tx1"/>
                          </a:solidFill>
                        </a:rPr>
                        <a:t>ambient-high</a:t>
                      </a:r>
                    </a:p>
                  </a:txBody>
                  <a:tcPr marL="72142" marR="72142" marT="36095" marB="36095" anchor="ctr">
                    <a:solidFill>
                      <a:schemeClr val="bg1"/>
                    </a:solidFill>
                  </a:tcPr>
                </a:tc>
                <a:tc>
                  <a:txBody>
                    <a:bodyPr wrap="square"/>
                    <a:lstStyle/>
                    <a:p>
                      <a:r>
                        <a:rPr sz="950" b="0" i="0">
                          <a:solidFill>
                            <a:schemeClr val="tx1"/>
                          </a:solidFill>
                        </a:rPr>
                        <a:t>0.796</a:t>
                      </a:r>
                    </a:p>
                  </a:txBody>
                  <a:tcPr marL="72142" marR="72142" marT="36095" marB="36095" anchor="ctr">
                    <a:solidFill>
                      <a:schemeClr val="bg1"/>
                    </a:solidFill>
                  </a:tcPr>
                </a:tc>
                <a:tc>
                  <a:txBody>
                    <a:bodyPr wrap="square"/>
                    <a:lstStyle/>
                    <a:p>
                      <a:r>
                        <a:rPr sz="950" b="0" i="0">
                          <a:solidFill>
                            <a:schemeClr val="tx1"/>
                          </a:solidFill>
                        </a:rPr>
                        <a:t>26.2</a:t>
                      </a:r>
                    </a:p>
                  </a:txBody>
                  <a:tcPr marL="72142" marR="72142" marT="36095" marB="36095" anchor="ctr">
                    <a:solidFill>
                      <a:schemeClr val="bg1"/>
                    </a:solidFill>
                  </a:tcPr>
                </a:tc>
                <a:tc>
                  <a:txBody>
                    <a:bodyPr wrap="square"/>
                    <a:lstStyle/>
                    <a:p>
                      <a:r>
                        <a:rPr sz="950" b="0" i="0">
                          <a:solidFill>
                            <a:schemeClr val="tx1"/>
                          </a:solidFill>
                        </a:rPr>
                        <a:t>59.5</a:t>
                      </a:r>
                    </a:p>
                  </a:txBody>
                  <a:tcPr marL="72142" marR="72142" marT="36095" marB="36095" anchor="ctr">
                    <a:solidFill>
                      <a:schemeClr val="bg1"/>
                    </a:solidFill>
                  </a:tcPr>
                </a:tc>
              </a:tr>
              <a:tr h="324853">
                <a:tc>
                  <a:txBody>
                    <a:bodyPr wrap="square"/>
                    <a:lstStyle/>
                    <a:p>
                      <a:r>
                        <a:rPr sz="950" b="0" i="0">
                          <a:solidFill>
                            <a:schemeClr val="tx1"/>
                          </a:solidFill>
                        </a:rPr>
                        <a:t>S100PBP</a:t>
                      </a:r>
                    </a:p>
                  </a:txBody>
                  <a:tcPr marL="72142" marR="72142" marT="36095" marB="36095" anchor="ctr">
                    <a:solidFill>
                      <a:schemeClr val="accent5"/>
                    </a:solidFill>
                  </a:tcPr>
                </a:tc>
                <a:tc>
                  <a:txBody>
                    <a:bodyPr wrap="square"/>
                    <a:lstStyle/>
                    <a:p>
                      <a:r>
                        <a:rPr sz="950" b="0" i="0">
                          <a:solidFill>
                            <a:schemeClr val="tx1"/>
                          </a:solidFill>
                        </a:rPr>
                        <a:t>ENSG00000116497</a:t>
                      </a:r>
                    </a:p>
                  </a:txBody>
                  <a:tcPr marL="72142" marR="72142" marT="36095" marB="36095" anchor="ctr">
                    <a:solidFill>
                      <a:schemeClr val="accent5"/>
                    </a:solidFill>
                  </a:tcPr>
                </a:tc>
                <a:tc>
                  <a:txBody>
                    <a:bodyPr wrap="square"/>
                    <a:lstStyle/>
                    <a:p>
                      <a:r>
                        <a:rPr sz="950" b="0" i="0">
                          <a:solidFill>
                            <a:schemeClr val="tx1"/>
                          </a:solidFill>
                        </a:rPr>
                        <a:t>ambient-high</a:t>
                      </a:r>
                    </a:p>
                  </a:txBody>
                  <a:tcPr marL="72142" marR="72142" marT="36095" marB="36095" anchor="ctr">
                    <a:solidFill>
                      <a:schemeClr val="accent5"/>
                    </a:solidFill>
                  </a:tcPr>
                </a:tc>
                <a:tc>
                  <a:txBody>
                    <a:bodyPr wrap="square"/>
                    <a:lstStyle/>
                    <a:p>
                      <a:r>
                        <a:rPr sz="950" b="0" i="0">
                          <a:solidFill>
                            <a:schemeClr val="tx1"/>
                          </a:solidFill>
                        </a:rPr>
                        <a:t>0.744</a:t>
                      </a:r>
                    </a:p>
                  </a:txBody>
                  <a:tcPr marL="72142" marR="72142" marT="36095" marB="36095" anchor="ctr">
                    <a:solidFill>
                      <a:schemeClr val="accent5"/>
                    </a:solidFill>
                  </a:tcPr>
                </a:tc>
                <a:tc>
                  <a:txBody>
                    <a:bodyPr wrap="square"/>
                    <a:lstStyle/>
                    <a:p>
                      <a:r>
                        <a:rPr sz="950" b="0" i="0">
                          <a:solidFill>
                            <a:schemeClr val="tx1"/>
                          </a:solidFill>
                        </a:rPr>
                        <a:t>54.8</a:t>
                      </a:r>
                    </a:p>
                  </a:txBody>
                  <a:tcPr marL="72142" marR="72142" marT="36095" marB="36095" anchor="ctr">
                    <a:solidFill>
                      <a:schemeClr val="accent5"/>
                    </a:solidFill>
                  </a:tcPr>
                </a:tc>
                <a:tc>
                  <a:txBody>
                    <a:bodyPr wrap="square"/>
                    <a:lstStyle/>
                    <a:p>
                      <a:r>
                        <a:rPr sz="950" b="0" i="0">
                          <a:solidFill>
                            <a:schemeClr val="tx1"/>
                          </a:solidFill>
                        </a:rPr>
                        <a:t>78.6</a:t>
                      </a:r>
                    </a:p>
                  </a:txBody>
                  <a:tcPr marL="72142" marR="72142" marT="36095" marB="36095" anchor="ctr">
                    <a:solidFill>
                      <a:schemeClr val="accent5"/>
                    </a:solidFill>
                  </a:tcPr>
                </a:tc>
              </a:tr>
              <a:tr h="324853">
                <a:tc>
                  <a:txBody>
                    <a:bodyPr wrap="square"/>
                    <a:lstStyle/>
                    <a:p>
                      <a:r>
                        <a:rPr sz="950" b="0" i="0">
                          <a:solidFill>
                            <a:schemeClr val="tx1"/>
                          </a:solidFill>
                        </a:rPr>
                        <a:t>S100A4</a:t>
                      </a:r>
                    </a:p>
                  </a:txBody>
                  <a:tcPr marL="72142" marR="72142" marT="36095" marB="36095" anchor="ctr">
                    <a:solidFill>
                      <a:schemeClr val="bg1"/>
                    </a:solidFill>
                  </a:tcPr>
                </a:tc>
                <a:tc>
                  <a:txBody>
                    <a:bodyPr wrap="square"/>
                    <a:lstStyle/>
                    <a:p>
                      <a:r>
                        <a:rPr sz="950" b="0" i="0">
                          <a:solidFill>
                            <a:schemeClr val="tx1"/>
                          </a:solidFill>
                        </a:rPr>
                        <a:t>ENSG00000196154</a:t>
                      </a:r>
                    </a:p>
                  </a:txBody>
                  <a:tcPr marL="72142" marR="72142" marT="36095" marB="36095" anchor="ctr">
                    <a:solidFill>
                      <a:schemeClr val="bg1"/>
                    </a:solidFill>
                  </a:tcPr>
                </a:tc>
                <a:tc>
                  <a:txBody>
                    <a:bodyPr wrap="square"/>
                    <a:lstStyle/>
                    <a:p>
                      <a:r>
                        <a:rPr sz="950" b="0" i="0">
                          <a:solidFill>
                            <a:schemeClr val="tx1"/>
                          </a:solidFill>
                        </a:rPr>
                        <a:t>ambient-low</a:t>
                      </a:r>
                    </a:p>
                  </a:txBody>
                  <a:tcPr marL="72142" marR="72142" marT="36095" marB="36095" anchor="ctr">
                    <a:solidFill>
                      <a:schemeClr val="bg1"/>
                    </a:solidFill>
                  </a:tcPr>
                </a:tc>
                <a:tc>
                  <a:txBody>
                    <a:bodyPr wrap="square"/>
                    <a:lstStyle/>
                    <a:p>
                      <a:r>
                        <a:rPr sz="950" b="0" i="0">
                          <a:solidFill>
                            <a:schemeClr val="tx1"/>
                          </a:solidFill>
                        </a:rPr>
                        <a:t>1.1e-06</a:t>
                      </a:r>
                    </a:p>
                  </a:txBody>
                  <a:tcPr marL="72142" marR="72142" marT="36095" marB="36095" anchor="ctr">
                    <a:solidFill>
                      <a:schemeClr val="bg1"/>
                    </a:solidFill>
                  </a:tcPr>
                </a:tc>
                <a:tc>
                  <a:txBody>
                    <a:bodyPr wrap="square"/>
                    <a:lstStyle/>
                    <a:p>
                      <a:r>
                        <a:rPr sz="950" b="0" i="0">
                          <a:solidFill>
                            <a:schemeClr val="tx1"/>
                          </a:solidFill>
                        </a:rPr>
                        <a:t>88.1</a:t>
                      </a:r>
                    </a:p>
                  </a:txBody>
                  <a:tcPr marL="72142" marR="72142" marT="36095" marB="36095" anchor="ctr">
                    <a:solidFill>
                      <a:schemeClr val="bg1"/>
                    </a:solidFill>
                  </a:tcPr>
                </a:tc>
                <a:tc>
                  <a:txBody>
                    <a:bodyPr wrap="square"/>
                    <a:lstStyle/>
                    <a:p>
                      <a:r>
                        <a:rPr sz="950" b="0" i="0">
                          <a:solidFill>
                            <a:schemeClr val="tx1"/>
                          </a:solidFill>
                        </a:rPr>
                        <a:t>97.6</a:t>
                      </a:r>
                    </a:p>
                  </a:txBody>
                  <a:tcPr marL="72142" marR="72142" marT="36095" marB="36095" anchor="ctr">
                    <a:solidFill>
                      <a:schemeClr val="bg1"/>
                    </a:solidFill>
                  </a:tcPr>
                </a:tc>
              </a:tr>
              <a:tr h="324853">
                <a:tc>
                  <a:txBody>
                    <a:bodyPr wrap="square"/>
                    <a:lstStyle/>
                    <a:p>
                      <a:r>
                        <a:rPr sz="950" b="0" i="0">
                          <a:solidFill>
                            <a:schemeClr val="tx1"/>
                          </a:solidFill>
                        </a:rPr>
                        <a:t>S100A6</a:t>
                      </a:r>
                    </a:p>
                  </a:txBody>
                  <a:tcPr marL="72142" marR="72142" marT="36095" marB="36095" anchor="ctr">
                    <a:solidFill>
                      <a:schemeClr val="accent5"/>
                    </a:solidFill>
                  </a:tcPr>
                </a:tc>
                <a:tc>
                  <a:txBody>
                    <a:bodyPr wrap="square"/>
                    <a:lstStyle/>
                    <a:p>
                      <a:r>
                        <a:rPr sz="950" b="0" i="0">
                          <a:solidFill>
                            <a:schemeClr val="tx1"/>
                          </a:solidFill>
                        </a:rPr>
                        <a:t>ENSG00000197956</a:t>
                      </a:r>
                    </a:p>
                  </a:txBody>
                  <a:tcPr marL="72142" marR="72142" marT="36095" marB="36095" anchor="ctr">
                    <a:solidFill>
                      <a:schemeClr val="accent5"/>
                    </a:solidFill>
                  </a:tcPr>
                </a:tc>
                <a:tc>
                  <a:txBody>
                    <a:bodyPr wrap="square"/>
                    <a:lstStyle/>
                    <a:p>
                      <a:r>
                        <a:rPr sz="950" b="0" i="0">
                          <a:solidFill>
                            <a:schemeClr val="tx1"/>
                          </a:solidFill>
                        </a:rPr>
                        <a:t>ambient-low</a:t>
                      </a:r>
                    </a:p>
                  </a:txBody>
                  <a:tcPr marL="72142" marR="72142" marT="36095" marB="36095" anchor="ctr">
                    <a:solidFill>
                      <a:schemeClr val="accent5"/>
                    </a:solidFill>
                  </a:tcPr>
                </a:tc>
                <a:tc>
                  <a:txBody>
                    <a:bodyPr wrap="square"/>
                    <a:lstStyle/>
                    <a:p>
                      <a:r>
                        <a:rPr sz="950" b="0" i="0">
                          <a:solidFill>
                            <a:schemeClr val="tx1"/>
                          </a:solidFill>
                        </a:rPr>
                        <a:t>3.4e-05</a:t>
                      </a:r>
                    </a:p>
                  </a:txBody>
                  <a:tcPr marL="72142" marR="72142" marT="36095" marB="36095" anchor="ctr">
                    <a:solidFill>
                      <a:schemeClr val="accent5"/>
                    </a:solidFill>
                  </a:tcPr>
                </a:tc>
                <a:tc>
                  <a:txBody>
                    <a:bodyPr wrap="square"/>
                    <a:lstStyle/>
                    <a:p>
                      <a:r>
                        <a:rPr sz="950" b="0" i="0">
                          <a:solidFill>
                            <a:schemeClr val="tx1"/>
                          </a:solidFill>
                        </a:rPr>
                        <a:t>97.6</a:t>
                      </a:r>
                    </a:p>
                  </a:txBody>
                  <a:tcPr marL="72142" marR="72142" marT="36095" marB="36095" anchor="ctr">
                    <a:solidFill>
                      <a:schemeClr val="accent5"/>
                    </a:solidFill>
                  </a:tcPr>
                </a:tc>
                <a:tc>
                  <a:txBody>
                    <a:bodyPr wrap="square"/>
                    <a:lstStyle/>
                    <a:p>
                      <a:r>
                        <a:rPr sz="950" b="0" i="0">
                          <a:solidFill>
                            <a:schemeClr val="tx1"/>
                          </a:solidFill>
                        </a:rPr>
                        <a:t>88.1</a:t>
                      </a:r>
                    </a:p>
                  </a:txBody>
                  <a:tcPr marL="72142" marR="72142" marT="36095" marB="36095" anchor="ctr">
                    <a:solidFill>
                      <a:schemeClr val="accent5"/>
                    </a:solidFill>
                  </a:tcPr>
                </a:tc>
              </a:tr>
              <a:tr h="324853">
                <a:tc>
                  <a:txBody>
                    <a:bodyPr wrap="square"/>
                    <a:lstStyle/>
                    <a:p>
                      <a:r>
                        <a:rPr sz="950" b="0" i="0">
                          <a:solidFill>
                            <a:schemeClr val="tx1"/>
                          </a:solidFill>
                        </a:rPr>
                        <a:t>S100A10</a:t>
                      </a:r>
                    </a:p>
                  </a:txBody>
                  <a:tcPr marL="72142" marR="72142" marT="36095" marB="36095" anchor="ctr">
                    <a:solidFill>
                      <a:schemeClr val="bg1"/>
                    </a:solidFill>
                  </a:tcPr>
                </a:tc>
                <a:tc>
                  <a:txBody>
                    <a:bodyPr wrap="square"/>
                    <a:lstStyle/>
                    <a:p>
                      <a:r>
                        <a:rPr sz="950" b="0" i="0">
                          <a:solidFill>
                            <a:schemeClr val="tx1"/>
                          </a:solidFill>
                        </a:rPr>
                        <a:t>ENSG00000197747</a:t>
                      </a:r>
                    </a:p>
                  </a:txBody>
                  <a:tcPr marL="72142" marR="72142" marT="36095" marB="36095" anchor="ctr">
                    <a:solidFill>
                      <a:schemeClr val="bg1"/>
                    </a:solidFill>
                  </a:tcPr>
                </a:tc>
                <a:tc>
                  <a:txBody>
                    <a:bodyPr wrap="square"/>
                    <a:lstStyle/>
                    <a:p>
                      <a:r>
                        <a:rPr sz="950" b="0" i="0">
                          <a:solidFill>
                            <a:schemeClr val="tx1"/>
                          </a:solidFill>
                        </a:rPr>
                        <a:t>ambient-low</a:t>
                      </a:r>
                    </a:p>
                  </a:txBody>
                  <a:tcPr marL="72142" marR="72142" marT="36095" marB="36095" anchor="ctr">
                    <a:solidFill>
                      <a:schemeClr val="bg1"/>
                    </a:solidFill>
                  </a:tcPr>
                </a:tc>
                <a:tc>
                  <a:txBody>
                    <a:bodyPr wrap="square"/>
                    <a:lstStyle/>
                    <a:p>
                      <a:r>
                        <a:rPr sz="950" b="0" i="0">
                          <a:solidFill>
                            <a:schemeClr val="tx1"/>
                          </a:solidFill>
                        </a:rPr>
                        <a:t>0.000312</a:t>
                      </a:r>
                    </a:p>
                  </a:txBody>
                  <a:tcPr marL="72142" marR="72142" marT="36095" marB="36095" anchor="ctr">
                    <a:solidFill>
                      <a:schemeClr val="bg1"/>
                    </a:solidFill>
                  </a:tcPr>
                </a:tc>
                <a:tc>
                  <a:txBody>
                    <a:bodyPr wrap="square"/>
                    <a:lstStyle/>
                    <a:p>
                      <a:r>
                        <a:rPr sz="950" b="0" i="0">
                          <a:solidFill>
                            <a:schemeClr val="tx1"/>
                          </a:solidFill>
                        </a:rPr>
                        <a:t>92.9</a:t>
                      </a:r>
                    </a:p>
                  </a:txBody>
                  <a:tcPr marL="72142" marR="72142" marT="36095" marB="36095" anchor="ctr">
                    <a:solidFill>
                      <a:schemeClr val="bg1"/>
                    </a:solidFill>
                  </a:tcPr>
                </a:tc>
                <a:tc>
                  <a:txBody>
                    <a:bodyPr wrap="square"/>
                    <a:lstStyle/>
                    <a:p>
                      <a:r>
                        <a:rPr sz="950" b="0" i="0">
                          <a:solidFill>
                            <a:schemeClr val="tx1"/>
                          </a:solidFill>
                        </a:rPr>
                        <a:t>88.1</a:t>
                      </a:r>
                    </a:p>
                  </a:txBody>
                  <a:tcPr marL="72142" marR="72142" marT="36095" marB="36095" anchor="ctr">
                    <a:solidFill>
                      <a:schemeClr val="bg1"/>
                    </a:solidFill>
                  </a:tcPr>
                </a:tc>
              </a:tr>
              <a:tr h="324853">
                <a:tc>
                  <a:txBody>
                    <a:bodyPr wrap="square"/>
                    <a:lstStyle/>
                    <a:p>
                      <a:r>
                        <a:rPr sz="950" b="0" i="0">
                          <a:solidFill>
                            <a:schemeClr val="tx1"/>
                          </a:solidFill>
                        </a:rPr>
                        <a:t>S100A11</a:t>
                      </a:r>
                    </a:p>
                  </a:txBody>
                  <a:tcPr marL="72142" marR="72142" marT="36095" marB="36095" anchor="ctr">
                    <a:solidFill>
                      <a:schemeClr val="accent5"/>
                    </a:solidFill>
                  </a:tcPr>
                </a:tc>
                <a:tc>
                  <a:txBody>
                    <a:bodyPr wrap="square"/>
                    <a:lstStyle/>
                    <a:p>
                      <a:r>
                        <a:rPr sz="950" b="0" i="0">
                          <a:solidFill>
                            <a:schemeClr val="tx1"/>
                          </a:solidFill>
                        </a:rPr>
                        <a:t>ENSG00000163191</a:t>
                      </a:r>
                    </a:p>
                  </a:txBody>
                  <a:tcPr marL="72142" marR="72142" marT="36095" marB="36095" anchor="ctr">
                    <a:solidFill>
                      <a:schemeClr val="accent5"/>
                    </a:solidFill>
                  </a:tcPr>
                </a:tc>
                <a:tc>
                  <a:txBody>
                    <a:bodyPr wrap="square"/>
                    <a:lstStyle/>
                    <a:p>
                      <a:r>
                        <a:rPr sz="950" b="0" i="0">
                          <a:solidFill>
                            <a:schemeClr val="tx1"/>
                          </a:solidFill>
                        </a:rPr>
                        <a:t>ambient-low</a:t>
                      </a:r>
                    </a:p>
                  </a:txBody>
                  <a:tcPr marL="72142" marR="72142" marT="36095" marB="36095" anchor="ctr">
                    <a:solidFill>
                      <a:schemeClr val="accent5"/>
                    </a:solidFill>
                  </a:tcPr>
                </a:tc>
                <a:tc>
                  <a:txBody>
                    <a:bodyPr wrap="square"/>
                    <a:lstStyle/>
                    <a:p>
                      <a:r>
                        <a:rPr sz="950" b="0" i="0">
                          <a:solidFill>
                            <a:schemeClr val="tx1"/>
                          </a:solidFill>
                        </a:rPr>
                        <a:t>0.000144</a:t>
                      </a:r>
                    </a:p>
                  </a:txBody>
                  <a:tcPr marL="72142" marR="72142" marT="36095" marB="36095" anchor="ctr">
                    <a:solidFill>
                      <a:schemeClr val="accent5"/>
                    </a:solidFill>
                  </a:tcPr>
                </a:tc>
                <a:tc>
                  <a:txBody>
                    <a:bodyPr wrap="square"/>
                    <a:lstStyle/>
                    <a:p>
                      <a:r>
                        <a:rPr sz="950" b="0" i="0">
                          <a:solidFill>
                            <a:schemeClr val="tx1"/>
                          </a:solidFill>
                        </a:rPr>
                        <a:t>64.3</a:t>
                      </a:r>
                    </a:p>
                  </a:txBody>
                  <a:tcPr marL="72142" marR="72142" marT="36095" marB="36095" anchor="ctr">
                    <a:solidFill>
                      <a:schemeClr val="accent5"/>
                    </a:solidFill>
                  </a:tcPr>
                </a:tc>
                <a:tc>
                  <a:txBody>
                    <a:bodyPr wrap="square"/>
                    <a:lstStyle/>
                    <a:p>
                      <a:r>
                        <a:rPr sz="950" b="0" i="0">
                          <a:solidFill>
                            <a:schemeClr val="tx1"/>
                          </a:solidFill>
                        </a:rPr>
                        <a:t>50.0</a:t>
                      </a:r>
                    </a:p>
                  </a:txBody>
                  <a:tcPr marL="72142" marR="72142" marT="36095" marB="36095" anchor="ctr">
                    <a:solidFill>
                      <a:schemeClr val="accent5"/>
                    </a:solidFill>
                  </a:tcPr>
                </a:tc>
              </a:tr>
            </a:tbl>
          </a:graphicData>
        </a:graphic>
      </p:graphicFrame>
      <p:sp>
        <p:nvSpPr>
          <p:cNvPr id="5" name="TextBox 4"/>
          <p:cNvSpPr txBox="1"/>
          <p:nvPr/>
        </p:nvSpPr>
        <p:spPr>
          <a:xfrm>
            <a:off x="721420" y="5486400"/>
            <a:ext cx="10749160" cy="382003"/>
          </a:xfrm>
          <a:prstGeom prst="rect">
            <a:avLst/>
          </a:prstGeom>
          <a:noFill/>
        </p:spPr>
        <p:txBody>
          <a:bodyPr wrap="square" anchor="t" lIns="0" rIns="0" tIns="0" bIns="0">
            <a:noAutofit/>
          </a:bodyPr>
          <a:lstStyle/>
          <a:p>
            <a:pPr algn="l">
              <a:lnSpc>
                <a:spcPts val="1350"/>
              </a:lnSpc>
              <a:spcBef>
                <a:spcPts val="0"/>
              </a:spcBef>
              <a:spcAft>
                <a:spcPts val="300"/>
              </a:spcAft>
            </a:pPr>
            <a:r>
              <a:rPr sz="1000" b="0" i="0">
                <a:solidFill>
                  <a:schemeClr val="tx2"/>
                </a:solidFill>
              </a:rPr>
              <a:t>Group test (exact two-sided Mann-Whitney, 4 v 4): LUAD→normal U = 1.5, p = 6/70; LUAD→SCLC U = 5.5, p = 34/70. Negative in both. The ordering seen (ambient-low above) is descriptive only; the ambient-low genes' high Q was not tested and supports no claim.</a:t>
            </a:r>
          </a:p>
        </p:txBody>
      </p:sp>
      <p:sp>
        <p:nvSpPr>
          <p:cNvPr id="6" name="TextBox 5"/>
          <p:cNvSpPr txBox="1"/>
          <p:nvPr/>
        </p:nvSpPr>
        <p:spPr>
          <a:xfrm>
            <a:off x="721420" y="6363006"/>
            <a:ext cx="2164260" cy="135293"/>
          </a:xfrm>
          <a:prstGeom prst="rect">
            <a:avLst/>
          </a:prstGeom>
          <a:noFill/>
        </p:spPr>
        <p:txBody>
          <a:bodyPr wrap="none" anchor="t" lIns="0" rIns="0" tIns="0" bIns="0">
            <a:noAutofit/>
          </a:bodyPr>
          <a:lstStyle/>
          <a:p>
            <a:pPr algn="l">
              <a:lnSpc>
                <a:spcPts val="1062"/>
              </a:lnSpc>
              <a:spcBef>
                <a:spcPts val="0"/>
              </a:spcBef>
              <a:spcAft>
                <a:spcPts val="0"/>
              </a:spcAft>
            </a:pPr>
            <a:r>
              <a:rPr sz="850" b="0" i="0">
                <a:solidFill>
                  <a:srgbClr val="7A8A85"/>
                </a:solidFill>
                <a:latin typeface="Courier New"/>
              </a:rPr>
              <a:t>25 / 26</a:t>
            </a:r>
          </a:p>
        </p:txBody>
      </p:sp>
      <p:sp>
        <p:nvSpPr>
          <p:cNvPr id="7" name="TextBox 6"/>
          <p:cNvSpPr txBox="1"/>
          <p:nvPr/>
        </p:nvSpPr>
        <p:spPr>
          <a:xfrm>
            <a:off x="721420" y="6363006"/>
            <a:ext cx="10749160" cy="135293"/>
          </a:xfrm>
          <a:prstGeom prst="rect">
            <a:avLst/>
          </a:prstGeom>
          <a:noFill/>
        </p:spPr>
        <p:txBody>
          <a:bodyPr wrap="none" anchor="t" lIns="0" rIns="0" tIns="0" bIns="0">
            <a:noAutofit/>
          </a:bodyPr>
          <a:lstStyle/>
          <a:p>
            <a:pPr algn="r">
              <a:lnSpc>
                <a:spcPts val="1062"/>
              </a:lnSpc>
              <a:spcBef>
                <a:spcPts val="0"/>
              </a:spcBef>
              <a:spcAft>
                <a:spcPts val="0"/>
              </a:spcAft>
            </a:pPr>
            <a:r>
              <a:rPr sz="850" b="0" i="0">
                <a:solidFill>
                  <a:srgbClr val="7A8A85"/>
                </a:solidFill>
              </a:rPr>
              <a:t>primary_results.json, analyse_s100_luad_20260928.py @ 53adee2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chemeClr val="bg2"/>
        </a:solidFill>
        <a:effectLst/>
      </p:bgPr>
    </p:bg>
    <p:spTree>
      <p:nvGrpSpPr>
        <p:cNvPr id="1" name=""/>
        <p:cNvGrpSpPr/>
        <p:nvPr/>
      </p:nvGrpSpPr>
      <p:grpSpPr/>
      <p:sp>
        <p:nvSpPr>
          <p:cNvPr id="2" name="Title 1"/>
          <p:cNvSpPr>
            <a:spLocks noGrp="1"/>
          </p:cNvSpPr>
          <p:nvPr>
            <p:ph type="title"/>
          </p:nvPr>
        </p:nvSpPr>
        <p:spPr>
          <a:xfrm>
            <a:off x="721420" y="1515979"/>
            <a:ext cx="10460592" cy="695245"/>
          </a:xfrm>
        </p:spPr>
        <p:txBody>
          <a:bodyPr wrap="square" anchor="t" lIns="0" rIns="0" tIns="0" bIns="0">
            <a:noAutofit/>
          </a:bodyPr>
          <a:lstStyle/>
          <a:p>
            <a:pPr algn="l">
              <a:lnSpc>
                <a:spcPts val="2436"/>
              </a:lnSpc>
            </a:pPr>
            <a:r>
              <a:rPr sz="2100" b="1" i="0">
                <a:solidFill>
                  <a:schemeClr val="tx1"/>
                </a:solidFill>
              </a:rPr>
              <a:t>Every immune / lineage gene, ranked by its deletion effect</a:t>
            </a:r>
          </a:p>
        </p:txBody>
      </p:sp>
      <p:sp>
        <p:nvSpPr>
          <p:cNvPr id="3" name="TextBox 2"/>
          <p:cNvSpPr txBox="1"/>
          <p:nvPr/>
        </p:nvSpPr>
        <p:spPr>
          <a:xfrm>
            <a:off x="721420" y="762560"/>
            <a:ext cx="10749160" cy="143251"/>
          </a:xfrm>
          <a:prstGeom prst="rect">
            <a:avLst/>
          </a:prstGeom>
          <a:noFill/>
        </p:spPr>
        <p:txBody>
          <a:bodyPr wrap="none" anchor="t" lIns="0" rIns="0" tIns="0" bIns="0">
            <a:noAutofit/>
          </a:bodyPr>
          <a:lstStyle/>
          <a:p>
            <a:pPr algn="l">
              <a:lnSpc>
                <a:spcPts val="1125"/>
              </a:lnSpc>
              <a:spcBef>
                <a:spcPts val="0"/>
              </a:spcBef>
              <a:spcAft>
                <a:spcPts val="0"/>
              </a:spcAft>
            </a:pPr>
            <a:r>
              <a:rPr sz="900" b="1" i="0">
                <a:solidFill>
                  <a:schemeClr val="accent1"/>
                </a:solidFill>
                <a:latin typeface="Courier New"/>
              </a:rPr>
              <a:t>APPENDIX · DETECTION FIGURE, PANEL B</a:t>
            </a:r>
          </a:p>
        </p:txBody>
      </p:sp>
      <p:pic>
        <p:nvPicPr>
          <p:cNvPr id="4" name="Picture 3" descr="detection_rank.png"/>
          <p:cNvPicPr>
            <a:picLocks noChangeAspect="1"/>
          </p:cNvPicPr>
          <p:nvPr/>
        </p:nvPicPr>
        <p:blipFill>
          <a:blip r:embed="rId2"/>
          <a:stretch>
            <a:fillRect/>
          </a:stretch>
        </p:blipFill>
        <p:spPr>
          <a:xfrm>
            <a:off x="721420" y="2382253"/>
            <a:ext cx="10749160" cy="3429523"/>
          </a:xfrm>
          <a:prstGeom prst="rect">
            <a:avLst/>
          </a:prstGeom>
        </p:spPr>
      </p:pic>
      <p:sp>
        <p:nvSpPr>
          <p:cNvPr id="5" name="TextBox 4"/>
          <p:cNvSpPr txBox="1"/>
          <p:nvPr/>
        </p:nvSpPr>
        <p:spPr>
          <a:xfrm>
            <a:off x="721420" y="5883442"/>
            <a:ext cx="10749160" cy="433137"/>
          </a:xfrm>
          <a:prstGeom prst="rect">
            <a:avLst/>
          </a:prstGeom>
          <a:noFill/>
        </p:spPr>
        <p:txBody>
          <a:bodyPr wrap="square" anchor="t" lIns="0" rIns="0" tIns="0" bIns="0">
            <a:noAutofit/>
          </a:bodyPr>
          <a:lstStyle/>
          <a:p>
            <a:pPr algn="l">
              <a:lnSpc>
                <a:spcPts val="1250"/>
              </a:lnSpc>
              <a:spcBef>
                <a:spcPts val="0"/>
              </a:spcBef>
              <a:spcAft>
                <a:spcPts val="0"/>
              </a:spcAft>
            </a:pPr>
            <a:r>
              <a:rPr sz="950" b="0" i="1">
                <a:solidFill>
                  <a:schemeClr val="accent1"/>
                </a:solidFill>
              </a:rPr>
              <a:t>In plain words: the four replicated hits sit near the top among well-detected genes; the very top is taken by genes seen in fewer than 100 cells, whose effects are unreliable.</a:t>
            </a:r>
          </a:p>
        </p:txBody>
      </p:sp>
      <p:sp>
        <p:nvSpPr>
          <p:cNvPr id="6" name="TextBox 5"/>
          <p:cNvSpPr txBox="1"/>
          <p:nvPr/>
        </p:nvSpPr>
        <p:spPr>
          <a:xfrm>
            <a:off x="721420" y="6363006"/>
            <a:ext cx="2164260" cy="135293"/>
          </a:xfrm>
          <a:prstGeom prst="rect">
            <a:avLst/>
          </a:prstGeom>
          <a:noFill/>
        </p:spPr>
        <p:txBody>
          <a:bodyPr wrap="none" anchor="t" lIns="0" rIns="0" tIns="0" bIns="0">
            <a:noAutofit/>
          </a:bodyPr>
          <a:lstStyle/>
          <a:p>
            <a:pPr algn="l">
              <a:lnSpc>
                <a:spcPts val="1062"/>
              </a:lnSpc>
              <a:spcBef>
                <a:spcPts val="0"/>
              </a:spcBef>
              <a:spcAft>
                <a:spcPts val="0"/>
              </a:spcAft>
            </a:pPr>
            <a:r>
              <a:rPr sz="850" b="0" i="0">
                <a:solidFill>
                  <a:srgbClr val="7A8A85"/>
                </a:solidFill>
                <a:latin typeface="Courier New"/>
              </a:rPr>
              <a:t>26 / 26</a:t>
            </a:r>
          </a:p>
        </p:txBody>
      </p:sp>
      <p:sp>
        <p:nvSpPr>
          <p:cNvPr id="7" name="TextBox 6"/>
          <p:cNvSpPr txBox="1"/>
          <p:nvPr/>
        </p:nvSpPr>
        <p:spPr>
          <a:xfrm>
            <a:off x="721420" y="6363006"/>
            <a:ext cx="10749160" cy="135293"/>
          </a:xfrm>
          <a:prstGeom prst="rect">
            <a:avLst/>
          </a:prstGeom>
          <a:noFill/>
        </p:spPr>
        <p:txBody>
          <a:bodyPr wrap="none" anchor="t" lIns="0" rIns="0" tIns="0" bIns="0">
            <a:noAutofit/>
          </a:bodyPr>
          <a:lstStyle/>
          <a:p>
            <a:pPr algn="r">
              <a:lnSpc>
                <a:spcPts val="1062"/>
              </a:lnSpc>
              <a:spcBef>
                <a:spcPts val="0"/>
              </a:spcBef>
              <a:spcAft>
                <a:spcPts val="0"/>
              </a:spcAft>
            </a:pPr>
            <a:r>
              <a:rPr sz="850" b="0" i="0">
                <a:solidFill>
                  <a:srgbClr val="7A8A85"/>
                </a:solidFill>
              </a:rPr>
              <a:t>cart_overexpression_vs_deletion.csv @ eb533f8 (make_detection_figure.py rule)</a:t>
            </a:r>
          </a:p>
        </p:txBody>
      </p:sp>
    </p:spTree>
  </p:cSld>
  <p:clrMapOvr>
    <a:masterClrMapping/>
  </p:clrMapOvr>
</p:sld>
</file>

<file path=ppt/theme/theme1.xml><?xml version="1.0" encoding="utf-8"?>
<a:theme xmlns:a="http://schemas.openxmlformats.org/drawingml/2006/main" name="Office Theme">
  <a:themeElements>
    <a:clrScheme name="Lung T-cell IMRaD">
      <a:dk1>
        <a:srgbClr val="12211E"/>
      </a:dk1>
      <a:lt1>
        <a:srgbClr val="FFFFFF"/>
      </a:lt1>
      <a:dk2>
        <a:srgbClr val="31423D"/>
      </a:dk2>
      <a:lt2>
        <a:srgbClr val="F6F8F6"/>
      </a:lt2>
      <a:accent1>
        <a:srgbClr val="0E6E5C"/>
      </a:accent1>
      <a:accent2>
        <a:srgbClr val="B4552F"/>
      </a:accent2>
      <a:accent3>
        <a:srgbClr val="E08A5F"/>
      </a:accent3>
      <a:accent4>
        <a:srgbClr val="5C6B66"/>
      </a:accent4>
      <a:accent5>
        <a:srgbClr val="EAF0ED"/>
      </a:accent5>
      <a:accent6>
        <a:srgbClr val="F7F2EE"/>
      </a:accent6>
      <a:hlink>
        <a:srgbClr val="0000FF"/>
      </a:hlink>
      <a:folHlink>
        <a:srgbClr val="800080"/>
      </a:folHlink>
    </a:clrScheme>
    <a:fontScheme name="Lung T-cell IMRaD">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Foundation-Model T-cell Dysfunction Screen: Translational Candidates, Then a Full Audit</dc:title>
  <dc:subject>IMRaD restructure -- geneformer-lung-tcell, 2026-09-25; editable version with 2026-09-28 additions</dc:subject>
  <dc:creator>Kaisar Dauyey; Shinji Nakaoka</dc:creator>
  <cp:keywords/>
  <dc:description>generated using python-pptx</dc:description>
  <cp:lastModifiedBy/>
  <cp:revision>1</cp:revision>
  <dcterms:created xsi:type="dcterms:W3CDTF">2026-09-28T09:00:00Z</dcterms:created>
  <dcterms:modified xsi:type="dcterms:W3CDTF">2026-09-28T09:00:00Z</dcterms:modified>
  <cp:category/>
</cp:coreProperties>
</file>