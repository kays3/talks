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e60083da624bfa" /><Relationship Type="http://schemas.openxmlformats.org/officeDocument/2006/relationships/extended-properties" Target="/docProps/app.xml" Id="Rf49c16d3821f4d51" /><Relationship Type="http://schemas.openxmlformats.org/officeDocument/2006/relationships/officeDocument" Target="/ppt/presentation.xml" Id="R342d299465e84b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70204b0af3403a"/>
  </p:sldMasterIdLst>
  <p:notesMasterIdLst>
    <p:notesMasterId xmlns:r="http://schemas.openxmlformats.org/officeDocument/2006/relationships" r:id="R5d14d786342841f1"/>
  </p:notesMasterIdLst>
  <p:sldIdLst>
    <p:sldId xmlns:r="http://schemas.openxmlformats.org/officeDocument/2006/relationships" id="256" r:id="Rb95083c9010a4d33"/>
  </p:sldIdLst>
  <p:sldSz cx="43891200" cy="3291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0a57b09fcf4d25" /><Relationship Type="http://schemas.openxmlformats.org/officeDocument/2006/relationships/slideMaster" Target="/ppt/slideMasters/slideMaster1.xml" Id="R6870204b0af3403a" /><Relationship Type="http://schemas.openxmlformats.org/officeDocument/2006/relationships/notesMaster" Target="/ppt/notesMasters/notesMaster1.xml" Id="R5d14d786342841f1" /><Relationship Type="http://schemas.openxmlformats.org/officeDocument/2006/relationships/presProps" Target="/ppt/presProps.xml" Id="R97b1c012b2724bec" /><Relationship Type="http://schemas.openxmlformats.org/officeDocument/2006/relationships/tableStyles" Target="/ppt/tableStyles.xml" Id="R00d794d995dc40aa" /><Relationship Type="http://schemas.openxmlformats.org/officeDocument/2006/relationships/slide" Target="/ppt/slides/slide1.xml" Id="Rb95083c9010a4d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09c8b2e41945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77e06e1da2430e" /><Relationship Type="http://schemas.openxmlformats.org/officeDocument/2006/relationships/notesMaster" Target="/ppt/notesMasters/notesMaster1.xml" Id="Rb67fba66812e40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matched_tissue_comparison.csv</a:t>
            </a:r>
          </a:p>
          <a:p xmlns:a="http://schemas.openxmlformats.org/drawingml/2006/main">
            <a:r>
              <a:t>- aggregate_summary.csv</a:t>
            </a:r>
          </a:p>
          <a:p xmlns:a="http://schemas.openxmlformats.org/drawingml/2006/main">
            <a:r>
              <a:t>- brain_top5_candidates.csv</a:t>
            </a:r>
          </a:p>
          <a:p xmlns:a="http://schemas.openxmlformats.org/drawingml/2006/main">
            <a:r>
              <a:t>- liver_top5_candidates.csv</a:t>
            </a:r>
          </a:p>
          <a:p xmlns:a="http://schemas.openxmlformats.org/drawingml/2006/main">
            <a:r>
              <a:t>- gaba_signature_summary.csv</a:t>
            </a:r>
          </a:p>
          <a:p xmlns:a="http://schemas.openxmlformats.org/drawingml/2006/main">
            <a:r>
              <a:t>- coral-aka-kame.png (photo: Kaisar Dauyey, Aka Island, Japan, 17 April 2024)</a:t>
            </a:r>
          </a:p>
          <a:p xmlns:a="http://schemas.openxmlformats.org/drawingml/2006/main">
            <a:r>
              <a:t>- Suresh et al. (2023), Nature Climate Change, https://doi.org/10.1038/s41558-023-01793-1</a:t>
            </a:r>
          </a:p>
          <a:p xmlns:a="http://schemas.openxmlformats.org/drawingml/2006/main">
            <a:r>
              <a:t>- NCBI BioProjects PRJNA694131 and PRJNA801251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Interpretive note: these are exploratory pilot findings from 60 samples. The 162-library brain–gill–liver cohort is frozen, but its differential-expression and correlation results are not yet available.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c9a0944f7b49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0282dcbfd24224" /><Relationship Type="http://schemas.openxmlformats.org/officeDocument/2006/relationships/slideLayout" Target="/ppt/slideLayouts/slideLayout1.xml" Id="R4532c8ea359143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532c8ea359143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5b7dcba49447b" /><Relationship Type="http://schemas.openxmlformats.org/officeDocument/2006/relationships/image" Target="/ppt/media/image.png" Id="Rc0db0d24aa324add" /><Relationship Type="http://schemas.openxmlformats.org/officeDocument/2006/relationships/chart" Target="/ppt/slides/charts/chart1.xml" Id="R71827525133b4697" /><Relationship Type="http://schemas.openxmlformats.org/officeDocument/2006/relationships/chart" Target="/ppt/slides/charts/chart2.xml" Id="R2ca921d04f6944e7" /><Relationship Type="http://schemas.openxmlformats.org/officeDocument/2006/relationships/notesSlide" Target="/ppt/notesSlides/notesSlide1.xml" Id="Rb7959776fa174ef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Brain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Sensitive  D–C</c:v>
              </c:pt>
              <c:pt idx="1">
                <c:v>Sensitive  I–C</c:v>
              </c:pt>
              <c:pt idx="2">
                <c:v>Sensitive  I–D</c:v>
              </c:pt>
              <c:pt idx="3">
                <c:v>Tolerant  D–C</c:v>
              </c:pt>
              <c:pt idx="4">
                <c:v>Tolerant  I–C</c:v>
              </c:pt>
              <c:pt idx="5">
                <c:v>Tolerant  I–D</c:v>
              </c:pt>
            </c:strLit>
          </c:cat>
          <c:val>
            <c:numLit>
              <c:formatCode>General</c:formatCode>
              <c:ptCount val="6"/>
              <c:pt idx="0">
                <c:v>30</c:v>
              </c:pt>
              <c:pt idx="1">
                <c:v>1</c:v>
              </c:pt>
              <c:pt idx="2">
                <c:v>18</c:v>
              </c:pt>
              <c:pt idx="3">
                <c:v>9</c:v>
              </c:pt>
              <c:pt idx="4">
                <c:v>20</c:v>
              </c:pt>
              <c:pt idx="5">
                <c:v>15</c:v>
              </c:pt>
            </c:numLit>
          </c:val>
        </c:ser>
        <c:ser>
          <c:idx val="1"/>
          <c:order val="1"/>
          <c:tx>
            <c:v>Liver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6"/>
              <c:pt idx="0">
                <c:v>Sensitive  D–C</c:v>
              </c:pt>
              <c:pt idx="1">
                <c:v>Sensitive  I–C</c:v>
              </c:pt>
              <c:pt idx="2">
                <c:v>Sensitive  I–D</c:v>
              </c:pt>
              <c:pt idx="3">
                <c:v>Tolerant  D–C</c:v>
              </c:pt>
              <c:pt idx="4">
                <c:v>Tolerant  I–C</c:v>
              </c:pt>
              <c:pt idx="5">
                <c:v>Tolerant  I–D</c:v>
              </c:pt>
            </c:strLit>
          </c:cat>
          <c:val>
            <c:numLit>
              <c:formatCode>General</c:formatCode>
              <c:ptCount val="6"/>
              <c:pt idx="0">
                <c:v>21</c:v>
              </c:pt>
              <c:pt idx="1">
                <c:v>3</c:v>
              </c:pt>
              <c:pt idx="2">
                <c:v>4</c:v>
              </c:pt>
              <c:pt idx="3">
                <c:v>13</c:v>
              </c:pt>
              <c:pt idx="4">
                <c:v>51</c:v>
              </c:pt>
              <c:pt idx="5">
                <c:v>30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AD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025">
                    <a:solidFill>
                      <a:srgbClr val="566273"/>
                    </a:solidFill>
                  </a:rPr>
                  <a:t>Number of significant TE results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566273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6627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827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325" b="1">
              <a:solidFill>
                <a:srgbClr val="111827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1"/>
        <c:ser>
          <c:idx val="0"/>
          <c:order val="0"/>
          <c:tx>
            <c:v>Residual ρ</c:v>
          </c:tx>
          <c:spPr>
            <a:solidFill xmlns:a="http://schemas.openxmlformats.org/drawingml/2006/main">
              <a:srgbClr val="3D8D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cat>
            <c:strLit>
              <c:ptCount val="4"/>
              <c:pt idx="0">
                <c:v>DNA–lncRNA</c:v>
              </c:pt>
              <c:pt idx="1">
                <c:v>L2–ADH1-like</c:v>
              </c:pt>
              <c:pt idx="2">
                <c:v>Helitron–NLK2</c:v>
              </c:pt>
              <c:pt idx="3">
                <c:v>Helitron–CRTC1A</c:v>
              </c:pt>
            </c:strLit>
          </c:cat>
          <c:val>
            <c:numLit>
              <c:formatCode>0.000</c:formatCode>
              <c:ptCount val="4"/>
              <c:pt idx="0">
                <c:v>0.93</c:v>
              </c:pt>
              <c:pt idx="1">
                <c:v>0.903</c:v>
              </c:pt>
              <c:pt idx="2">
                <c:v>0.888</c:v>
              </c:pt>
              <c:pt idx="3">
                <c:v>0.847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1182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ADF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6627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827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header-band">
            <a:extLst xmlns:a="http://schemas.openxmlformats.org/drawingml/2006/main">
              <a:ext uri="{FF2B5EF4-FFF2-40B4-BE49-F238E27FC236}">
                <a16:creationId xmlns:a16="http://schemas.microsoft.com/office/drawing/2014/main" id="{3002BCB7-5429-488F-BC95-E0C948CD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75382FAC-41EA-439C-A4E8-32D9E728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23850" cy="561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DFFE1C38-6AED-43D1-8BAB-90C9A16B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57250"/>
            <a:ext cx="33051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650" b="1" i="0">
                <a:solidFill>
                  <a:srgbClr val="FFFFFF"/>
                </a:solidFill>
              </a:defRPr>
            </a:pPr>
            <a:r>
              <a:rPr sz="7650" b="1" i="0">
                <a:solidFill>
                  <a:srgbClr val="FFFFFF"/>
                </a:solidFill>
              </a:rPr>
              <a:t>Tissue- and phenotype-dependent transposable-element responses to ocean acidification</a:t>
            </a:r>
          </a:p>
        </p:txBody>
      </p:sp>
      <p:sp>
        <p:nvSpPr>
          <p:cNvPr id="4" name="poster-subtitle">
            <a:extLst xmlns:a="http://schemas.openxmlformats.org/drawingml/2006/main">
              <a:ext uri="{FF2B5EF4-FFF2-40B4-BE49-F238E27FC236}">
                <a16:creationId xmlns:a16="http://schemas.microsoft.com/office/drawing/2014/main" id="{DFC9BF50-730A-42FA-8364-933F57C5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00450"/>
            <a:ext cx="3209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1">
                <a:solidFill>
                  <a:srgbClr val="DCEAF4"/>
                </a:solidFill>
              </a:defRPr>
            </a:pPr>
            <a:r>
              <a:rPr sz="3150" b="0" i="1">
                <a:solidFill>
                  <a:srgbClr val="DCEAF4"/>
                </a:solidFill>
              </a:rPr>
              <a:t>Exploratory brain–liver RNA-seq reanalysis in the coral reef fish Acanthochromis polyacanthus</a:t>
            </a:r>
          </a:p>
        </p:txBody>
      </p:sp>
      <p:sp>
        <p:nvSpPr>
          <p:cNvPr id="5" name="poster-author">
            <a:extLst xmlns:a="http://schemas.openxmlformats.org/drawingml/2006/main">
              <a:ext uri="{FF2B5EF4-FFF2-40B4-BE49-F238E27FC236}">
                <a16:creationId xmlns:a16="http://schemas.microsoft.com/office/drawing/2014/main" id="{000806AD-6774-437B-8A22-04DA6485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72000"/>
            <a:ext cx="2476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FFFFFF"/>
                </a:solidFill>
              </a:defRPr>
            </a:pPr>
            <a:r>
              <a:rPr sz="2475" b="1" i="0">
                <a:solidFill>
                  <a:srgbClr val="FFFFFF"/>
                </a:solidFill>
              </a:rPr>
              <a:t>Kaisar Dauyey  |  TE Ocean Acidification Project</a:t>
            </a:r>
          </a:p>
        </p:txBody>
      </p:sp>
      <p:sp>
        <p:nvSpPr>
          <p:cNvPr id="6" name="pilot-tag">
            <a:extLst xmlns:a="http://schemas.openxmlformats.org/drawingml/2006/main">
              <a:ext uri="{FF2B5EF4-FFF2-40B4-BE49-F238E27FC236}">
                <a16:creationId xmlns:a16="http://schemas.microsoft.com/office/drawing/2014/main" id="{1FE98B27-49DC-45E6-A608-1490CF34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0" y="1000125"/>
            <a:ext cx="6953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ilot-tag-text">
            <a:extLst xmlns:a="http://schemas.openxmlformats.org/drawingml/2006/main">
              <a:ext uri="{FF2B5EF4-FFF2-40B4-BE49-F238E27FC236}">
                <a16:creationId xmlns:a16="http://schemas.microsoft.com/office/drawing/2014/main" id="{47A7DAF8-E2B5-415E-B318-F9C0683B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0" y="1238250"/>
            <a:ext cx="638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925" b="1" i="0">
                <a:solidFill>
                  <a:srgbClr val="0B304A"/>
                </a:solidFill>
              </a:defRPr>
            </a:pPr>
            <a:r>
              <a:rPr sz="2925" b="1" i="0">
                <a:solidFill>
                  <a:srgbClr val="0B304A"/>
                </a:solidFill>
              </a:rPr>
              <a:t>EXPLORATORY PILOT</a:t>
            </a:r>
          </a:p>
        </p:txBody>
      </p:sp>
      <p:sp>
        <p:nvSpPr>
          <p:cNvPr id="8" name="analysis-freeze">
            <a:extLst xmlns:a="http://schemas.openxmlformats.org/drawingml/2006/main">
              <a:ext uri="{FF2B5EF4-FFF2-40B4-BE49-F238E27FC236}">
                <a16:creationId xmlns:a16="http://schemas.microsoft.com/office/drawing/2014/main" id="{6FD6C3A2-F326-44E1-A441-75E0A4D9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0" y="24765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DCEAF4"/>
                </a:solidFill>
              </a:defRPr>
            </a:pPr>
            <a:r>
              <a:rPr sz="2175" b="0" i="0">
                <a:solidFill>
                  <a:srgbClr val="DCEAF4"/>
                </a:solidFill>
              </a:rPr>
              <a:t>Analysis freeze: 30 July 2026</a:t>
            </a:r>
          </a:p>
        </p:txBody>
      </p:sp>
      <p:sp>
        <p:nvSpPr>
          <p:cNvPr id="9" name="sample-tag">
            <a:extLst xmlns:a="http://schemas.openxmlformats.org/drawingml/2006/main">
              <a:ext uri="{FF2B5EF4-FFF2-40B4-BE49-F238E27FC236}">
                <a16:creationId xmlns:a16="http://schemas.microsoft.com/office/drawing/2014/main" id="{2A76485F-454C-4959-AEFB-755132AA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0" y="3286125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60 samples  •  30 brain  •  30 liver</a:t>
            </a:r>
          </a:p>
        </p:txBody>
      </p:sp>
      <p:sp>
        <p:nvSpPr>
          <p:cNvPr id="10" name="divider-left">
            <a:extLst xmlns:a="http://schemas.openxmlformats.org/drawingml/2006/main">
              <a:ext uri="{FF2B5EF4-FFF2-40B4-BE49-F238E27FC236}">
                <a16:creationId xmlns:a16="http://schemas.microsoft.com/office/drawing/2014/main" id="{A36BDE21-3759-4BE4-9A66-15F89915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524625"/>
            <a:ext cx="28575" cy="2419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ivider-right">
            <a:extLst xmlns:a="http://schemas.openxmlformats.org/drawingml/2006/main">
              <a:ext uri="{FF2B5EF4-FFF2-40B4-BE49-F238E27FC236}">
                <a16:creationId xmlns:a16="http://schemas.microsoft.com/office/drawing/2014/main" id="{F177C8A1-AE27-4181-8D18-5C877214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0575" y="6524625"/>
            <a:ext cx="28575" cy="2419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Question-header">
            <a:extLst xmlns:a="http://schemas.openxmlformats.org/drawingml/2006/main">
              <a:ext uri="{FF2B5EF4-FFF2-40B4-BE49-F238E27FC236}">
                <a16:creationId xmlns:a16="http://schemas.microsoft.com/office/drawing/2014/main" id="{E7BE78AA-632B-4BFC-89F6-B208A090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52462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B304A"/>
                </a:solidFill>
              </a:defRPr>
            </a:pPr>
            <a:r>
              <a:rPr sz="3225" b="1" i="0">
                <a:solidFill>
                  <a:srgbClr val="0B304A"/>
                </a:solidFill>
              </a:rPr>
              <a:t>QUESTION</a:t>
            </a:r>
          </a:p>
        </p:txBody>
      </p:sp>
      <p:sp>
        <p:nvSpPr>
          <p:cNvPr id="13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5C1F159E-823C-4033-BBEA-CBF77EB0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14375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question-text">
            <a:extLst xmlns:a="http://schemas.openxmlformats.org/drawingml/2006/main">
              <a:ext uri="{FF2B5EF4-FFF2-40B4-BE49-F238E27FC236}">
                <a16:creationId xmlns:a16="http://schemas.microsoft.com/office/drawing/2014/main" id="{DD6991DD-389B-4C3B-9907-B176F0D1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29500"/>
            <a:ext cx="11239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827"/>
                </a:solidFill>
              </a:defRPr>
            </a:pPr>
            <a:r>
              <a:rPr sz="2850" b="1" i="0">
                <a:solidFill>
                  <a:srgbClr val="111827"/>
                </a:solidFill>
              </a:rPr>
              <a:t>Do developmental and intergenerational CO₂ exposures produce tissue- and parental-phenotype-specific TE responses?</a:t>
            </a:r>
          </a:p>
        </p:txBody>
      </p:sp>
      <p:sp>
        <p:nvSpPr>
          <p:cNvPr id="15" name="Study design-header">
            <a:extLst xmlns:a="http://schemas.openxmlformats.org/drawingml/2006/main">
              <a:ext uri="{FF2B5EF4-FFF2-40B4-BE49-F238E27FC236}">
                <a16:creationId xmlns:a16="http://schemas.microsoft.com/office/drawing/2014/main" id="{81660BD9-FFEE-4453-8917-45CD5CA4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810750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B304A"/>
                </a:solidFill>
              </a:defRPr>
            </a:pPr>
            <a:r>
              <a:rPr sz="3225" b="1" i="0">
                <a:solidFill>
                  <a:srgbClr val="0B304A"/>
                </a:solidFill>
              </a:rPr>
              <a:t>STUDY DESIGN</a:t>
            </a:r>
          </a:p>
        </p:txBody>
      </p:sp>
      <p:sp>
        <p:nvSpPr>
          <p:cNvPr id="16" name="Study design-rule">
            <a:extLst xmlns:a="http://schemas.openxmlformats.org/drawingml/2006/main">
              <a:ext uri="{FF2B5EF4-FFF2-40B4-BE49-F238E27FC236}">
                <a16:creationId xmlns:a16="http://schemas.microsoft.com/office/drawing/2014/main" id="{44E8C7C2-BC96-4655-8C6F-BA934A30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429875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esign-panel">
            <a:extLst xmlns:a="http://schemas.openxmlformats.org/drawingml/2006/main">
              <a:ext uri="{FF2B5EF4-FFF2-40B4-BE49-F238E27FC236}">
                <a16:creationId xmlns:a16="http://schemas.microsoft.com/office/drawing/2014/main" id="{42A876A4-A577-46ED-B106-4C74D82A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715625"/>
            <a:ext cx="11239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design-big-n">
            <a:extLst xmlns:a="http://schemas.openxmlformats.org/drawingml/2006/main">
              <a:ext uri="{FF2B5EF4-FFF2-40B4-BE49-F238E27FC236}">
                <a16:creationId xmlns:a16="http://schemas.microsoft.com/office/drawing/2014/main" id="{24207BB8-86BE-45F8-BCF5-0509572F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105852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3D8DFF"/>
                </a:solidFill>
              </a:defRPr>
            </a:pPr>
            <a:r>
              <a:rPr sz="4950" b="1" i="0">
                <a:solidFill>
                  <a:srgbClr val="3D8DFF"/>
                </a:solidFill>
              </a:rPr>
              <a:t>n = 60</a:t>
            </a:r>
          </a:p>
        </p:txBody>
      </p:sp>
      <p:sp>
        <p:nvSpPr>
          <p:cNvPr id="19" name="design-grid">
            <a:extLst xmlns:a="http://schemas.openxmlformats.org/drawingml/2006/main">
              <a:ext uri="{FF2B5EF4-FFF2-40B4-BE49-F238E27FC236}">
                <a16:creationId xmlns:a16="http://schemas.microsoft.com/office/drawing/2014/main" id="{FEC7D5CE-F73F-40F5-AE54-DF5E0A48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1153775"/>
            <a:ext cx="695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2 tissues × 3 exposure groups × 2 parental phenotypes</a:t>
            </a:r>
          </a:p>
          <a:p xmlns:a="http://schemas.openxmlformats.org/drawingml/2006/main">
            <a:pPr algn="l">
              <a:defRPr sz="2550" b="1" i="0">
                <a:solidFill>
                  <a:srgbClr val="111827"/>
                </a:solidFill>
              </a:defRPr>
            </a:pPr>
            <a:r>
              <a:rPr sz="2550" b="1" i="0">
                <a:solidFill>
                  <a:srgbClr val="111827"/>
                </a:solidFill>
              </a:rPr>
              <a:t>5 biological samples per cell</a:t>
            </a:r>
          </a:p>
        </p:txBody>
      </p:sp>
      <p:sp>
        <p:nvSpPr>
          <p:cNvPr id="20" name="design-labels">
            <a:extLst xmlns:a="http://schemas.openxmlformats.org/drawingml/2006/main">
              <a:ext uri="{FF2B5EF4-FFF2-40B4-BE49-F238E27FC236}">
                <a16:creationId xmlns:a16="http://schemas.microsoft.com/office/drawing/2014/main" id="{8F3BA1B2-9D41-4698-A92D-D9279268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2734925"/>
            <a:ext cx="1009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566273"/>
                </a:solidFill>
              </a:defRPr>
            </a:pPr>
            <a:r>
              <a:rPr sz="2250" b="0" i="0">
                <a:solidFill>
                  <a:srgbClr val="566273"/>
                </a:solidFill>
              </a:rPr>
              <a:t>D–C  developmental vs control</a:t>
            </a:r>
          </a:p>
          <a:p xmlns:a="http://schemas.openxmlformats.org/drawingml/2006/main">
            <a:pPr algn="l">
              <a:defRPr sz="2250" b="0" i="0">
                <a:solidFill>
                  <a:srgbClr val="566273"/>
                </a:solidFill>
              </a:defRPr>
            </a:pPr>
            <a:r>
              <a:rPr sz="2250" b="0" i="0">
                <a:solidFill>
                  <a:srgbClr val="566273"/>
                </a:solidFill>
              </a:rPr>
              <a:t>I–C   intergenerational vs control</a:t>
            </a:r>
          </a:p>
          <a:p xmlns:a="http://schemas.openxmlformats.org/drawingml/2006/main">
            <a:pPr algn="l">
              <a:defRPr sz="2250" b="0" i="0">
                <a:solidFill>
                  <a:srgbClr val="566273"/>
                </a:solidFill>
              </a:defRPr>
            </a:pPr>
            <a:r>
              <a:rPr sz="2250" b="0" i="0">
                <a:solidFill>
                  <a:srgbClr val="566273"/>
                </a:solidFill>
              </a:rPr>
              <a:t>I–D   intergenerational vs developmental</a:t>
            </a:r>
          </a:p>
        </p:txBody>
      </p:sp>
      <p:sp>
        <p:nvSpPr>
          <p:cNvPr id="21" name="Analysis-header">
            <a:extLst xmlns:a="http://schemas.openxmlformats.org/drawingml/2006/main">
              <a:ext uri="{FF2B5EF4-FFF2-40B4-BE49-F238E27FC236}">
                <a16:creationId xmlns:a16="http://schemas.microsoft.com/office/drawing/2014/main" id="{53E45595-59F7-4614-B864-7B012AF7B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192375"/>
            <a:ext cx="1123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B304A"/>
                </a:solidFill>
              </a:defRPr>
            </a:pPr>
            <a:r>
              <a:rPr sz="3225" b="1" i="0">
                <a:solidFill>
                  <a:srgbClr val="0B304A"/>
                </a:solidFill>
              </a:rPr>
              <a:t>ANALYSIS</a:t>
            </a:r>
          </a:p>
        </p:txBody>
      </p:sp>
      <p:sp>
        <p:nvSpPr>
          <p:cNvPr id="22" name="Analysis-rule">
            <a:extLst xmlns:a="http://schemas.openxmlformats.org/drawingml/2006/main">
              <a:ext uri="{FF2B5EF4-FFF2-40B4-BE49-F238E27FC236}">
                <a16:creationId xmlns:a16="http://schemas.microsoft.com/office/drawing/2014/main" id="{9C148647-40DF-4308-AA7C-A24218C2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0"/>
            <a:ext cx="1123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nalysis-bullets-dot-0">
            <a:extLst xmlns:a="http://schemas.openxmlformats.org/drawingml/2006/main">
              <a:ext uri="{FF2B5EF4-FFF2-40B4-BE49-F238E27FC236}">
                <a16:creationId xmlns:a16="http://schemas.microsoft.com/office/drawing/2014/main" id="{8206F68B-30FF-4D02-8A40-F55B0624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030575"/>
            <a:ext cx="304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3D8DFF"/>
                </a:solidFill>
              </a:defRPr>
            </a:pPr>
            <a:r>
              <a:rPr sz="2475" b="1" i="0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4" name="analysis-bullets-0">
            <a:extLst xmlns:a="http://schemas.openxmlformats.org/drawingml/2006/main">
              <a:ext uri="{FF2B5EF4-FFF2-40B4-BE49-F238E27FC236}">
                <a16:creationId xmlns:a16="http://schemas.microsoft.com/office/drawing/2014/main" id="{BA4FE39A-EA97-4C06-B891-E3BD87C8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6049625"/>
            <a:ext cx="10877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11827"/>
                </a:solidFill>
              </a:defRPr>
            </a:pPr>
            <a:r>
              <a:rPr sz="2325" b="0" i="0">
                <a:solidFill>
                  <a:srgbClr val="111827"/>
                </a:solidFill>
              </a:rPr>
              <a:t>Species-specific de novo TE annotation</a:t>
            </a:r>
          </a:p>
        </p:txBody>
      </p:sp>
      <p:sp>
        <p:nvSpPr>
          <p:cNvPr id="25" name="analysis-bullets-dot-1">
            <a:extLst xmlns:a="http://schemas.openxmlformats.org/drawingml/2006/main">
              <a:ext uri="{FF2B5EF4-FFF2-40B4-BE49-F238E27FC236}">
                <a16:creationId xmlns:a16="http://schemas.microsoft.com/office/drawing/2014/main" id="{8F8629B8-7D25-4F21-9CB6-ACE26CF5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678275"/>
            <a:ext cx="304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3D8DFF"/>
                </a:solidFill>
              </a:defRPr>
            </a:pPr>
            <a:r>
              <a:rPr sz="2475" b="1" i="0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6" name="analysis-bullets-1">
            <a:extLst xmlns:a="http://schemas.openxmlformats.org/drawingml/2006/main">
              <a:ext uri="{FF2B5EF4-FFF2-40B4-BE49-F238E27FC236}">
                <a16:creationId xmlns:a16="http://schemas.microsoft.com/office/drawing/2014/main" id="{6810BD60-F9A6-43E8-A60E-5910A596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6697325"/>
            <a:ext cx="10877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11827"/>
                </a:solidFill>
              </a:defRPr>
            </a:pPr>
            <a:r>
              <a:rPr sz="2325" b="0" i="0">
                <a:solidFill>
                  <a:srgbClr val="111827"/>
                </a:solidFill>
              </a:rPr>
              <a:t>STAR alignment retaining multimappers</a:t>
            </a:r>
          </a:p>
        </p:txBody>
      </p:sp>
      <p:sp>
        <p:nvSpPr>
          <p:cNvPr id="27" name="analysis-bullets-dot-2">
            <a:extLst xmlns:a="http://schemas.openxmlformats.org/drawingml/2006/main">
              <a:ext uri="{FF2B5EF4-FFF2-40B4-BE49-F238E27FC236}">
                <a16:creationId xmlns:a16="http://schemas.microsoft.com/office/drawing/2014/main" id="{DADA5D84-563E-41AE-B863-0502F366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325975"/>
            <a:ext cx="304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3D8DFF"/>
                </a:solidFill>
              </a:defRPr>
            </a:pPr>
            <a:r>
              <a:rPr sz="2475" b="1" i="0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8" name="analysis-bullets-2">
            <a:extLst xmlns:a="http://schemas.openxmlformats.org/drawingml/2006/main">
              <a:ext uri="{FF2B5EF4-FFF2-40B4-BE49-F238E27FC236}">
                <a16:creationId xmlns:a16="http://schemas.microsoft.com/office/drawing/2014/main" id="{20C866F3-A5BF-4F10-8420-3B8D9948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345025"/>
            <a:ext cx="10877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11827"/>
                </a:solidFill>
              </a:defRPr>
            </a:pPr>
            <a:r>
              <a:rPr sz="2325" b="0" i="0">
                <a:solidFill>
                  <a:srgbClr val="111827"/>
                </a:solidFill>
              </a:rPr>
              <a:t>TEcount multi-mode quantification</a:t>
            </a:r>
          </a:p>
        </p:txBody>
      </p:sp>
      <p:sp>
        <p:nvSpPr>
          <p:cNvPr id="29" name="analysis-bullets-dot-3">
            <a:extLst xmlns:a="http://schemas.openxmlformats.org/drawingml/2006/main">
              <a:ext uri="{FF2B5EF4-FFF2-40B4-BE49-F238E27FC236}">
                <a16:creationId xmlns:a16="http://schemas.microsoft.com/office/drawing/2014/main" id="{17A47CB8-CFDF-4AEA-9016-598191D7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973675"/>
            <a:ext cx="304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3D8DFF"/>
                </a:solidFill>
              </a:defRPr>
            </a:pPr>
            <a:r>
              <a:rPr sz="2475" b="1" i="0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30" name="analysis-bullets-3">
            <a:extLst xmlns:a="http://schemas.openxmlformats.org/drawingml/2006/main">
              <a:ext uri="{FF2B5EF4-FFF2-40B4-BE49-F238E27FC236}">
                <a16:creationId xmlns:a16="http://schemas.microsoft.com/office/drawing/2014/main" id="{C0DE26C6-D99F-4016-8D6A-A1893DDC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7992725"/>
            <a:ext cx="10877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11827"/>
                </a:solidFill>
              </a:defRPr>
            </a:pPr>
            <a:r>
              <a:rPr sz="2325" b="0" i="0">
                <a:solidFill>
                  <a:srgbClr val="111827"/>
                </a:solidFill>
              </a:rPr>
              <a:t>Family-aware DESeq2 model: ~ family + treatment</a:t>
            </a:r>
          </a:p>
        </p:txBody>
      </p:sp>
      <p:sp>
        <p:nvSpPr>
          <p:cNvPr id="31" name="analysis-bullets-dot-4">
            <a:extLst xmlns:a="http://schemas.openxmlformats.org/drawingml/2006/main">
              <a:ext uri="{FF2B5EF4-FFF2-40B4-BE49-F238E27FC236}">
                <a16:creationId xmlns:a16="http://schemas.microsoft.com/office/drawing/2014/main" id="{628DD7CF-D1FF-4569-AC81-EC92DE52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621375"/>
            <a:ext cx="304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3D8DFF"/>
                </a:solidFill>
              </a:defRPr>
            </a:pPr>
            <a:r>
              <a:rPr sz="2475" b="1" i="0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32" name="analysis-bullets-4">
            <a:extLst xmlns:a="http://schemas.openxmlformats.org/drawingml/2006/main">
              <a:ext uri="{FF2B5EF4-FFF2-40B4-BE49-F238E27FC236}">
                <a16:creationId xmlns:a16="http://schemas.microsoft.com/office/drawing/2014/main" id="{1F62A419-A8A8-4157-9ED7-F4917F4A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8640425"/>
            <a:ext cx="10877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11827"/>
                </a:solidFill>
              </a:defRPr>
            </a:pPr>
            <a:r>
              <a:rPr sz="2325" b="0" i="0">
                <a:solidFill>
                  <a:srgbClr val="111827"/>
                </a:solidFill>
              </a:rPr>
              <a:t>Adjusted TE–gene and GABA-pathway screens</a:t>
            </a:r>
          </a:p>
        </p:txBody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b0d24aa324add"/>
          <a:srcRect xmlns:a="http://schemas.openxmlformats.org/drawingml/2006/main" l="0" t="9322" r="0" b="9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28750" y="19764375"/>
            <a:ext cx="11239500" cy="6858000"/>
          </a:xfrm>
          <a:prstGeom xmlns:a="http://schemas.openxmlformats.org/drawingml/2006/main" prst="rect">
            <a:avLst/>
          </a:prstGeom>
        </p:spPr>
      </p:pic>
      <p:sp>
        <p:nvSpPr>
          <p:cNvPr id="34" name="photo-caption-bg">
            <a:extLst xmlns:a="http://schemas.openxmlformats.org/drawingml/2006/main">
              <a:ext uri="{FF2B5EF4-FFF2-40B4-BE49-F238E27FC236}">
                <a16:creationId xmlns:a16="http://schemas.microsoft.com/office/drawing/2014/main" id="{FA8A7FCE-FB68-4CC4-A53B-033F7703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831800"/>
            <a:ext cx="112395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04A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hoto-caption">
            <a:extLst xmlns:a="http://schemas.openxmlformats.org/drawingml/2006/main">
              <a:ext uri="{FF2B5EF4-FFF2-40B4-BE49-F238E27FC236}">
                <a16:creationId xmlns:a16="http://schemas.microsoft.com/office/drawing/2014/main" id="{B7A71F57-59A3-474B-8B15-63B8242D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993725"/>
            <a:ext cx="1078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FFFFF"/>
                </a:solidFill>
              </a:defRPr>
            </a:pPr>
            <a:r>
              <a:rPr sz="1875" b="0" i="0">
                <a:solidFill>
                  <a:srgbClr val="FFFFFF"/>
                </a:solidFill>
              </a:rPr>
              <a:t>Aka Island reef, Japan  •  photo: Kaisar Dauyey</a:t>
            </a:r>
          </a:p>
        </p:txBody>
      </p:sp>
      <p:sp>
        <p:nvSpPr>
          <p:cNvPr id="36" name="scope-panel">
            <a:extLst xmlns:a="http://schemas.openxmlformats.org/drawingml/2006/main">
              <a:ext uri="{FF2B5EF4-FFF2-40B4-BE49-F238E27FC236}">
                <a16:creationId xmlns:a16="http://schemas.microsoft.com/office/drawing/2014/main" id="{0FE8D8E9-2F8D-4983-A33D-3201CD3B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146250"/>
            <a:ext cx="112395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cope-header">
            <a:extLst xmlns:a="http://schemas.openxmlformats.org/drawingml/2006/main">
              <a:ext uri="{FF2B5EF4-FFF2-40B4-BE49-F238E27FC236}">
                <a16:creationId xmlns:a16="http://schemas.microsoft.com/office/drawing/2014/main" id="{1EABECBD-6711-4608-B475-A8C258A9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74320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0B304A"/>
                </a:solidFill>
              </a:defRPr>
            </a:pPr>
            <a:r>
              <a:rPr sz="2175" b="1" i="0">
                <a:solidFill>
                  <a:srgbClr val="0B304A"/>
                </a:solidFill>
              </a:rPr>
              <a:t>VALIDATION STATUS</a:t>
            </a:r>
          </a:p>
        </p:txBody>
      </p:sp>
      <p:sp>
        <p:nvSpPr>
          <p:cNvPr id="38" name="scope-text">
            <a:extLst xmlns:a="http://schemas.openxmlformats.org/drawingml/2006/main">
              <a:ext uri="{FF2B5EF4-FFF2-40B4-BE49-F238E27FC236}">
                <a16:creationId xmlns:a16="http://schemas.microsoft.com/office/drawing/2014/main" id="{2F7453F5-3591-46FE-BCA1-D9F3A7DE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8051125"/>
            <a:ext cx="10572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11827"/>
                </a:solidFill>
              </a:defRPr>
            </a:pPr>
            <a:r>
              <a:rPr sz="2250" b="0" i="0">
                <a:solidFill>
                  <a:srgbClr val="111827"/>
                </a:solidFill>
              </a:rPr>
              <a:t>A 162-library brain–gill–liver cohort is frozen for full validation (54 libraries per tissue; 9 per experimental cell). Results shown here are the completed pilot only.</a:t>
            </a:r>
          </a:p>
        </p:txBody>
      </p:sp>
      <p:sp>
        <p:nvSpPr>
          <p:cNvPr id="39" name="Primary result-header">
            <a:extLst xmlns:a="http://schemas.openxmlformats.org/drawingml/2006/main">
              <a:ext uri="{FF2B5EF4-FFF2-40B4-BE49-F238E27FC236}">
                <a16:creationId xmlns:a16="http://schemas.microsoft.com/office/drawing/2014/main" id="{3DDDB8DD-92D6-4F97-AC7A-63DBD6EE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524625"/>
            <a:ext cx="1747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B304A"/>
                </a:solidFill>
              </a:defRPr>
            </a:pPr>
            <a:r>
              <a:rPr sz="3225" b="1" i="0">
                <a:solidFill>
                  <a:srgbClr val="0B304A"/>
                </a:solidFill>
              </a:rPr>
              <a:t>PRIMARY RESULT</a:t>
            </a:r>
          </a:p>
        </p:txBody>
      </p:sp>
      <p:sp>
        <p:nvSpPr>
          <p:cNvPr id="40" name="Primary result-rule">
            <a:extLst xmlns:a="http://schemas.openxmlformats.org/drawingml/2006/main">
              <a:ext uri="{FF2B5EF4-FFF2-40B4-BE49-F238E27FC236}">
                <a16:creationId xmlns:a16="http://schemas.microsoft.com/office/drawing/2014/main" id="{C9356361-4774-45A4-982A-A39ADE95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143750"/>
            <a:ext cx="1747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rimary-takeaway">
            <a:extLst xmlns:a="http://schemas.openxmlformats.org/drawingml/2006/main">
              <a:ext uri="{FF2B5EF4-FFF2-40B4-BE49-F238E27FC236}">
                <a16:creationId xmlns:a16="http://schemas.microsoft.com/office/drawing/2014/main" id="{07136682-CBCB-4AB5-A6A3-72DD840D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7429500"/>
            <a:ext cx="174783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11827"/>
                </a:solidFill>
              </a:defRPr>
            </a:pPr>
            <a:r>
              <a:rPr sz="3300" b="1" i="0">
                <a:solidFill>
                  <a:srgbClr val="111827"/>
                </a:solidFill>
              </a:rPr>
              <a:t>The dominant TE response shifts from sensitive-parent brain after developmental exposure to tolerant-parent liver after intergenerational exposure.</a:t>
            </a:r>
          </a:p>
        </p:txBody>
      </p:sp>
      <p:sp>
        <p:nvSpPr>
          <p:cNvPr id="42" name="chart1-title">
            <a:extLst xmlns:a="http://schemas.openxmlformats.org/drawingml/2006/main">
              <a:ext uri="{FF2B5EF4-FFF2-40B4-BE49-F238E27FC236}">
                <a16:creationId xmlns:a16="http://schemas.microsoft.com/office/drawing/2014/main" id="{B9FB508C-70FD-4BA8-B8BF-11E476F6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9715500"/>
            <a:ext cx="17478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0B304A"/>
                </a:solidFill>
              </a:defRPr>
            </a:pPr>
            <a:r>
              <a:rPr sz="2925" b="1" i="0">
                <a:solidFill>
                  <a:srgbClr val="0B304A"/>
                </a:solidFill>
              </a:rPr>
              <a:t>Significant strict-TE results by contrast</a:t>
            </a:r>
          </a:p>
        </p:txBody>
      </p:sp>
      <p:sp>
        <p:nvSpPr>
          <p:cNvPr id="43" name="chart1-subtitle">
            <a:extLst xmlns:a="http://schemas.openxmlformats.org/drawingml/2006/main">
              <a:ext uri="{FF2B5EF4-FFF2-40B4-BE49-F238E27FC236}">
                <a16:creationId xmlns:a16="http://schemas.microsoft.com/office/drawing/2014/main" id="{A79D4524-79D8-4B12-8A6E-E4365C3F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0353675"/>
            <a:ext cx="17478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566273"/>
                </a:solidFill>
              </a:defRPr>
            </a:pPr>
            <a:r>
              <a:rPr sz="2100" b="0" i="0">
                <a:solidFill>
                  <a:srgbClr val="566273"/>
                </a:solidFill>
              </a:rPr>
              <a:t>FDR &lt; 0.05  •  n = 5 per tissue × exposure × phenotype cell</a:t>
            </a:r>
          </a:p>
        </p:txBody>
      </p:sp>
      <p:graphicFrame>
        <p:nvGraphicFramePr>
          <p:cNvPr id="131" name="Chart"/>
          <p:cNvGraphicFramePr/>
          <p:nvPr/>
        </p:nvGraphicFramePr>
        <p:xfrm>
          <a:off xmlns:a="http://schemas.openxmlformats.org/drawingml/2006/main" x="13430250" y="11049000"/>
          <a:ext xmlns:a="http://schemas.openxmlformats.org/drawingml/2006/main" cx="17478375" cy="1104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1827525133b4697"/>
          </a:graphicData>
        </a:graphic>
      </p:graphicFrame>
      <p:sp>
        <p:nvSpPr>
          <p:cNvPr id="45" name="finding-band">
            <a:extLst xmlns:a="http://schemas.openxmlformats.org/drawingml/2006/main">
              <a:ext uri="{FF2B5EF4-FFF2-40B4-BE49-F238E27FC236}">
                <a16:creationId xmlns:a16="http://schemas.microsoft.com/office/drawing/2014/main" id="{0B673925-50B3-4DB3-BDC0-86781427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22621875"/>
            <a:ext cx="174783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finding-number-1">
            <a:extLst xmlns:a="http://schemas.openxmlformats.org/drawingml/2006/main">
              <a:ext uri="{FF2B5EF4-FFF2-40B4-BE49-F238E27FC236}">
                <a16:creationId xmlns:a16="http://schemas.microsoft.com/office/drawing/2014/main" id="{EFB2A63D-EEF8-41DA-AAD5-EBAFB914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231457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150" b="1" i="0">
                <a:solidFill>
                  <a:srgbClr val="3D8DFF"/>
                </a:solidFill>
              </a:defRPr>
            </a:pPr>
            <a:r>
              <a:rPr sz="6150" b="1" i="0">
                <a:solidFill>
                  <a:srgbClr val="3D8DFF"/>
                </a:solidFill>
              </a:rPr>
              <a:t>30</a:t>
            </a:r>
          </a:p>
        </p:txBody>
      </p:sp>
      <p:sp>
        <p:nvSpPr>
          <p:cNvPr id="47" name="finding-label-1">
            <a:extLst xmlns:a="http://schemas.openxmlformats.org/drawingml/2006/main">
              <a:ext uri="{FF2B5EF4-FFF2-40B4-BE49-F238E27FC236}">
                <a16:creationId xmlns:a16="http://schemas.microsoft.com/office/drawing/2014/main" id="{2C199F81-84B2-465D-A1EE-7B1C9812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24241125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11827"/>
                </a:solidFill>
              </a:defRPr>
            </a:pPr>
            <a:r>
              <a:rPr sz="2175" b="1" i="0">
                <a:solidFill>
                  <a:srgbClr val="111827"/>
                </a:solidFill>
              </a:rPr>
              <a:t>Sensitive D–C</a:t>
            </a:r>
          </a:p>
          <a:p xmlns:a="http://schemas.openxmlformats.org/drawingml/2006/main">
            <a:pPr algn="ctr">
              <a:defRPr sz="2175" b="1" i="0">
                <a:solidFill>
                  <a:srgbClr val="111827"/>
                </a:solidFill>
              </a:defRPr>
            </a:pPr>
            <a:r>
              <a:rPr sz="2175" b="1" i="0">
                <a:solidFill>
                  <a:srgbClr val="111827"/>
                </a:solidFill>
              </a:rPr>
              <a:t>brain</a:t>
            </a:r>
          </a:p>
        </p:txBody>
      </p:sp>
      <p:sp>
        <p:nvSpPr>
          <p:cNvPr id="48" name="finding-vs">
            <a:extLst xmlns:a="http://schemas.openxmlformats.org/drawingml/2006/main">
              <a:ext uri="{FF2B5EF4-FFF2-40B4-BE49-F238E27FC236}">
                <a16:creationId xmlns:a16="http://schemas.microsoft.com/office/drawing/2014/main" id="{58408723-500A-4FDE-9E65-32851C27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23812500"/>
            <a:ext cx="319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566273"/>
                </a:solidFill>
              </a:defRPr>
            </a:pPr>
            <a:r>
              <a:rPr sz="2175" b="0" i="0">
                <a:solidFill>
                  <a:srgbClr val="566273"/>
                </a:solidFill>
              </a:rPr>
              <a:t>contrasts with</a:t>
            </a:r>
          </a:p>
        </p:txBody>
      </p:sp>
      <p:sp>
        <p:nvSpPr>
          <p:cNvPr id="49" name="finding-number-2">
            <a:extLst xmlns:a="http://schemas.openxmlformats.org/drawingml/2006/main">
              <a:ext uri="{FF2B5EF4-FFF2-40B4-BE49-F238E27FC236}">
                <a16:creationId xmlns:a16="http://schemas.microsoft.com/office/drawing/2014/main" id="{39DF09F2-3A20-49F2-96FE-5591AAF5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0" y="231457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150" b="1" i="0">
                <a:solidFill>
                  <a:srgbClr val="6DCBF4"/>
                </a:solidFill>
              </a:defRPr>
            </a:pPr>
            <a:r>
              <a:rPr sz="6150" b="1" i="0">
                <a:solidFill>
                  <a:srgbClr val="6DCBF4"/>
                </a:solidFill>
              </a:rPr>
              <a:t>51</a:t>
            </a:r>
          </a:p>
        </p:txBody>
      </p:sp>
      <p:sp>
        <p:nvSpPr>
          <p:cNvPr id="50" name="finding-label-2">
            <a:extLst xmlns:a="http://schemas.openxmlformats.org/drawingml/2006/main">
              <a:ext uri="{FF2B5EF4-FFF2-40B4-BE49-F238E27FC236}">
                <a16:creationId xmlns:a16="http://schemas.microsoft.com/office/drawing/2014/main" id="{802F1217-37A8-487F-972C-48FF080F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0" y="24241125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11827"/>
                </a:solidFill>
              </a:defRPr>
            </a:pPr>
            <a:r>
              <a:rPr sz="2175" b="1" i="0">
                <a:solidFill>
                  <a:srgbClr val="111827"/>
                </a:solidFill>
              </a:rPr>
              <a:t>Tolerant I–C</a:t>
            </a:r>
          </a:p>
          <a:p xmlns:a="http://schemas.openxmlformats.org/drawingml/2006/main">
            <a:pPr algn="ctr">
              <a:defRPr sz="2175" b="1" i="0">
                <a:solidFill>
                  <a:srgbClr val="111827"/>
                </a:solidFill>
              </a:defRPr>
            </a:pPr>
            <a:r>
              <a:rPr sz="2175" b="1" i="0">
                <a:solidFill>
                  <a:srgbClr val="111827"/>
                </a:solidFill>
              </a:rPr>
              <a:t>liver</a:t>
            </a:r>
          </a:p>
        </p:txBody>
      </p:sp>
      <p:sp>
        <p:nvSpPr>
          <p:cNvPr id="51" name="finding-mini-rule">
            <a:extLst xmlns:a="http://schemas.openxmlformats.org/drawingml/2006/main">
              <a:ext uri="{FF2B5EF4-FFF2-40B4-BE49-F238E27FC236}">
                <a16:creationId xmlns:a16="http://schemas.microsoft.com/office/drawing/2014/main" id="{B856186E-E1F7-421D-B848-D8DD0B7C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0" y="23098125"/>
            <a:ext cx="285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finding-unique">
            <a:extLst xmlns:a="http://schemas.openxmlformats.org/drawingml/2006/main">
              <a:ext uri="{FF2B5EF4-FFF2-40B4-BE49-F238E27FC236}">
                <a16:creationId xmlns:a16="http://schemas.microsoft.com/office/drawing/2014/main" id="{0CEED741-A61E-4F03-91E1-FFD43555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0" y="23145750"/>
            <a:ext cx="3048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B304A"/>
                </a:solidFill>
              </a:defRPr>
            </a:pPr>
            <a:r>
              <a:rPr sz="3900" b="1" i="0">
                <a:solidFill>
                  <a:srgbClr val="0B304A"/>
                </a:solidFill>
              </a:rPr>
              <a:t>73 brain</a:t>
            </a:r>
          </a:p>
          <a:p xmlns:a="http://schemas.openxmlformats.org/drawingml/2006/main">
            <a:pPr algn="l">
              <a:defRPr sz="3900" b="1" i="0">
                <a:solidFill>
                  <a:srgbClr val="0B304A"/>
                </a:solidFill>
              </a:defRPr>
            </a:pPr>
            <a:r>
              <a:rPr sz="3900" b="1" i="0">
                <a:solidFill>
                  <a:srgbClr val="0B304A"/>
                </a:solidFill>
              </a:rPr>
              <a:t>93 liver</a:t>
            </a:r>
          </a:p>
        </p:txBody>
      </p:sp>
      <p:sp>
        <p:nvSpPr>
          <p:cNvPr id="53" name="finding-unique-label">
            <a:extLst xmlns:a="http://schemas.openxmlformats.org/drawingml/2006/main">
              <a:ext uri="{FF2B5EF4-FFF2-40B4-BE49-F238E27FC236}">
                <a16:creationId xmlns:a16="http://schemas.microsoft.com/office/drawing/2014/main" id="{A07581F4-E9F2-4191-83F9-AEAA2016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0" y="24431625"/>
            <a:ext cx="5953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566273"/>
                </a:solidFill>
              </a:defRPr>
            </a:pPr>
            <a:r>
              <a:rPr sz="2100" b="0" i="0">
                <a:solidFill>
                  <a:srgbClr val="566273"/>
                </a:solidFill>
              </a:rPr>
              <a:t>unique significant strict-TE features across tested strata</a:t>
            </a:r>
          </a:p>
        </p:txBody>
      </p:sp>
      <p:sp>
        <p:nvSpPr>
          <p:cNvPr id="54" name="Interpretation-header">
            <a:extLst xmlns:a="http://schemas.openxmlformats.org/drawingml/2006/main">
              <a:ext uri="{FF2B5EF4-FFF2-40B4-BE49-F238E27FC236}">
                <a16:creationId xmlns:a16="http://schemas.microsoft.com/office/drawing/2014/main" id="{1900F767-5D3C-4150-B1BE-111C8E01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26622375"/>
            <a:ext cx="1747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B304A"/>
                </a:solidFill>
              </a:defRPr>
            </a:pPr>
            <a:r>
              <a:rPr sz="3225" b="1" i="0">
                <a:solidFill>
                  <a:srgbClr val="0B304A"/>
                </a:solidFill>
              </a:rPr>
              <a:t>INTERPRETATION</a:t>
            </a:r>
          </a:p>
        </p:txBody>
      </p:sp>
      <p:sp>
        <p:nvSpPr>
          <p:cNvPr id="55" name="Interpretation-rule">
            <a:extLst xmlns:a="http://schemas.openxmlformats.org/drawingml/2006/main">
              <a:ext uri="{FF2B5EF4-FFF2-40B4-BE49-F238E27FC236}">
                <a16:creationId xmlns:a16="http://schemas.microsoft.com/office/drawing/2014/main" id="{DEFCE56A-3662-4CD6-BF46-35417D38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27241500"/>
            <a:ext cx="17478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interpretation-text">
            <a:extLst xmlns:a="http://schemas.openxmlformats.org/drawingml/2006/main">
              <a:ext uri="{FF2B5EF4-FFF2-40B4-BE49-F238E27FC236}">
                <a16:creationId xmlns:a16="http://schemas.microsoft.com/office/drawing/2014/main" id="{DAD5B719-E3E1-4B22-B1F6-46F12F1E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27479625"/>
            <a:ext cx="1747837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111827"/>
                </a:solidFill>
              </a:defRPr>
            </a:pPr>
            <a:r>
              <a:rPr sz="2625" b="0" i="0">
                <a:solidFill>
                  <a:srgbClr val="111827"/>
                </a:solidFill>
              </a:rPr>
              <a:t>Parental phenotype modifies both the magnitude and tissue localization of TE responses. The pattern is consistent with distinct developmental and intergenerational regulatory states, but requires confirmation in the full cohort.</a:t>
            </a:r>
          </a:p>
        </p:txBody>
      </p:sp>
      <p:sp>
        <p:nvSpPr>
          <p:cNvPr id="57" name="Candidate associations-header">
            <a:extLst xmlns:a="http://schemas.openxmlformats.org/drawingml/2006/main">
              <a:ext uri="{FF2B5EF4-FFF2-40B4-BE49-F238E27FC236}">
                <a16:creationId xmlns:a16="http://schemas.microsoft.com/office/drawing/2014/main" id="{22F7C263-A76E-4690-8508-10E35DE7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25" y="6524625"/>
            <a:ext cx="10791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B304A"/>
                </a:solidFill>
              </a:defRPr>
            </a:pPr>
            <a:r>
              <a:rPr sz="3225" b="1" i="0">
                <a:solidFill>
                  <a:srgbClr val="0B304A"/>
                </a:solidFill>
              </a:rPr>
              <a:t>CANDIDATE ASSOCIATIONS</a:t>
            </a:r>
          </a:p>
        </p:txBody>
      </p:sp>
      <p:sp>
        <p:nvSpPr>
          <p:cNvPr id="58" name="Candidate associations-rule">
            <a:extLst xmlns:a="http://schemas.openxmlformats.org/drawingml/2006/main">
              <a:ext uri="{FF2B5EF4-FFF2-40B4-BE49-F238E27FC236}">
                <a16:creationId xmlns:a16="http://schemas.microsoft.com/office/drawing/2014/main" id="{1E7E8BAF-EF73-403E-8BAE-1A5A6907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25" y="7143750"/>
            <a:ext cx="107918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assoc-takeaway">
            <a:extLst xmlns:a="http://schemas.openxmlformats.org/drawingml/2006/main">
              <a:ext uri="{FF2B5EF4-FFF2-40B4-BE49-F238E27FC236}">
                <a16:creationId xmlns:a16="http://schemas.microsoft.com/office/drawing/2014/main" id="{9EA695C0-6B9B-4A7D-ACB2-8C5B89EC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25" y="7429500"/>
            <a:ext cx="107918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827"/>
                </a:solidFill>
              </a:defRPr>
            </a:pPr>
            <a:r>
              <a:rPr sz="2625" b="1" i="0">
                <a:solidFill>
                  <a:srgbClr val="111827"/>
                </a:solidFill>
              </a:rPr>
              <a:t>Top TE–gene relationships remained strong after adjustment for family, treatment and phenotype.</a:t>
            </a:r>
          </a:p>
        </p:txBody>
      </p:sp>
      <p:sp>
        <p:nvSpPr>
          <p:cNvPr id="60" name="assoc-subtitle">
            <a:extLst xmlns:a="http://schemas.openxmlformats.org/drawingml/2006/main">
              <a:ext uri="{FF2B5EF4-FFF2-40B4-BE49-F238E27FC236}">
                <a16:creationId xmlns:a16="http://schemas.microsoft.com/office/drawing/2014/main" id="{CB3F18EA-E98A-4276-8BEA-176F3D80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25" y="8953500"/>
            <a:ext cx="10791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566273"/>
                </a:solidFill>
              </a:defRPr>
            </a:pPr>
            <a:r>
              <a:rPr sz="2025" b="0" i="0">
                <a:solidFill>
                  <a:srgbClr val="566273"/>
                </a:solidFill>
              </a:rPr>
              <a:t>Residual Spearman ρ  •  n = 30 per tissue</a:t>
            </a:r>
          </a:p>
        </p:txBody>
      </p:sp>
      <p:graphicFrame>
        <p:nvGraphicFramePr>
          <p:cNvPr id="148" name="Chart"/>
          <p:cNvGraphicFramePr/>
          <p:nvPr/>
        </p:nvGraphicFramePr>
        <p:xfrm>
          <a:off xmlns:a="http://schemas.openxmlformats.org/drawingml/2006/main" x="31670625" y="9667875"/>
          <a:ext xmlns:a="http://schemas.openxmlformats.org/drawingml/2006/main" cx="10791825" cy="695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a921d04f6944e7"/>
          </a:graphicData>
        </a:graphic>
      </p:graphicFrame>
      <p:sp>
        <p:nvSpPr>
          <p:cNvPr id="62" name="assoc-legend-brain-swatch">
            <a:extLst xmlns:a="http://schemas.openxmlformats.org/drawingml/2006/main">
              <a:ext uri="{FF2B5EF4-FFF2-40B4-BE49-F238E27FC236}">
                <a16:creationId xmlns:a16="http://schemas.microsoft.com/office/drawing/2014/main" id="{40024FDE-BE26-4B69-ABB2-FB10DE0E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25" y="16716375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assoc-legend-brain">
            <a:extLst xmlns:a="http://schemas.openxmlformats.org/drawingml/2006/main">
              <a:ext uri="{FF2B5EF4-FFF2-40B4-BE49-F238E27FC236}">
                <a16:creationId xmlns:a16="http://schemas.microsoft.com/office/drawing/2014/main" id="{DA1CC476-7420-4CE8-958C-C974A298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32575" y="16621125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66273"/>
                </a:solidFill>
              </a:defRPr>
            </a:pPr>
            <a:r>
              <a:rPr sz="1875" b="0" i="0">
                <a:solidFill>
                  <a:srgbClr val="566273"/>
                </a:solidFill>
              </a:rPr>
              <a:t>Brain candidates</a:t>
            </a:r>
          </a:p>
        </p:txBody>
      </p:sp>
      <p:sp>
        <p:nvSpPr>
          <p:cNvPr id="64" name="assoc-legend-liver-swatch">
            <a:extLst xmlns:a="http://schemas.openxmlformats.org/drawingml/2006/main">
              <a:ext uri="{FF2B5EF4-FFF2-40B4-BE49-F238E27FC236}">
                <a16:creationId xmlns:a16="http://schemas.microsoft.com/office/drawing/2014/main" id="{A8939D19-881B-4F4A-AA90-9BC01E55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25" y="16716375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assoc-legend-liver">
            <a:extLst xmlns:a="http://schemas.openxmlformats.org/drawingml/2006/main">
              <a:ext uri="{FF2B5EF4-FFF2-40B4-BE49-F238E27FC236}">
                <a16:creationId xmlns:a16="http://schemas.microsoft.com/office/drawing/2014/main" id="{C5AF17E8-151A-4DD7-8A83-25538B52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71075" y="166211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66273"/>
                </a:solidFill>
              </a:defRPr>
            </a:pPr>
            <a:r>
              <a:rPr sz="1875" b="0" i="0">
                <a:solidFill>
                  <a:srgbClr val="566273"/>
                </a:solidFill>
              </a:rPr>
              <a:t>Liver candidates</a:t>
            </a:r>
          </a:p>
        </p:txBody>
      </p:sp>
      <p:sp>
        <p:nvSpPr>
          <p:cNvPr id="66" name="Neural hypothesis-header">
            <a:extLst xmlns:a="http://schemas.openxmlformats.org/drawingml/2006/main">
              <a:ext uri="{FF2B5EF4-FFF2-40B4-BE49-F238E27FC236}">
                <a16:creationId xmlns:a16="http://schemas.microsoft.com/office/drawing/2014/main" id="{1A80FD6A-F824-43A0-B224-16A031B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25" y="17430750"/>
            <a:ext cx="10791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B304A"/>
                </a:solidFill>
              </a:defRPr>
            </a:pPr>
            <a:r>
              <a:rPr sz="3225" b="1" i="0">
                <a:solidFill>
                  <a:srgbClr val="0B304A"/>
                </a:solidFill>
              </a:rPr>
              <a:t>NEURAL HYPOTHESIS</a:t>
            </a:r>
          </a:p>
        </p:txBody>
      </p:sp>
      <p:sp>
        <p:nvSpPr>
          <p:cNvPr id="67" name="Neural hypothesis-rule">
            <a:extLst xmlns:a="http://schemas.openxmlformats.org/drawingml/2006/main">
              <a:ext uri="{FF2B5EF4-FFF2-40B4-BE49-F238E27FC236}">
                <a16:creationId xmlns:a16="http://schemas.microsoft.com/office/drawing/2014/main" id="{C720581D-8659-43E0-A07C-C702B086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25" y="18049875"/>
            <a:ext cx="107918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gaba-panel">
            <a:extLst xmlns:a="http://schemas.openxmlformats.org/drawingml/2006/main">
              <a:ext uri="{FF2B5EF4-FFF2-40B4-BE49-F238E27FC236}">
                <a16:creationId xmlns:a16="http://schemas.microsoft.com/office/drawing/2014/main" id="{CACFC732-466B-4CC0-AD36-2D33DEEC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25" y="18335625"/>
            <a:ext cx="1079182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gaba-number">
            <a:extLst xmlns:a="http://schemas.openxmlformats.org/drawingml/2006/main">
              <a:ext uri="{FF2B5EF4-FFF2-40B4-BE49-F238E27FC236}">
                <a16:creationId xmlns:a16="http://schemas.microsoft.com/office/drawing/2014/main" id="{C762CBE3-8777-4BEF-AF6B-D27FC27B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0" y="18621375"/>
            <a:ext cx="180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6150" b="1" i="0">
                <a:solidFill>
                  <a:srgbClr val="3D8DFF"/>
                </a:solidFill>
              </a:defRPr>
            </a:pPr>
            <a:r>
              <a:rPr sz="6150" b="1" i="0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70" name="gaba-number-label">
            <a:extLst xmlns:a="http://schemas.openxmlformats.org/drawingml/2006/main">
              <a:ext uri="{FF2B5EF4-FFF2-40B4-BE49-F238E27FC236}">
                <a16:creationId xmlns:a16="http://schemas.microsoft.com/office/drawing/2014/main" id="{11615363-E8AC-4809-AEAD-23DC2C73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1125" y="19716750"/>
            <a:ext cx="2381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11827"/>
                </a:solidFill>
              </a:defRPr>
            </a:pPr>
            <a:r>
              <a:rPr sz="2025" b="1" i="0">
                <a:solidFill>
                  <a:srgbClr val="111827"/>
                </a:solidFill>
              </a:rPr>
              <a:t>direct GABA genes</a:t>
            </a:r>
          </a:p>
          <a:p xmlns:a="http://schemas.openxmlformats.org/drawingml/2006/main">
            <a:pPr algn="ctr">
              <a:defRPr sz="2025" b="1" i="0">
                <a:solidFill>
                  <a:srgbClr val="111827"/>
                </a:solidFill>
              </a:defRPr>
            </a:pPr>
            <a:r>
              <a:rPr sz="2025" b="1" i="0">
                <a:solidFill>
                  <a:srgbClr val="111827"/>
                </a:solidFill>
              </a:rPr>
              <a:t>in tolerant brain I–C</a:t>
            </a:r>
          </a:p>
        </p:txBody>
      </p:sp>
      <p:sp>
        <p:nvSpPr>
          <p:cNvPr id="71" name="gaba-rule">
            <a:extLst xmlns:a="http://schemas.openxmlformats.org/drawingml/2006/main">
              <a:ext uri="{FF2B5EF4-FFF2-40B4-BE49-F238E27FC236}">
                <a16:creationId xmlns:a16="http://schemas.microsoft.com/office/drawing/2014/main" id="{FF6486F1-5993-4BF8-A4D8-B0EF87A6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0" y="18716625"/>
            <a:ext cx="28575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gaba-genes">
            <a:extLst xmlns:a="http://schemas.openxmlformats.org/drawingml/2006/main">
              <a:ext uri="{FF2B5EF4-FFF2-40B4-BE49-F238E27FC236}">
                <a16:creationId xmlns:a16="http://schemas.microsoft.com/office/drawing/2014/main" id="{19C20BC1-51EA-40E4-B803-E2F76F9E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75" y="18716625"/>
            <a:ext cx="7000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B304A"/>
                </a:solidFill>
              </a:defRPr>
            </a:pPr>
            <a:r>
              <a:rPr sz="2850" b="1" i="0">
                <a:solidFill>
                  <a:srgbClr val="0B304A"/>
                </a:solidFill>
              </a:rPr>
              <a:t>GABA transporter 1-like</a:t>
            </a:r>
          </a:p>
          <a:p xmlns:a="http://schemas.openxmlformats.org/drawingml/2006/main">
            <a:pPr algn="l">
              <a:defRPr sz="2850" b="1" i="0">
                <a:solidFill>
                  <a:srgbClr val="0B304A"/>
                </a:solidFill>
              </a:defRPr>
            </a:pPr>
            <a:r>
              <a:rPr sz="2850" b="1" i="0">
                <a:solidFill>
                  <a:srgbClr val="0B304A"/>
                </a:solidFill>
              </a:rPr>
              <a:t>gabra5</a:t>
            </a:r>
          </a:p>
          <a:p xmlns:a="http://schemas.openxmlformats.org/drawingml/2006/main">
            <a:pPr algn="l">
              <a:defRPr sz="2850" b="1" i="0">
                <a:solidFill>
                  <a:srgbClr val="0B304A"/>
                </a:solidFill>
              </a:defRPr>
            </a:pPr>
            <a:r>
              <a:rPr sz="2850" b="1" i="0">
                <a:solidFill>
                  <a:srgbClr val="0B304A"/>
                </a:solidFill>
              </a:rPr>
              <a:t>gabrb3</a:t>
            </a:r>
          </a:p>
        </p:txBody>
      </p:sp>
      <p:sp>
        <p:nvSpPr>
          <p:cNvPr id="73" name="gaba-detail">
            <a:extLst xmlns:a="http://schemas.openxmlformats.org/drawingml/2006/main">
              <a:ext uri="{FF2B5EF4-FFF2-40B4-BE49-F238E27FC236}">
                <a16:creationId xmlns:a16="http://schemas.microsoft.com/office/drawing/2014/main" id="{A17CBD31-B1B5-4D59-B67A-F9E7E444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75" y="20716875"/>
            <a:ext cx="7000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 i="0">
                <a:solidFill>
                  <a:srgbClr val="111827"/>
                </a:solidFill>
              </a:defRPr>
            </a:pPr>
            <a:r>
              <a:rPr sz="2175" b="0" i="0">
                <a:solidFill>
                  <a:srgbClr val="111827"/>
                </a:solidFill>
              </a:rPr>
              <a:t>gabra5 and gabrb3 were also significant for I–D. These signals motivate targeted tests of inhibitory-neural regulation.</a:t>
            </a:r>
          </a:p>
        </p:txBody>
      </p:sp>
      <p:sp>
        <p:nvSpPr>
          <p:cNvPr id="74" name="What this supports-header">
            <a:extLst xmlns:a="http://schemas.openxmlformats.org/drawingml/2006/main">
              <a:ext uri="{FF2B5EF4-FFF2-40B4-BE49-F238E27FC236}">
                <a16:creationId xmlns:a16="http://schemas.microsoft.com/office/drawing/2014/main" id="{7F5B4BC1-629A-423A-B472-E9CF8C5C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25" y="23669625"/>
            <a:ext cx="10791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0B304A"/>
                </a:solidFill>
              </a:defRPr>
            </a:pPr>
            <a:r>
              <a:rPr sz="3225" b="1" i="0">
                <a:solidFill>
                  <a:srgbClr val="0B304A"/>
                </a:solidFill>
              </a:rPr>
              <a:t>WHAT THIS SUPPORTS</a:t>
            </a:r>
          </a:p>
        </p:txBody>
      </p:sp>
      <p:sp>
        <p:nvSpPr>
          <p:cNvPr id="75" name="What this supports-rule">
            <a:extLst xmlns:a="http://schemas.openxmlformats.org/drawingml/2006/main">
              <a:ext uri="{FF2B5EF4-FFF2-40B4-BE49-F238E27FC236}">
                <a16:creationId xmlns:a16="http://schemas.microsoft.com/office/drawing/2014/main" id="{868846E9-D052-4620-8852-EF9F696C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25" y="24288750"/>
            <a:ext cx="107918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supports-bullets-dot-0">
            <a:extLst xmlns:a="http://schemas.openxmlformats.org/drawingml/2006/main">
              <a:ext uri="{FF2B5EF4-FFF2-40B4-BE49-F238E27FC236}">
                <a16:creationId xmlns:a16="http://schemas.microsoft.com/office/drawing/2014/main" id="{534D08C3-63C7-49E4-8CD8-F58F7A70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25" y="24555450"/>
            <a:ext cx="304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3D8DFF"/>
                </a:solidFill>
              </a:defRPr>
            </a:pPr>
            <a:r>
              <a:rPr sz="2475" b="1" i="0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77" name="supports-bullets-0">
            <a:extLst xmlns:a="http://schemas.openxmlformats.org/drawingml/2006/main">
              <a:ext uri="{FF2B5EF4-FFF2-40B4-BE49-F238E27FC236}">
                <a16:creationId xmlns:a16="http://schemas.microsoft.com/office/drawing/2014/main" id="{9FCB5456-5905-460F-A156-13E3F088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32575" y="24574500"/>
            <a:ext cx="10429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11827"/>
                </a:solidFill>
              </a:defRPr>
            </a:pPr>
            <a:r>
              <a:rPr sz="2325" b="0" i="0">
                <a:solidFill>
                  <a:srgbClr val="111827"/>
                </a:solidFill>
              </a:rPr>
              <a:t>Tissue identity is central to TE-response interpretation.</a:t>
            </a:r>
          </a:p>
        </p:txBody>
      </p:sp>
      <p:sp>
        <p:nvSpPr>
          <p:cNvPr id="78" name="supports-bullets-dot-1">
            <a:extLst xmlns:a="http://schemas.openxmlformats.org/drawingml/2006/main">
              <a:ext uri="{FF2B5EF4-FFF2-40B4-BE49-F238E27FC236}">
                <a16:creationId xmlns:a16="http://schemas.microsoft.com/office/drawing/2014/main" id="{635A08A0-4E65-4A8D-8053-2F55DCC1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25" y="25812750"/>
            <a:ext cx="304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3D8DFF"/>
                </a:solidFill>
              </a:defRPr>
            </a:pPr>
            <a:r>
              <a:rPr sz="2475" b="1" i="0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79" name="supports-bullets-1">
            <a:extLst xmlns:a="http://schemas.openxmlformats.org/drawingml/2006/main">
              <a:ext uri="{FF2B5EF4-FFF2-40B4-BE49-F238E27FC236}">
                <a16:creationId xmlns:a16="http://schemas.microsoft.com/office/drawing/2014/main" id="{847498B7-4E66-4671-9A90-12A6ABA2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32575" y="25831800"/>
            <a:ext cx="10429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11827"/>
                </a:solidFill>
              </a:defRPr>
            </a:pPr>
            <a:r>
              <a:rPr sz="2325" b="0" i="0">
                <a:solidFill>
                  <a:srgbClr val="111827"/>
                </a:solidFill>
              </a:rPr>
              <a:t>Parental phenotype changes which exposure contrast dominates.</a:t>
            </a:r>
          </a:p>
        </p:txBody>
      </p:sp>
      <p:sp>
        <p:nvSpPr>
          <p:cNvPr id="80" name="supports-bullets-dot-2">
            <a:extLst xmlns:a="http://schemas.openxmlformats.org/drawingml/2006/main">
              <a:ext uri="{FF2B5EF4-FFF2-40B4-BE49-F238E27FC236}">
                <a16:creationId xmlns:a16="http://schemas.microsoft.com/office/drawing/2014/main" id="{F30797E0-35D3-4DCB-ABEB-47DF5134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25" y="27070050"/>
            <a:ext cx="304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 i="0">
                <a:solidFill>
                  <a:srgbClr val="3D8DFF"/>
                </a:solidFill>
              </a:defRPr>
            </a:pPr>
            <a:r>
              <a:rPr sz="2475" b="1" i="0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81" name="supports-bullets-2">
            <a:extLst xmlns:a="http://schemas.openxmlformats.org/drawingml/2006/main">
              <a:ext uri="{FF2B5EF4-FFF2-40B4-BE49-F238E27FC236}">
                <a16:creationId xmlns:a16="http://schemas.microsoft.com/office/drawing/2014/main" id="{0CC7F70C-9B85-46C6-8710-31F0C96D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32575" y="27089100"/>
            <a:ext cx="10429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11827"/>
                </a:solidFill>
              </a:defRPr>
            </a:pPr>
            <a:r>
              <a:rPr sz="2325" b="0" i="0">
                <a:solidFill>
                  <a:srgbClr val="111827"/>
                </a:solidFill>
              </a:rPr>
              <a:t>TE–gene correlations prioritize mechanistic candidates; they do not establish regulation.</a:t>
            </a:r>
          </a:p>
        </p:txBody>
      </p:sp>
      <p:sp>
        <p:nvSpPr>
          <p:cNvPr id="82" name="next-step-panel">
            <a:extLst xmlns:a="http://schemas.openxmlformats.org/drawingml/2006/main">
              <a:ext uri="{FF2B5EF4-FFF2-40B4-BE49-F238E27FC236}">
                <a16:creationId xmlns:a16="http://schemas.microsoft.com/office/drawing/2014/main" id="{DDCF7529-8BCE-4F62-8AE1-3DA6D220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25" y="28336875"/>
            <a:ext cx="107918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next-step-header">
            <a:extLst xmlns:a="http://schemas.openxmlformats.org/drawingml/2006/main">
              <a:ext uri="{FF2B5EF4-FFF2-40B4-BE49-F238E27FC236}">
                <a16:creationId xmlns:a16="http://schemas.microsoft.com/office/drawing/2014/main" id="{B826FE07-D5AB-49AB-B786-A8A8852B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0" y="286226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6DCBF4"/>
                </a:solidFill>
              </a:defRPr>
            </a:pPr>
            <a:r>
              <a:rPr sz="2100" b="1" i="0">
                <a:solidFill>
                  <a:srgbClr val="6DCBF4"/>
                </a:solidFill>
              </a:rPr>
              <a:t>NEXT STEP</a:t>
            </a:r>
          </a:p>
        </p:txBody>
      </p:sp>
      <p:sp>
        <p:nvSpPr>
          <p:cNvPr id="84" name="next-step-text">
            <a:extLst xmlns:a="http://schemas.openxmlformats.org/drawingml/2006/main">
              <a:ext uri="{FF2B5EF4-FFF2-40B4-BE49-F238E27FC236}">
                <a16:creationId xmlns:a16="http://schemas.microsoft.com/office/drawing/2014/main" id="{C10E8E3A-69CB-4EE7-BFBD-912A6DAD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0" y="29194125"/>
            <a:ext cx="101250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Validate effect direction, tissue specificity and GABA-linked candidates in the frozen 162-library cohort.</a:t>
            </a:r>
          </a:p>
        </p:txBody>
      </p:sp>
      <p:sp>
        <p:nvSpPr>
          <p:cNvPr id="8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CCE8B33-95F7-4A23-A797-71642DDC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32450"/>
            <a:ext cx="41033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8CC9EFA-5BFD-40B5-AA2F-7FFC170D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280100"/>
            <a:ext cx="2800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66273"/>
                </a:solidFill>
              </a:defRPr>
            </a:pPr>
            <a:r>
              <a:rPr sz="1875" b="0" i="0">
                <a:solidFill>
                  <a:srgbClr val="566273"/>
                </a:solidFill>
              </a:rPr>
              <a:t>Pilot significance: Benjamini–Hochberg FDR &lt; 0.05. Association ≠ causation. Full-cohort validation pending.</a:t>
            </a:r>
          </a:p>
        </p:txBody>
      </p:sp>
      <p:sp>
        <p:nvSpPr>
          <p:cNvPr id="8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392ABD5-7AA8-4645-9A71-9BFCCAD8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0" y="31280100"/>
            <a:ext cx="12934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800" b="0" i="0">
                <a:solidFill>
                  <a:srgbClr val="566273"/>
                </a:solidFill>
              </a:defRPr>
            </a:pPr>
            <a:r>
              <a:rPr sz="1800" b="0" i="0">
                <a:solidFill>
                  <a:srgbClr val="566273"/>
                </a:solidFill>
              </a:rPr>
              <a:t>Suresh et al. (2023)</a:t>
            </a:r>
          </a:p>
        </p:txBody>
      </p:sp>
    </p:spTree>
    <p:extLst>
      <p:ext uri="{BB962C8B-B14F-4D97-AF65-F5344CB8AC3E}">
        <p14:creationId xmlns:p14="http://schemas.microsoft.com/office/powerpoint/2010/main" val="531043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2026-08-04T11:12:49.5050000Z</dcterms:created>
  <dcterms:modified xsi:type="dcterms:W3CDTF">2026-08-04T11:12:49.5050000Z</dcterms:modified>
</coreProperties>
</file>